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18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7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notesSlides/notesSlide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1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1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1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76020D5-89D7-4273-95ED-BB0BA891573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720" cy="342648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Что такое Docker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Платформа для упаковки и запуска приложений в контейнерах.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Контейнер = приложение + зависимости, изолированные от системы.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Где применяется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Разработка и тестирование (единая среда для команды).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CI/CD и автоматизация доставки.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Микросервисы и масштабирование.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Облачные сервисы и DevOps-процессы.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Преимущества / Недостатки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+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Быстрая развертка и переносимость.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+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Легкость масштабирования.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+Экономия ресурсов по сравнению с виртуалками.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– Более сложное администрирование.</a:t>
            </a:r>
            <a:br>
              <a:rPr sz="1200"/>
            </a:b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– Безопасность зависит от настройки.</a:t>
            </a:r>
            <a:br>
              <a:rPr sz="1200"/>
            </a:b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– Ограничения в работе с графикой/железом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720" cy="342648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720" cy="342648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720" cy="342648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720" cy="342648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720" cy="342648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720" cy="342648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4. Layer size and efficiency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Each layer adds size to the image.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To reduce image size: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Combine multiple commands in a single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using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&amp;&amp;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Remove unnecessary files after installation.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Example: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RUN apt-get update &amp;&amp; \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apt-get install -y build-essential &amp;&amp; \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rm -rf /var/lib/apt/lists/*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720" cy="342648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4. Layer size and efficiency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Each layer adds size to the image.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To reduce image size: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Combine multiple commands in a single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using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&amp;&amp;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Remove unnecessary files after installation.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Example: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RUN apt-get update &amp;&amp; \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apt-get install -y build-essential &amp;&amp; \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rm -rf /var/lib/apt/lists/*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720" cy="342648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network пригодится в тех случаях, когда хочется, чтобы контейнеры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общались друг с другом не напрямую через IP-адреса, а по "именам" и в изолированной среде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🚢.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By default, a container exposes its port only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inside the Docker network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The only reason it’s available to your host / internet is because you explicitly mapped it with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-p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👉 Notice there’s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no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-p 8080:8080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br>
              <a:rPr sz="1100"/>
            </a:b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Now: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4680" indent="-18468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backend:8080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is reachable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only from containers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in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orders-net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It is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not accessible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your host (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localhost:8080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won’t work anymore).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frontend is accessible at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http://localhost:3000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it makes requests to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http://backend:8080/orders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it works because both containers are in the same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orders-net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From outside (your host or the internet), the backend is invisible.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✅ This setup makes your backend a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private service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frontend the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only public entrypoint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br>
              <a:rPr sz="1100"/>
            </a:b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It’s very similar to how production apps run (frontend or reverse proxy is public, backend is internal-only)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Docker’s embedded DNS lets you use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container names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instead of IPs.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you want to make a container accessible to other containers, it isn't necessary to publish the container's ports. You can enable inter-container communication by connecting the containers to the same network, usually a 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ogle Shape;22;p4"/>
          <p:cNvCxnSpPr/>
          <p:nvPr/>
        </p:nvCxnSpPr>
        <p:spPr>
          <a:xfrm>
            <a:off x="2477520" y="415440"/>
            <a:ext cx="6246720" cy="2520"/>
          </a:xfrm>
          <a:prstGeom prst="straightConnector1">
            <a:avLst/>
          </a:prstGeom>
          <a:ln w="38100">
            <a:solidFill>
              <a:srgbClr val="000000"/>
            </a:solidFill>
            <a:round/>
          </a:ln>
        </p:spPr>
      </p:cxnSp>
      <p:cxnSp>
        <p:nvCxnSpPr>
          <p:cNvPr id="3" name="Google Shape;23;p4"/>
          <p:cNvCxnSpPr/>
          <p:nvPr/>
        </p:nvCxnSpPr>
        <p:spPr>
          <a:xfrm>
            <a:off x="2477520" y="4739760"/>
            <a:ext cx="6246720" cy="252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cxnSp>
        <p:nvCxnSpPr>
          <p:cNvPr id="4" name="Google Shape;24;p4"/>
          <p:cNvCxnSpPr/>
          <p:nvPr/>
        </p:nvCxnSpPr>
        <p:spPr>
          <a:xfrm>
            <a:off x="425160" y="415440"/>
            <a:ext cx="185760" cy="252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400120" y="576000"/>
            <a:ext cx="6319080" cy="63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2410200" y="1595880"/>
            <a:ext cx="6319080" cy="2999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1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29;p5"/>
          <p:cNvCxnSpPr/>
          <p:nvPr/>
        </p:nvCxnSpPr>
        <p:spPr>
          <a:xfrm>
            <a:off x="2477520" y="415440"/>
            <a:ext cx="6246720" cy="2520"/>
          </a:xfrm>
          <a:prstGeom prst="straightConnector1">
            <a:avLst/>
          </a:prstGeom>
          <a:ln w="38100">
            <a:solidFill>
              <a:srgbClr val="000000"/>
            </a:solidFill>
            <a:round/>
          </a:ln>
        </p:spPr>
      </p:cxnSp>
      <p:cxnSp>
        <p:nvCxnSpPr>
          <p:cNvPr id="9" name="Google Shape;30;p5"/>
          <p:cNvCxnSpPr/>
          <p:nvPr/>
        </p:nvCxnSpPr>
        <p:spPr>
          <a:xfrm>
            <a:off x="2477520" y="4739760"/>
            <a:ext cx="6246720" cy="252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cxnSp>
        <p:nvCxnSpPr>
          <p:cNvPr id="10" name="Google Shape;31;p5"/>
          <p:cNvCxnSpPr/>
          <p:nvPr/>
        </p:nvCxnSpPr>
        <p:spPr>
          <a:xfrm>
            <a:off x="425160" y="415440"/>
            <a:ext cx="185760" cy="252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400120" y="576000"/>
            <a:ext cx="6319080" cy="63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2400480" y="1602720"/>
            <a:ext cx="3069000" cy="2999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650560" y="1602720"/>
            <a:ext cx="3069000" cy="2999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sldNum" idx="2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03480" y="411480"/>
            <a:ext cx="8517960" cy="637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3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40;p7"/>
          <p:cNvCxnSpPr/>
          <p:nvPr/>
        </p:nvCxnSpPr>
        <p:spPr>
          <a:xfrm>
            <a:off x="425160" y="415440"/>
            <a:ext cx="185760" cy="252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19680" y="936720"/>
            <a:ext cx="2805480" cy="75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19680" y="1846800"/>
            <a:ext cx="2805480" cy="280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Num" idx="4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rgbClr val="353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45;p8"/>
          <p:cNvCxnSpPr/>
          <p:nvPr/>
        </p:nvCxnSpPr>
        <p:spPr>
          <a:xfrm>
            <a:off x="425160" y="415440"/>
            <a:ext cx="185760" cy="252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6241680" cy="3832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5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49;p9"/>
          <p:cNvSpPr/>
          <p:nvPr/>
        </p:nvSpPr>
        <p:spPr>
          <a:xfrm>
            <a:off x="4572000" y="0"/>
            <a:ext cx="4569480" cy="514116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" name="Google Shape;50;p9"/>
          <p:cNvCxnSpPr/>
          <p:nvPr/>
        </p:nvCxnSpPr>
        <p:spPr>
          <a:xfrm>
            <a:off x="5029560" y="4495320"/>
            <a:ext cx="470880" cy="252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265680" y="1397520"/>
            <a:ext cx="4042800" cy="131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939560" y="724320"/>
            <a:ext cx="3834360" cy="3692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sldNum" idx="6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Google Shape;56;p10"/>
          <p:cNvCxnSpPr/>
          <p:nvPr/>
        </p:nvCxnSpPr>
        <p:spPr>
          <a:xfrm>
            <a:off x="425160" y="4739760"/>
            <a:ext cx="8299080" cy="252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cxnSp>
        <p:nvCxnSpPr>
          <p:cNvPr id="31" name="Google Shape;57;p10"/>
          <p:cNvCxnSpPr/>
          <p:nvPr/>
        </p:nvCxnSpPr>
        <p:spPr>
          <a:xfrm>
            <a:off x="425160" y="415440"/>
            <a:ext cx="185760" cy="252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sp>
        <p:nvSpPr>
          <p:cNvPr id="32" name="PlaceHolder 1"/>
          <p:cNvSpPr>
            <a:spLocks noGrp="1"/>
          </p:cNvSpPr>
          <p:nvPr>
            <p:ph type="body"/>
          </p:nvPr>
        </p:nvSpPr>
        <p:spPr>
          <a:xfrm>
            <a:off x="327960" y="4226040"/>
            <a:ext cx="838620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7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Google Shape;10;p2"/>
          <p:cNvCxnSpPr/>
          <p:nvPr/>
        </p:nvCxnSpPr>
        <p:spPr>
          <a:xfrm>
            <a:off x="2477520" y="415440"/>
            <a:ext cx="6246720" cy="2520"/>
          </a:xfrm>
          <a:prstGeom prst="straightConnector1">
            <a:avLst/>
          </a:prstGeom>
          <a:ln w="38100">
            <a:solidFill>
              <a:srgbClr val="FFFFFF"/>
            </a:solidFill>
            <a:round/>
          </a:ln>
        </p:spPr>
      </p:cxnSp>
      <p:cxnSp>
        <p:nvCxnSpPr>
          <p:cNvPr id="35" name="Google Shape;11;p2"/>
          <p:cNvCxnSpPr/>
          <p:nvPr/>
        </p:nvCxnSpPr>
        <p:spPr>
          <a:xfrm>
            <a:off x="2477520" y="4739760"/>
            <a:ext cx="6246720" cy="252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cxnSp>
        <p:nvCxnSpPr>
          <p:cNvPr id="36" name="Google Shape;12;p2"/>
          <p:cNvCxnSpPr/>
          <p:nvPr/>
        </p:nvCxnSpPr>
        <p:spPr>
          <a:xfrm>
            <a:off x="425160" y="415440"/>
            <a:ext cx="185760" cy="252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2371680" y="630360"/>
            <a:ext cx="6329160" cy="153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8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61;p11"/>
          <p:cNvCxnSpPr/>
          <p:nvPr/>
        </p:nvCxnSpPr>
        <p:spPr>
          <a:xfrm>
            <a:off x="425160" y="4739760"/>
            <a:ext cx="8299080" cy="252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cxnSp>
        <p:nvCxnSpPr>
          <p:cNvPr id="41" name="Google Shape;62;p11"/>
          <p:cNvCxnSpPr/>
          <p:nvPr/>
        </p:nvCxnSpPr>
        <p:spPr>
          <a:xfrm>
            <a:off x="425160" y="415440"/>
            <a:ext cx="8299080" cy="2520"/>
          </a:xfrm>
          <a:prstGeom prst="straightConnector1">
            <a:avLst/>
          </a:prstGeom>
          <a:ln w="38100">
            <a:solidFill>
              <a:srgbClr val="000000"/>
            </a:solidFill>
            <a:round/>
          </a:ln>
        </p:spPr>
      </p:cxn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53920" y="1305000"/>
            <a:ext cx="7433640" cy="1535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9600" b="1" u="none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9600" b="1" u="none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xx%</a:t>
            </a:r>
            <a:endParaRPr lang="ru-RU" sz="9600" b="1" u="none" strike="noStrike">
              <a:solidFill>
                <a:schemeClr val="dk1"/>
              </a:solidFill>
              <a:effectLst/>
              <a:uFillTx/>
              <a:latin typeface="Lato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53920" y="2919600"/>
            <a:ext cx="7433640" cy="106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9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sldNum" idx="10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" name="Google Shape;17;p3"/>
          <p:cNvCxnSpPr/>
          <p:nvPr/>
        </p:nvCxnSpPr>
        <p:spPr>
          <a:xfrm>
            <a:off x="425160" y="415440"/>
            <a:ext cx="8299080" cy="2520"/>
          </a:xfrm>
          <a:prstGeom prst="straightConnector1">
            <a:avLst/>
          </a:prstGeom>
          <a:ln w="38100">
            <a:solidFill>
              <a:srgbClr val="FFFFFF"/>
            </a:solidFill>
            <a:round/>
          </a:ln>
        </p:spPr>
      </p:cxnSp>
      <p:cxnSp>
        <p:nvCxnSpPr>
          <p:cNvPr id="49" name="Google Shape;18;p3"/>
          <p:cNvCxnSpPr/>
          <p:nvPr/>
        </p:nvCxnSpPr>
        <p:spPr>
          <a:xfrm>
            <a:off x="425160" y="4739760"/>
            <a:ext cx="8299080" cy="252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06440" y="1806840"/>
            <a:ext cx="8294400" cy="153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11"/>
          </p:nvPr>
        </p:nvSpPr>
        <p:spPr>
          <a:xfrm>
            <a:off x="8498160" y="468864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hyperlink" Target="https://hub.docker.com/u/library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0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0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0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0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2371680" y="630360"/>
            <a:ext cx="6329160" cy="153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ubTitle"/>
          </p:nvPr>
        </p:nvSpPr>
        <p:spPr>
          <a:xfrm>
            <a:off x="2390400" y="3238560"/>
            <a:ext cx="6329160" cy="1239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p>
            <a:pPr indent="0" algn="l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20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Контейнеры – наше всё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535680" y="712080"/>
            <a:ext cx="6703560" cy="765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6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Цели лабораторной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title"/>
          </p:nvPr>
        </p:nvSpPr>
        <p:spPr>
          <a:xfrm>
            <a:off x="535680" y="1480320"/>
            <a:ext cx="7977960" cy="3065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22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1. Изучить основные понятия, набор и предназначение файлов Docker.</a:t>
            </a:r>
            <a:br>
              <a:rPr sz="2200"/>
            </a:b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22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2. Научиться собирать, конфигурировать и управлять docker-образами и docker-контейнерами.</a:t>
            </a:r>
            <a:br>
              <a:rPr sz="2200"/>
            </a:b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14000"/>
              </a:lnSpc>
              <a:buNone/>
              <a:tabLst>
                <a:tab pos="0" algn="l"/>
              </a:tabLst>
            </a:pPr>
            <a:r>
              <a:rPr lang="ru" sz="22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3. Научиться настраивать взаимодействие docker-контейнеров между собой и с внешней средой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282960" y="202320"/>
            <a:ext cx="8618040" cy="1017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800" b="1" u="none" strike="noStrike">
                <a:solidFill>
                  <a:srgbClr val="37474F"/>
                </a:solidFill>
                <a:effectLst/>
                <a:highlight>
                  <a:srgbClr val="FFFFFF"/>
                </a:highlight>
                <a:uFillTx/>
                <a:latin typeface="Raleway"/>
                <a:ea typeface="Raleway"/>
              </a:rPr>
              <a:t>План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85;p15"/>
          <p:cNvSpPr/>
          <p:nvPr/>
        </p:nvSpPr>
        <p:spPr>
          <a:xfrm>
            <a:off x="3223440" y="1536480"/>
            <a:ext cx="1874520" cy="15613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89;p15"/>
          <p:cNvSpPr/>
          <p:nvPr/>
        </p:nvSpPr>
        <p:spPr>
          <a:xfrm>
            <a:off x="3261600" y="1601640"/>
            <a:ext cx="1798200" cy="14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45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ru-MO" sz="19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85;p15"/>
          <p:cNvSpPr/>
          <p:nvPr/>
        </p:nvSpPr>
        <p:spPr>
          <a:xfrm>
            <a:off x="4638600" y="3213000"/>
            <a:ext cx="1874520" cy="15613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89;p15"/>
          <p:cNvSpPr/>
          <p:nvPr/>
        </p:nvSpPr>
        <p:spPr>
          <a:xfrm>
            <a:off x="4676760" y="3278160"/>
            <a:ext cx="1798200" cy="14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45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6"/>
              </a:spcBef>
              <a:tabLst>
                <a:tab pos="0" algn="l"/>
              </a:tabLst>
            </a:pPr>
            <a:r>
              <a:rPr lang="ru-MO" sz="16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6"/>
              </a:spcBef>
              <a:spcAft>
                <a:spcPts val="1196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85;p15"/>
          <p:cNvSpPr/>
          <p:nvPr/>
        </p:nvSpPr>
        <p:spPr>
          <a:xfrm>
            <a:off x="6515640" y="1536480"/>
            <a:ext cx="1874520" cy="15613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1">
              <a:lumMod val="60000"/>
              <a:lumOff val="4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89;p15"/>
          <p:cNvSpPr/>
          <p:nvPr/>
        </p:nvSpPr>
        <p:spPr>
          <a:xfrm>
            <a:off x="6553800" y="1601640"/>
            <a:ext cx="1798200" cy="14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45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6"/>
              </a:spcBef>
              <a:tabLst>
                <a:tab pos="0" algn="l"/>
              </a:tabLst>
            </a:pPr>
            <a:r>
              <a:rPr lang="ru-MO" sz="19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Сети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6"/>
              </a:spcBef>
              <a:spcAft>
                <a:spcPts val="1196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85;p15"/>
          <p:cNvSpPr/>
          <p:nvPr/>
        </p:nvSpPr>
        <p:spPr>
          <a:xfrm>
            <a:off x="1155960" y="3278160"/>
            <a:ext cx="1874520" cy="15613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89;p15"/>
          <p:cNvSpPr/>
          <p:nvPr/>
        </p:nvSpPr>
        <p:spPr>
          <a:xfrm>
            <a:off x="1193760" y="3343320"/>
            <a:ext cx="1798200" cy="14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45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1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6"/>
              </a:spcBef>
              <a:spcAft>
                <a:spcPts val="1196"/>
              </a:spcAft>
              <a:tabLst>
                <a:tab pos="0" algn="l"/>
              </a:tabLst>
            </a:pPr>
            <a:r>
              <a:rPr lang="ru-RU" sz="20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Сборка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282960" y="202320"/>
            <a:ext cx="8618040" cy="1017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800" b="1" u="none" strike="noStrike">
                <a:solidFill>
                  <a:srgbClr val="37474F"/>
                </a:solidFill>
                <a:effectLst/>
                <a:uFillTx/>
                <a:latin typeface="Raleway"/>
                <a:ea typeface="Raleway"/>
              </a:rPr>
              <a:t>Как и что будем делать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"/>
          <p:cNvPicPr/>
          <p:nvPr/>
        </p:nvPicPr>
        <p:blipFill>
          <a:blip r:embed="rId1"/>
          <a:stretch/>
        </p:blipFill>
        <p:spPr>
          <a:xfrm>
            <a:off x="883080" y="1095480"/>
            <a:ext cx="7592400" cy="3979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282960" y="202320"/>
            <a:ext cx="8618040" cy="1017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800" b="1" u="none" strike="noStrike">
                <a:solidFill>
                  <a:srgbClr val="37474F"/>
                </a:solidFill>
                <a:effectLst/>
                <a:uFillTx/>
                <a:latin typeface="Raleway"/>
                <a:ea typeface="Raleway"/>
              </a:rPr>
              <a:t>Как и что будем делать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Picture 2"/>
          <p:cNvPicPr/>
          <p:nvPr/>
        </p:nvPicPr>
        <p:blipFill>
          <a:blip r:embed="rId1"/>
          <a:stretch/>
        </p:blipFill>
        <p:spPr>
          <a:xfrm>
            <a:off x="-16560" y="12600"/>
            <a:ext cx="9199080" cy="513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8229960" cy="777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ru" sz="4200" b="1" u="none" strike="noStrike">
                <a:solidFill>
                  <a:schemeClr val="accent5"/>
                </a:solidFill>
                <a:effectLst/>
                <a:uFillTx/>
                <a:latin typeface="Raleway"/>
                <a:ea typeface="Raleway"/>
              </a:rPr>
              <a:t>Цели лабораторной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05;p 2"/>
          <p:cNvSpPr/>
          <p:nvPr/>
        </p:nvSpPr>
        <p:spPr>
          <a:xfrm>
            <a:off x="282960" y="2941560"/>
            <a:ext cx="8085960" cy="13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AutoNum type="arabicParenR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Говорить на одном языке с DevOps и разработчиками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AutoNum type="arabicParenR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Формировать реалистичные требования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AutoNum type="arabicParenR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Понимать архитектуру и среду приложения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AutoNum type="arabicParenR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Работать с тестовыми и демонстрационными окружениями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Google Shape;106;p 2"/>
          <p:cNvSpPr/>
          <p:nvPr/>
        </p:nvSpPr>
        <p:spPr>
          <a:xfrm>
            <a:off x="282960" y="1367640"/>
            <a:ext cx="84319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ru" sz="42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Зачем docker системному аналитику?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07;p 2"/>
          <p:cNvSpPr/>
          <p:nvPr/>
        </p:nvSpPr>
        <p:spPr>
          <a:xfrm>
            <a:off x="8188200" y="14760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tIns="34200" rIns="34200" bIns="3420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title"/>
          </p:nvPr>
        </p:nvSpPr>
        <p:spPr>
          <a:xfrm>
            <a:off x="8216280" y="174600"/>
            <a:ext cx="770760" cy="638640"/>
          </a:xfrm>
          <a:prstGeom prst="rect">
            <a:avLst/>
          </a:prstGeom>
          <a:noFill/>
          <a:ln w="0">
            <a:noFill/>
          </a:ln>
        </p:spPr>
        <p:txBody>
          <a:bodyPr lIns="34200" tIns="34200" rIns="34200" bIns="342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7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1</a:t>
            </a:r>
            <a:endParaRPr lang="ru-RU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448"/>
              </a:spcBef>
              <a:buNone/>
              <a:tabLst>
                <a:tab pos="0" algn="l"/>
              </a:tabLst>
            </a:pPr>
            <a:r>
              <a:rPr lang="ru" sz="91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Основные понятия</a:t>
            </a:r>
            <a:endParaRPr lang="ru-RU" sz="9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448"/>
              </a:spcBef>
              <a:spcAft>
                <a:spcPts val="448"/>
              </a:spcAft>
              <a:buNone/>
              <a:tabLst>
                <a:tab pos="0" algn="l"/>
              </a:tabLst>
            </a:pPr>
            <a:endParaRPr lang="ru-RU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" dur="indefinite" restart="never" nodeType="tmRoot">
          <p:childTnLst>
            <p:seq>
              <p:cTn id="16" dur="indefinite" nodeType="mainSeq"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"/>
          <p:cNvPicPr/>
          <p:nvPr/>
        </p:nvPicPr>
        <p:blipFill>
          <a:blip r:embed="rId1"/>
          <a:stretch/>
        </p:blipFill>
        <p:spPr>
          <a:xfrm>
            <a:off x="167400" y="685800"/>
            <a:ext cx="8916840" cy="540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Google Shape;159;p23"/>
          <p:cNvSpPr/>
          <p:nvPr/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>
              <a:lnSpc>
                <a:spcPct val="114000"/>
              </a:lnSpc>
              <a:spcAft>
                <a:spcPts val="1599"/>
              </a:spcAft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Что такое Docker? Контейнеризация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/>
          <p:cNvPicPr/>
          <p:nvPr/>
        </p:nvPicPr>
        <p:blipFill>
          <a:blip r:embed="rId1"/>
          <a:stretch/>
        </p:blipFill>
        <p:spPr>
          <a:xfrm>
            <a:off x="319680" y="23400"/>
            <a:ext cx="8021880" cy="48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Образ и контейнер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89;p1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85" name=""/>
          <p:cNvSpPr/>
          <p:nvPr/>
        </p:nvSpPr>
        <p:spPr>
          <a:xfrm flipH="1">
            <a:off x="2743200" y="457200"/>
            <a:ext cx="2514600" cy="27432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Image name. Название образа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1</a:t>
            </a:r>
            <a:br>
              <a:rPr sz="1850"/>
            </a:br>
            <a:r>
              <a:rPr lang="ru" sz="91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Оснвные понятия</a:t>
            </a:r>
            <a:endParaRPr lang="ru-RU" sz="9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89;p1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89" name=""/>
          <p:cNvSpPr/>
          <p:nvPr/>
        </p:nvSpPr>
        <p:spPr>
          <a:xfrm>
            <a:off x="871560" y="1952280"/>
            <a:ext cx="7398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HOST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ru-RU" sz="24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PATH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chemeClr val="accent4">
                    <a:lumMod val="75000"/>
                  </a:schemeClr>
                </a:solidFill>
                <a:effectLst/>
                <a:uFillTx/>
                <a:latin typeface="Arial"/>
                <a:ea typeface="Arial"/>
              </a:rPr>
              <a:t>TAG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871560" y="2895840"/>
            <a:ext cx="7404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docker-lab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ru-RU" sz="24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orders-api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chemeClr val="accent4">
                    <a:lumMod val="75000"/>
                  </a:schemeClr>
                </a:solidFill>
                <a:effectLst/>
                <a:uFillTx/>
                <a:latin typeface="Arial"/>
                <a:ea typeface="Arial"/>
              </a:rPr>
              <a:t>lates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1" name=""/>
          <p:cNvCxnSpPr>
            <a:stCxn id="89" idx="2"/>
            <a:endCxn id="90" idx="0"/>
          </p:cNvCxnSpPr>
          <p:nvPr/>
        </p:nvCxnSpPr>
        <p:spPr>
          <a:xfrm>
            <a:off x="4570920" y="2407680"/>
            <a:ext cx="3240" cy="488520"/>
          </a:xfrm>
          <a:prstGeom prst="straightConnector1">
            <a:avLst/>
          </a:prstGeom>
          <a:ln w="38099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92" name=""/>
          <p:cNvSpPr/>
          <p:nvPr/>
        </p:nvSpPr>
        <p:spPr>
          <a:xfrm>
            <a:off x="868320" y="3324600"/>
            <a:ext cx="7407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docker-lab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ru-RU" sz="24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orders-api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chemeClr val="accent4">
                    <a:lumMod val="75000"/>
                  </a:schemeClr>
                </a:solidFill>
                <a:effectLst/>
                <a:uFillTx/>
                <a:latin typeface="Arial"/>
                <a:ea typeface="Arial"/>
              </a:rPr>
              <a:t>stage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859320" y="3715200"/>
            <a:ext cx="7406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docker-lab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ru-RU" sz="24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orders-api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chemeClr val="accent4">
                    <a:lumMod val="75000"/>
                  </a:schemeClr>
                </a:solidFill>
                <a:effectLst/>
                <a:uFillTx/>
                <a:latin typeface="Arial"/>
                <a:ea typeface="Arial"/>
              </a:rPr>
              <a:t>2.0.1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8229960" cy="777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ru" sz="4200" b="1" u="none" strike="noStrike">
                <a:solidFill>
                  <a:schemeClr val="accent5"/>
                </a:solidFill>
                <a:effectLst/>
                <a:uFillTx/>
                <a:latin typeface="Raleway"/>
                <a:ea typeface="Raleway"/>
              </a:rPr>
              <a:t>Цель этапа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05;p 1"/>
          <p:cNvSpPr/>
          <p:nvPr/>
        </p:nvSpPr>
        <p:spPr>
          <a:xfrm>
            <a:off x="282960" y="2941560"/>
            <a:ext cx="8085960" cy="13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Понять как выглядит подготовка контейнера с точки зрения разработчика. (Найти общий язык с разработчиком) 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Дать представление о том, как можно поменять docker-образ, при необходимости.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06;p 1"/>
          <p:cNvSpPr/>
          <p:nvPr/>
        </p:nvSpPr>
        <p:spPr>
          <a:xfrm>
            <a:off x="282960" y="1367640"/>
            <a:ext cx="8431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ru" sz="42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Сборка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61;p 1"/>
          <p:cNvSpPr/>
          <p:nvPr/>
        </p:nvSpPr>
        <p:spPr>
          <a:xfrm>
            <a:off x="8162280" y="16200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62;p 1"/>
          <p:cNvSpPr/>
          <p:nvPr/>
        </p:nvSpPr>
        <p:spPr>
          <a:xfrm>
            <a:off x="8186760" y="189360"/>
            <a:ext cx="7905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9" dur="indefinite" restart="never" nodeType="tmRoot">
          <p:childTnLst>
            <p:seq>
              <p:cTn id="30" dur="indefinite" nodeType="mainSeq"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Базовый образ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61;p 2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4">
              <a:lumMod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5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3"/>
              </a:spcBef>
              <a:spcAft>
                <a:spcPts val="383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Оптимизация контейнера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89;p 1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pic>
        <p:nvPicPr>
          <p:cNvPr id="103" name=""/>
          <p:cNvPicPr/>
          <p:nvPr/>
        </p:nvPicPr>
        <p:blipFill>
          <a:blip r:embed="rId1"/>
          <a:stretch/>
        </p:blipFill>
        <p:spPr>
          <a:xfrm>
            <a:off x="3986640" y="0"/>
            <a:ext cx="5141160" cy="514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"/>
          <p:cNvSpPr/>
          <p:nvPr/>
        </p:nvSpPr>
        <p:spPr>
          <a:xfrm>
            <a:off x="4572000" y="644760"/>
            <a:ext cx="1726560" cy="620280"/>
          </a:xfrm>
          <a:prstGeom prst="rect">
            <a:avLst/>
          </a:prstGeom>
          <a:solidFill>
            <a:srgbClr val="EAEA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python-slim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6614640" y="557640"/>
            <a:ext cx="1726560" cy="620280"/>
          </a:xfrm>
          <a:prstGeom prst="rect">
            <a:avLst/>
          </a:prstGeom>
          <a:solidFill>
            <a:srgbClr val="EAEA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26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python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57200" y="1828800"/>
            <a:ext cx="3198240" cy="25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FROM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debian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FROM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noble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FROM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python:3.11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Noto Sans CJK SC"/>
              </a:rPr>
              <a:t>FROM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 python:3.11-slim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Noto Sans CJK SC"/>
              </a:rPr>
              <a:t>FROM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node:18-slim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Noto Sans CJK SC"/>
              </a:rPr>
              <a:t>FROM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 scratch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228600" y="4572000"/>
            <a:ext cx="33552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277BD"/>
                </a:solidFill>
                <a:effectLst/>
                <a:uFillTx/>
                <a:latin typeface="Arial"/>
                <a:ea typeface="Arial"/>
                <a:hlinkClick r:id="rId2"/>
              </a:rPr>
              <a:t>https://hub.docker.com/u/library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Рабочая директория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89;p 1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10" name=""/>
          <p:cNvSpPr/>
          <p:nvPr/>
        </p:nvSpPr>
        <p:spPr>
          <a:xfrm>
            <a:off x="457200" y="1828800"/>
            <a:ext cx="1826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WORKDIR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/app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61;p 4"/>
          <p:cNvSpPr/>
          <p:nvPr/>
        </p:nvSpPr>
        <p:spPr>
          <a:xfrm>
            <a:off x="8162640" y="16236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62;p 4"/>
          <p:cNvSpPr/>
          <p:nvPr/>
        </p:nvSpPr>
        <p:spPr>
          <a:xfrm>
            <a:off x="8187120" y="189720"/>
            <a:ext cx="7905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4572000" y="0"/>
            <a:ext cx="3884040" cy="50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bin/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bash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python3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└── pip3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lib/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└── python3.11/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    └── site-packages/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        ├── fastapi/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        ├── pydantic/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        ├── ...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usr/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bin/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lib/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└── share/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etc/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hosts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passwd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└── ...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8000"/>
                </a:solidFill>
                <a:effectLst/>
                <a:uFillTx/>
                <a:latin typeface="Adwaita Mono"/>
                <a:ea typeface="Arial"/>
              </a:rPr>
              <a:t>└── src/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├── main.py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├── requirements.txt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└── app/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├── __init__.py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├── routes.py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└── utils.py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"/>
          <p:cNvCxnSpPr>
            <a:stCxn id="110" idx="3"/>
          </p:cNvCxnSpPr>
          <p:nvPr/>
        </p:nvCxnSpPr>
        <p:spPr>
          <a:xfrm>
            <a:off x="2283840" y="2010960"/>
            <a:ext cx="2127600" cy="1706400"/>
          </a:xfrm>
          <a:prstGeom prst="curvedConnector3">
            <a:avLst>
              <a:gd name="adj1" fmla="val 31409"/>
            </a:avLst>
          </a:prstGeom>
          <a:ln w="25560">
            <a:solidFill>
              <a:srgbClr val="FF800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Копировать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89;p 1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17" name=""/>
          <p:cNvSpPr/>
          <p:nvPr/>
        </p:nvSpPr>
        <p:spPr>
          <a:xfrm>
            <a:off x="457200" y="1828800"/>
            <a:ext cx="4341240" cy="25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COPY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&lt;откуда&gt; &lt;куда&gt;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COPY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app/requirements.txt 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COPY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app /app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COPY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1;p 4"/>
          <p:cNvSpPr/>
          <p:nvPr/>
        </p:nvSpPr>
        <p:spPr>
          <a:xfrm>
            <a:off x="8162640" y="16236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2;p 4"/>
          <p:cNvSpPr/>
          <p:nvPr/>
        </p:nvSpPr>
        <p:spPr>
          <a:xfrm>
            <a:off x="8187120" y="189720"/>
            <a:ext cx="7905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6462720" y="1564560"/>
            <a:ext cx="3884040" cy="24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bin/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lib/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usr/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etc/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└── src/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├── main.py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├── requirements.txt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└── app/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├── __init__.py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├── routes.py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└── utils.py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"/>
          <p:cNvPicPr/>
          <p:nvPr/>
        </p:nvPicPr>
        <p:blipFill>
          <a:blip r:embed="rId1"/>
          <a:srcRect l="0" t="0" r="0" b="29751"/>
          <a:stretch/>
        </p:blipFill>
        <p:spPr>
          <a:xfrm>
            <a:off x="3657600" y="1564560"/>
            <a:ext cx="2838960" cy="369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"/>
          <p:cNvSpPr/>
          <p:nvPr/>
        </p:nvSpPr>
        <p:spPr>
          <a:xfrm>
            <a:off x="4114800" y="2563560"/>
            <a:ext cx="2319840" cy="226440"/>
          </a:xfrm>
          <a:prstGeom prst="rect">
            <a:avLst/>
          </a:prstGeom>
          <a:noFill/>
          <a:ln w="29160">
            <a:solidFill>
              <a:srgbClr val="FF8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6823440" y="2743200"/>
            <a:ext cx="2319840" cy="611640"/>
          </a:xfrm>
          <a:prstGeom prst="rect">
            <a:avLst/>
          </a:prstGeom>
          <a:noFill/>
          <a:ln w="29160">
            <a:solidFill>
              <a:srgbClr val="FF8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4" name=""/>
          <p:cNvCxnSpPr>
            <a:stCxn id="122" idx="2"/>
            <a:endCxn id="123" idx="1"/>
          </p:cNvCxnSpPr>
          <p:nvPr/>
        </p:nvCxnSpPr>
        <p:spPr>
          <a:xfrm flipH="1" rot="16200000">
            <a:off x="5919480" y="2145240"/>
            <a:ext cx="259560" cy="1549080"/>
          </a:xfrm>
          <a:prstGeom prst="curvedConnector2">
            <a:avLst/>
          </a:prstGeom>
          <a:ln w="38160">
            <a:solidFill>
              <a:srgbClr val="FF8000"/>
            </a:solidFill>
            <a:round/>
            <a:tailEnd len="med" type="triangle" w="med"/>
          </a:ln>
        </p:spPr>
      </p:cxnSp>
      <p:sp>
        <p:nvSpPr>
          <p:cNvPr id="125" name=""/>
          <p:cNvSpPr/>
          <p:nvPr/>
        </p:nvSpPr>
        <p:spPr>
          <a:xfrm>
            <a:off x="6498720" y="1281600"/>
            <a:ext cx="1824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4000"/>
                </a:solidFill>
                <a:effectLst/>
                <a:uFillTx/>
                <a:latin typeface="Adwaita Mono"/>
                <a:ea typeface="Arial"/>
              </a:rPr>
              <a:t>Внутри контейнера: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3657600" y="1281600"/>
            <a:ext cx="1824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4000"/>
                </a:solidFill>
                <a:effectLst/>
                <a:uFillTx/>
                <a:latin typeface="Adwaita Mono"/>
                <a:ea typeface="Arial"/>
              </a:rPr>
              <a:t>На хостовой машине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Выполнить при сборке образа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89;p 3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29" name=""/>
          <p:cNvSpPr/>
          <p:nvPr/>
        </p:nvSpPr>
        <p:spPr>
          <a:xfrm>
            <a:off x="457200" y="1828800"/>
            <a:ext cx="7313040" cy="25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RUN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echo "Hello, world!"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RUN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apt-get update &amp;&amp; apt-get install -y curl git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RUN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pip install --no-cache-dir flask requests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RUN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chmod +x /tmp/setup.sh &amp;&amp; /tmp/setup.sh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RUN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mkdir -p $APP_HOME/src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61;p 5"/>
          <p:cNvSpPr/>
          <p:nvPr/>
        </p:nvSpPr>
        <p:spPr>
          <a:xfrm>
            <a:off x="8162640" y="16236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162;p 5"/>
          <p:cNvSpPr/>
          <p:nvPr/>
        </p:nvSpPr>
        <p:spPr>
          <a:xfrm>
            <a:off x="8187120" y="189720"/>
            <a:ext cx="7905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745056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Выполнить при старте контейнра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89;p 2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34" name=""/>
          <p:cNvSpPr/>
          <p:nvPr/>
        </p:nvSpPr>
        <p:spPr>
          <a:xfrm>
            <a:off x="457200" y="1828800"/>
            <a:ext cx="7313040" cy="39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["python", "app.py"]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["gunicorn", "app:app", "--bind", "0.0.0.0:8000"]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["node", "server.js"]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["nginx", "-g", "daemon off;"]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["bash"]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["postgres"]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61;p 3"/>
          <p:cNvSpPr/>
          <p:nvPr/>
        </p:nvSpPr>
        <p:spPr>
          <a:xfrm>
            <a:off x="8162640" y="16236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162;p 3"/>
          <p:cNvSpPr/>
          <p:nvPr/>
        </p:nvSpPr>
        <p:spPr>
          <a:xfrm>
            <a:off x="8187120" y="189720"/>
            <a:ext cx="7905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Cлои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89;p1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pic>
        <p:nvPicPr>
          <p:cNvPr id="139" name=""/>
          <p:cNvPicPr/>
          <p:nvPr/>
        </p:nvPicPr>
        <p:blipFill>
          <a:blip r:embed="rId1"/>
          <a:stretch/>
        </p:blipFill>
        <p:spPr>
          <a:xfrm>
            <a:off x="108720" y="-996480"/>
            <a:ext cx="11182680" cy="741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"/>
          <p:cNvSpPr/>
          <p:nvPr/>
        </p:nvSpPr>
        <p:spPr>
          <a:xfrm>
            <a:off x="2619720" y="2104920"/>
            <a:ext cx="6160680" cy="2100600"/>
          </a:xfrm>
          <a:prstGeom prst="rect">
            <a:avLst/>
          </a:prstGeom>
          <a:solidFill>
            <a:schemeClr val="dk2">
              <a:lumMod val="75000"/>
              <a:lumOff val="25000"/>
              <a:alpha val="3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FROM python:3.11-slim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WORKDIR /app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COPY requirements.txt 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RUN pip install -r requirements.txt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COPY . 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CMD ["python", "main.py"]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61;p23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Cлои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89;p1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pic>
        <p:nvPicPr>
          <p:cNvPr id="145" name=""/>
          <p:cNvPicPr/>
          <p:nvPr/>
        </p:nvPicPr>
        <p:blipFill>
          <a:blip r:embed="rId1"/>
          <a:srcRect l="0" t="0" r="0" b="17703"/>
          <a:stretch/>
        </p:blipFill>
        <p:spPr>
          <a:xfrm rot="10800000">
            <a:off x="111240" y="1206720"/>
            <a:ext cx="11182680" cy="61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"/>
          <p:cNvSpPr/>
          <p:nvPr/>
        </p:nvSpPr>
        <p:spPr>
          <a:xfrm>
            <a:off x="2619720" y="1422360"/>
            <a:ext cx="6165360" cy="2100600"/>
          </a:xfrm>
          <a:prstGeom prst="rect">
            <a:avLst/>
          </a:prstGeom>
          <a:solidFill>
            <a:schemeClr val="dk2">
              <a:lumMod val="75000"/>
              <a:lumOff val="25000"/>
              <a:alpha val="3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FROM python:3.11-slim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WORKDIR /app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COPY requirements.txt .</a:t>
            </a:r>
            <a:br>
              <a:rPr sz="2200"/>
            </a:b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RUN pip install -r requirements.txt</a:t>
            </a:r>
            <a:br>
              <a:rPr sz="2200"/>
            </a:b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COPY /app 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CMD ["python", "main.py"]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350280" y="1914120"/>
            <a:ext cx="21358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61;p23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1;p22"/>
          <p:cNvPicPr/>
          <p:nvPr/>
        </p:nvPicPr>
        <p:blipFill>
          <a:blip r:embed="rId1"/>
          <a:stretch/>
        </p:blipFill>
        <p:spPr>
          <a:xfrm>
            <a:off x="2444760" y="162720"/>
            <a:ext cx="4251960" cy="481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1" name="Google Shape;152;p22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9640" cy="73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Google Shape;153;p22"/>
          <p:cNvSpPr/>
          <p:nvPr/>
        </p:nvSpPr>
        <p:spPr>
          <a:xfrm>
            <a:off x="2855520" y="687240"/>
            <a:ext cx="3430440" cy="10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Образы и контейнеры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1"/>
          <p:cNvSpPr>
            <a:spLocks noGrp="1"/>
          </p:cNvSpPr>
          <p:nvPr>
            <p:ph/>
          </p:nvPr>
        </p:nvSpPr>
        <p:spPr>
          <a:xfrm>
            <a:off x="2855520" y="1504800"/>
            <a:ext cx="3430440" cy="319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Dockerfile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Инструкция по сборке образа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Образ (image)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images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Синтаксис именования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Сборка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build –f –t . 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001"/>
              </a:spcBef>
              <a:spcAft>
                <a:spcPts val="1001"/>
              </a:spcAft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Запуск контейнера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run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</a:t>
            </a:r>
            <a:r>
              <a:rPr lang="ru" sz="16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ps</a:t>
            </a:r>
            <a:br>
              <a:rPr sz="1600"/>
            </a:br>
            <a:r>
              <a:rPr lang="ru" sz="16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 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8229960" cy="777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ru" sz="4200" b="1" u="none" strike="noStrike">
                <a:solidFill>
                  <a:schemeClr val="accent5"/>
                </a:solidFill>
                <a:effectLst/>
                <a:uFillTx/>
                <a:latin typeface="Raleway"/>
                <a:ea typeface="Raleway"/>
              </a:rPr>
              <a:t>Цель этапа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Google Shape;105;p 1"/>
          <p:cNvSpPr/>
          <p:nvPr/>
        </p:nvSpPr>
        <p:spPr>
          <a:xfrm>
            <a:off x="282960" y="2531160"/>
            <a:ext cx="8085960" cy="24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Разобраться с инструментами и командами для управления жизненным циклом docker-контейнера: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Конфигурирование, запуск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Мониторинг, изучение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Остановка, удаление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Понять, как выглядит развертывание и управление контейнеризированным приложением с точки зрения DevOps-специалиста (Найти общий язык с DevOps'ом)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106;p 1"/>
          <p:cNvSpPr/>
          <p:nvPr/>
        </p:nvSpPr>
        <p:spPr>
          <a:xfrm>
            <a:off x="282960" y="1367640"/>
            <a:ext cx="8431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ru" sz="42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161;p 6"/>
          <p:cNvSpPr/>
          <p:nvPr/>
        </p:nvSpPr>
        <p:spPr>
          <a:xfrm>
            <a:off x="8162280" y="16200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162;p 6"/>
          <p:cNvSpPr/>
          <p:nvPr/>
        </p:nvSpPr>
        <p:spPr>
          <a:xfrm>
            <a:off x="8186760" y="189360"/>
            <a:ext cx="7905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9" dur="indefinite" restart="never" nodeType="tmRoot">
          <p:childTnLst>
            <p:seq>
              <p:cTn id="40" dur="indefinite" nodeType="mainSeq"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docker compose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161;p23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89;p1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0"/>
            <a:ext cx="4570560" cy="5142240"/>
          </a:xfrm>
          <a:prstGeom prst="rect">
            <a:avLst/>
          </a:prstGeom>
          <a:solidFill>
            <a:srgbClr val="35353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PROBLEMS  OUTPUT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TERMINAL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--rm -p 8081:8080  docker-lab/orders-api:latest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docker compose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161;p 13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89;p 8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4570560" cy="5142240"/>
          </a:xfrm>
          <a:prstGeom prst="rect">
            <a:avLst/>
          </a:prstGeom>
          <a:solidFill>
            <a:srgbClr val="35353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PROBLEMS  OUTPUT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TERMINAL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-d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--name mydb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POSTGRES_USER=admin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POSTGRES_PASSWORD=secret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POSTGRES_DB=myapp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-v pg_data:/var/lib/postgresql/data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postgres:15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docker compose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161;p 10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89;p 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4570560" cy="5142240"/>
          </a:xfrm>
          <a:prstGeom prst="rect">
            <a:avLst/>
          </a:prstGeom>
          <a:solidFill>
            <a:srgbClr val="35353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PROBLEMS  OUTPUT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TERMINAL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-d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--name mydb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POSTGRES_USER=admin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POSTGRES_PASSWORD=secret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POSTGRES_DB=myapp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-v pg_data:/var/lib/postgresql/data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postgres:15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-d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--name web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-p 8080:80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-v $(pwd)/nginx.conf:/etc/nginx/nginx.conf:ro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--link mydb:db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nginx:alpine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docker compose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161;p 12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89;p 7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78" name=""/>
          <p:cNvSpPr/>
          <p:nvPr/>
        </p:nvSpPr>
        <p:spPr>
          <a:xfrm>
            <a:off x="0" y="0"/>
            <a:ext cx="4570560" cy="5142240"/>
          </a:xfrm>
          <a:prstGeom prst="rect">
            <a:avLst/>
          </a:prstGeom>
          <a:solidFill>
            <a:srgbClr val="35353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PROBLEMS  OUTPUT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TERMINAL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-d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--name mydb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POSTGRES_USER=admin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POSTGRES_PASSWORD=secret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POSTGRES_DB=myapp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-v pg_data:/var/lib/postgresql/data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postgres:15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-d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--name web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-p 8080:80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-v $(pwd)/nginx.conf:/etc/nginx/nginx.conf:ro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--link mydb:db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nginx:alpine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4800600" y="1444320"/>
            <a:ext cx="4113360" cy="31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Запустить контейнер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Остановить контейнер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Поменять конфигурацию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Запустить контейнер(ы) снова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docker-compose.yml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161;p 11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89;p 6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84" name=""/>
          <p:cNvSpPr/>
          <p:nvPr/>
        </p:nvSpPr>
        <p:spPr>
          <a:xfrm>
            <a:off x="0" y="0"/>
            <a:ext cx="4341960" cy="5142240"/>
          </a:xfrm>
          <a:prstGeom prst="rect">
            <a:avLst/>
          </a:prstGeom>
          <a:solidFill>
            <a:srgbClr val="35353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PROBLEMS  OUTPUT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TERMINAL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compose up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compose down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4572000" y="0"/>
            <a:ext cx="4570560" cy="514224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docker-compose.yml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services: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db: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image: postgres:15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container_name: mydb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environment: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POSTGRES_USER: admin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POSTGRES_PASSWORD: secret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POSTGRES_DB: myapp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volumes: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- pg_data:/var/lib/postgresql/data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web: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image: nginx:alpine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container_name: web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ports: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- "8080:80"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volumes: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- ./nginx.conf:/etc/nginx/nginx.conf:ro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depends_on: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- db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volumes: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pg_data: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4572000" y="360"/>
            <a:ext cx="4570560" cy="227160"/>
          </a:xfrm>
          <a:prstGeom prst="rect">
            <a:avLst/>
          </a:prstGeom>
          <a:solidFill>
            <a:srgbClr val="5353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PT Mono"/>
            </a:endParaRPr>
          </a:p>
        </p:txBody>
      </p:sp>
      <p:sp>
        <p:nvSpPr>
          <p:cNvPr id="187" name=""/>
          <p:cNvSpPr/>
          <p:nvPr/>
        </p:nvSpPr>
        <p:spPr>
          <a:xfrm>
            <a:off x="4572000" y="0"/>
            <a:ext cx="1827360" cy="22716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docker-compose.yml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Что можно конфигурировать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Google Shape;161;p 9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9;p 4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92" name=""/>
          <p:cNvSpPr/>
          <p:nvPr/>
        </p:nvSpPr>
        <p:spPr>
          <a:xfrm>
            <a:off x="350280" y="1914120"/>
            <a:ext cx="824652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marL="239760" indent="-23976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ru-RU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Без пересборки образа, для каждого инстанса контейнера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9760" indent="-23976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ru-RU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Основное: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9720" lvl="1" indent="-23976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ru-RU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Порты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9720" lvl="1" indent="-23976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ru-RU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Переменные среды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9720" lvl="1" indent="-23976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ru-RU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Вольюмы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92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Публикация портов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161;p 15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89;p 10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97" name=""/>
          <p:cNvSpPr/>
          <p:nvPr/>
        </p:nvSpPr>
        <p:spPr>
          <a:xfrm>
            <a:off x="4572000" y="0"/>
            <a:ext cx="4570560" cy="514224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services: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orders-api: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image: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docker-lab/orders-api:latest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container_name: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backend-orders-api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build: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context: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.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dockerfile: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Dockerfile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ports: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- "8081:8080"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4572000" y="360"/>
            <a:ext cx="4570560" cy="227160"/>
          </a:xfrm>
          <a:prstGeom prst="rect">
            <a:avLst/>
          </a:prstGeom>
          <a:solidFill>
            <a:srgbClr val="5353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PT Mono"/>
            </a:endParaRPr>
          </a:p>
        </p:txBody>
      </p:sp>
      <p:sp>
        <p:nvSpPr>
          <p:cNvPr id="199" name=""/>
          <p:cNvSpPr/>
          <p:nvPr/>
        </p:nvSpPr>
        <p:spPr>
          <a:xfrm>
            <a:off x="4572000" y="0"/>
            <a:ext cx="1827360" cy="45576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docker-compose.yml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457200" y="2057400"/>
            <a:ext cx="3884760" cy="17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ports: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- “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source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target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- “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хост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контейнер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- “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8081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8080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425088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Переменные окружения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161;p 16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89;p 11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05" name=""/>
          <p:cNvSpPr/>
          <p:nvPr/>
        </p:nvSpPr>
        <p:spPr>
          <a:xfrm>
            <a:off x="4572000" y="0"/>
            <a:ext cx="4570560" cy="514224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services: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orders-api: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image: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docker-lab/orders-api:latest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container_name: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backend-orders-api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build: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context: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.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dockerfile: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Dockerfile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ports: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- "8081:8080"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environment: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DB_PATH: /data/orders.db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DEBUG: ${DEBUG}   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env_file: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".env"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4572000" y="360"/>
            <a:ext cx="4570560" cy="227160"/>
          </a:xfrm>
          <a:prstGeom prst="rect">
            <a:avLst/>
          </a:prstGeom>
          <a:solidFill>
            <a:srgbClr val="5353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PT Mono"/>
            </a:endParaRPr>
          </a:p>
        </p:txBody>
      </p:sp>
      <p:sp>
        <p:nvSpPr>
          <p:cNvPr id="207" name=""/>
          <p:cNvSpPr/>
          <p:nvPr/>
        </p:nvSpPr>
        <p:spPr>
          <a:xfrm>
            <a:off x="4572000" y="0"/>
            <a:ext cx="1827360" cy="45576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docker-compose.yml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457200" y="1828800"/>
            <a:ext cx="3884760" cy="37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environment: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ИМЯ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значение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DEBUG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true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env_file: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&lt;путь к файлу&gt;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151;p22"/>
          <p:cNvPicPr/>
          <p:nvPr/>
        </p:nvPicPr>
        <p:blipFill>
          <a:blip r:embed="rId1"/>
          <a:stretch/>
        </p:blipFill>
        <p:spPr>
          <a:xfrm>
            <a:off x="2444760" y="162720"/>
            <a:ext cx="4251960" cy="481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0" name="Google Shape;152;p22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9640" cy="73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Google Shape;153;p22"/>
          <p:cNvSpPr/>
          <p:nvPr/>
        </p:nvSpPr>
        <p:spPr>
          <a:xfrm>
            <a:off x="2855520" y="687240"/>
            <a:ext cx="3430440" cy="10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/>
          </p:nvPr>
        </p:nvSpPr>
        <p:spPr>
          <a:xfrm>
            <a:off x="2855520" y="1647720"/>
            <a:ext cx="3430440" cy="305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Порты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-p 8081:8080 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Переменные окружения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environment, env_file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Информация о контейнере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inspect  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998"/>
              </a:spcBef>
              <a:spcAft>
                <a:spcPts val="998"/>
              </a:spcAft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Управление контейнером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logs, exec it, stats, top, restart, stop</a:t>
            </a:r>
            <a:br>
              <a:rPr sz="1600"/>
            </a:br>
            <a:r>
              <a:rPr lang="ru" sz="16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 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8229960" cy="777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ru" sz="4200" b="1" u="none" strike="noStrike">
                <a:solidFill>
                  <a:schemeClr val="accent5"/>
                </a:solidFill>
                <a:effectLst/>
                <a:uFillTx/>
                <a:latin typeface="Raleway"/>
                <a:ea typeface="Raleway"/>
              </a:rPr>
              <a:t>Цель этапа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Google Shape;105;p 1"/>
          <p:cNvSpPr/>
          <p:nvPr/>
        </p:nvSpPr>
        <p:spPr>
          <a:xfrm>
            <a:off x="282960" y="2531160"/>
            <a:ext cx="8085960" cy="16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Понять, как в Docker </a:t>
            </a: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осуществляется работа с постоянными данными: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Базы данных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Файлы конфигураций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Файлы на файловом сервере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106;p 1"/>
          <p:cNvSpPr/>
          <p:nvPr/>
        </p:nvSpPr>
        <p:spPr>
          <a:xfrm>
            <a:off x="282960" y="1367640"/>
            <a:ext cx="8431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ru" sz="42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161;p 7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4"/>
          <p:cNvSpPr/>
          <p:nvPr/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77"/>
              </a:spcBef>
              <a:spcAft>
                <a:spcPts val="377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9" dur="indefinite" restart="never" nodeType="tmRoot">
          <p:childTnLst>
            <p:seq>
              <p:cTn id="50" dur="indefinite" nodeType="mainSeq"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"/>
          <p:cNvPicPr/>
          <p:nvPr/>
        </p:nvPicPr>
        <p:blipFill>
          <a:blip r:embed="rId1"/>
          <a:stretch/>
        </p:blipFill>
        <p:spPr>
          <a:xfrm>
            <a:off x="2068920" y="161640"/>
            <a:ext cx="7035480" cy="49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"/>
          <p:cNvSpPr/>
          <p:nvPr/>
        </p:nvSpPr>
        <p:spPr>
          <a:xfrm>
            <a:off x="350280" y="1914120"/>
            <a:ext cx="82756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321264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3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161;p23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77"/>
              </a:spcBef>
              <a:spcAft>
                <a:spcPts val="377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9;p1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24" name=""/>
          <p:cNvSpPr/>
          <p:nvPr/>
        </p:nvSpPr>
        <p:spPr>
          <a:xfrm>
            <a:off x="319320" y="1990800"/>
            <a:ext cx="189972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marL="217800" indent="-217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Сохранять данные при пересоздании контейнеров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Делиться файлами между контейнером и хостом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Организовывать общий доступ для нескольких контейнеров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Удобно хранить конфиги и логи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"/>
          <p:cNvPicPr/>
          <p:nvPr/>
        </p:nvPicPr>
        <p:blipFill>
          <a:blip r:embed="rId1"/>
          <a:stretch/>
        </p:blipFill>
        <p:spPr>
          <a:xfrm>
            <a:off x="1143000" y="3600"/>
            <a:ext cx="8216640" cy="513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"/>
          <p:cNvSpPr/>
          <p:nvPr/>
        </p:nvSpPr>
        <p:spPr>
          <a:xfrm>
            <a:off x="350280" y="1914120"/>
            <a:ext cx="82756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321264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161;p23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89;p1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31" name=""/>
          <p:cNvSpPr/>
          <p:nvPr/>
        </p:nvSpPr>
        <p:spPr>
          <a:xfrm>
            <a:off x="155520" y="1670400"/>
            <a:ext cx="4760280" cy="24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хост</a:t>
            </a: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600" b="0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контейнер</a:t>
            </a:r>
            <a:br>
              <a:rPr sz="2600"/>
            </a:br>
            <a:br>
              <a:rPr sz="2600"/>
            </a:b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/var/tmp</a:t>
            </a: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600" b="0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/app/temp-files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"/>
          <p:cNvPicPr/>
          <p:nvPr/>
        </p:nvPicPr>
        <p:blipFill>
          <a:blip r:embed="rId1"/>
          <a:stretch/>
        </p:blipFill>
        <p:spPr>
          <a:xfrm>
            <a:off x="2596680" y="823680"/>
            <a:ext cx="6554520" cy="421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"/>
          <p:cNvSpPr/>
          <p:nvPr/>
        </p:nvSpPr>
        <p:spPr>
          <a:xfrm>
            <a:off x="350280" y="1914120"/>
            <a:ext cx="82756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321264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Вольюмы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161;p23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89;p1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"/>
          <p:cNvPicPr/>
          <p:nvPr/>
        </p:nvPicPr>
        <p:blipFill>
          <a:blip r:embed="rId1"/>
          <a:stretch/>
        </p:blipFill>
        <p:spPr>
          <a:xfrm>
            <a:off x="2353680" y="1193040"/>
            <a:ext cx="6806880" cy="38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"/>
          <p:cNvSpPr/>
          <p:nvPr/>
        </p:nvSpPr>
        <p:spPr>
          <a:xfrm>
            <a:off x="350280" y="1914120"/>
            <a:ext cx="82756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321264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Вольюмы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161;p23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89;p1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44" name=""/>
          <p:cNvSpPr/>
          <p:nvPr/>
        </p:nvSpPr>
        <p:spPr>
          <a:xfrm>
            <a:off x="2727000" y="82800"/>
            <a:ext cx="4760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-v </a:t>
            </a:r>
            <a:r>
              <a:rPr lang="ru-RU" sz="2600" b="0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/var/tmp</a:t>
            </a: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600" b="0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/app/temp-files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2727000" y="570600"/>
            <a:ext cx="47638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-v </a:t>
            </a:r>
            <a:r>
              <a:rPr lang="ru-RU" sz="2600" b="0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my-volume</a:t>
            </a: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600" b="0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/app/temp-files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151;p22"/>
          <p:cNvPicPr/>
          <p:nvPr/>
        </p:nvPicPr>
        <p:blipFill>
          <a:blip r:embed="rId1"/>
          <a:stretch/>
        </p:blipFill>
        <p:spPr>
          <a:xfrm>
            <a:off x="2444760" y="162720"/>
            <a:ext cx="4251960" cy="481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7" name="Google Shape;152;p22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9640" cy="73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8" name="Google Shape;153;p22"/>
          <p:cNvSpPr/>
          <p:nvPr/>
        </p:nvSpPr>
        <p:spPr>
          <a:xfrm>
            <a:off x="2855520" y="687240"/>
            <a:ext cx="3430440" cy="87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Монтирование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1"/>
          <p:cNvSpPr>
            <a:spLocks noGrp="1"/>
          </p:cNvSpPr>
          <p:nvPr>
            <p:ph/>
          </p:nvPr>
        </p:nvSpPr>
        <p:spPr>
          <a:xfrm>
            <a:off x="2855520" y="1647720"/>
            <a:ext cx="3430440" cy="305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Для чего?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хранение данных между перезапусками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Маунт директории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-v “source:targer”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Вольюмы vs маунты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Вольюмы управляется Docker’ом </a:t>
            </a:r>
            <a:br>
              <a:rPr sz="1400"/>
            </a:br>
            <a:r>
              <a:rPr lang="ru" sz="14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8229960" cy="777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ru" sz="4200" b="1" u="none" strike="noStrike">
                <a:solidFill>
                  <a:schemeClr val="accent5"/>
                </a:solidFill>
                <a:effectLst/>
                <a:uFillTx/>
                <a:latin typeface="Raleway"/>
                <a:ea typeface="Raleway"/>
              </a:rPr>
              <a:t>Цель этапа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105;p 1"/>
          <p:cNvSpPr/>
          <p:nvPr/>
        </p:nvSpPr>
        <p:spPr>
          <a:xfrm>
            <a:off x="282960" y="2531160"/>
            <a:ext cx="8085960" cy="4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106;p 1"/>
          <p:cNvSpPr/>
          <p:nvPr/>
        </p:nvSpPr>
        <p:spPr>
          <a:xfrm>
            <a:off x="282960" y="1367640"/>
            <a:ext cx="8431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ru" sz="42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Сети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161;p 8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B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5"/>
          <p:cNvSpPr/>
          <p:nvPr/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5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77"/>
              </a:spcBef>
              <a:spcAft>
                <a:spcPts val="377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Сети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105;p 3"/>
          <p:cNvSpPr/>
          <p:nvPr/>
        </p:nvSpPr>
        <p:spPr>
          <a:xfrm>
            <a:off x="282960" y="2514600"/>
            <a:ext cx="80859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Понять, как осуществляется сетевое взаимодействие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Между контейнерами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Между контейнером и внешней средой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“Как поговорить с контейнером?”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9" dur="indefinite" restart="never" nodeType="tmRoot">
          <p:childTnLst>
            <p:seq>
              <p:cTn id="60" dur="indefinite" nodeType="mainSeq">
                <p:childTnLst>
                  <p:par>
                    <p:cTn id="61" fill="hold">
                      <p:stCondLst>
                        <p:cond delay="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"/>
          <p:cNvPicPr/>
          <p:nvPr/>
        </p:nvPicPr>
        <p:blipFill>
          <a:blip r:embed="rId1"/>
          <a:stretch/>
        </p:blipFill>
        <p:spPr>
          <a:xfrm>
            <a:off x="3027960" y="1256400"/>
            <a:ext cx="5552280" cy="363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"/>
          <p:cNvSpPr/>
          <p:nvPr/>
        </p:nvSpPr>
        <p:spPr>
          <a:xfrm>
            <a:off x="350280" y="1914120"/>
            <a:ext cx="82756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7716960" cy="61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Сети. Как контейнеры могут общаться?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161;p23"/>
          <p:cNvSpPr/>
          <p:nvPr/>
        </p:nvSpPr>
        <p:spPr>
          <a:xfrm>
            <a:off x="8161920" y="161640"/>
            <a:ext cx="837720" cy="70452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B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90560" cy="63864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5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77"/>
              </a:spcBef>
              <a:spcAft>
                <a:spcPts val="377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Сети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9;p15"/>
          <p:cNvSpPr/>
          <p:nvPr/>
        </p:nvSpPr>
        <p:spPr>
          <a:xfrm>
            <a:off x="5020200" y="2228760"/>
            <a:ext cx="1359720" cy="10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62" name=""/>
          <p:cNvSpPr/>
          <p:nvPr/>
        </p:nvSpPr>
        <p:spPr>
          <a:xfrm>
            <a:off x="319680" y="1502640"/>
            <a:ext cx="8579520" cy="3027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"/>
          <p:cNvSpPr/>
          <p:nvPr/>
        </p:nvSpPr>
        <p:spPr>
          <a:xfrm>
            <a:off x="350280" y="1619280"/>
            <a:ext cx="2622600" cy="22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marL="306000" indent="-3060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Через открытые порты (web network)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2. Через внутреннюю сеть (service network)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/>
          <p:nvPr/>
        </p:nvSpPr>
        <p:spPr>
          <a:xfrm>
            <a:off x="3486960" y="4848480"/>
            <a:ext cx="49762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Источник: https://accesto.com/blog/docker-networks-explained-part-2/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151;p22"/>
          <p:cNvPicPr/>
          <p:nvPr/>
        </p:nvPicPr>
        <p:blipFill>
          <a:blip r:embed="rId1"/>
          <a:stretch/>
        </p:blipFill>
        <p:spPr>
          <a:xfrm>
            <a:off x="2444760" y="162720"/>
            <a:ext cx="4251960" cy="481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6" name="Google Shape;152;p22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9640" cy="73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Google Shape;153;p22"/>
          <p:cNvSpPr/>
          <p:nvPr/>
        </p:nvSpPr>
        <p:spPr>
          <a:xfrm>
            <a:off x="2855520" y="598680"/>
            <a:ext cx="343044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Сети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1"/>
          <p:cNvSpPr>
            <a:spLocks noGrp="1"/>
          </p:cNvSpPr>
          <p:nvPr>
            <p:ph/>
          </p:nvPr>
        </p:nvSpPr>
        <p:spPr>
          <a:xfrm>
            <a:off x="2855520" y="1353960"/>
            <a:ext cx="3505680" cy="387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Мапирование портов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-p 8081:8080 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host:container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Docker-сети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network create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позволяют контейнерам общаться напрямую без проброса портов и по имени, без IP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Безопасность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     Docker-сети позволяют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     скрыть backend, БД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151;p22"/>
          <p:cNvPicPr/>
          <p:nvPr/>
        </p:nvPicPr>
        <p:blipFill>
          <a:blip r:embed="rId1"/>
          <a:stretch/>
        </p:blipFill>
        <p:spPr>
          <a:xfrm>
            <a:off x="1937520" y="162720"/>
            <a:ext cx="5101200" cy="481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Google Shape;153;p22"/>
          <p:cNvSpPr/>
          <p:nvPr/>
        </p:nvSpPr>
        <p:spPr>
          <a:xfrm>
            <a:off x="635760" y="443520"/>
            <a:ext cx="780012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-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ИТОГО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1"/>
          <p:cNvSpPr>
            <a:spLocks noGrp="1"/>
          </p:cNvSpPr>
          <p:nvPr>
            <p:ph/>
          </p:nvPr>
        </p:nvSpPr>
        <p:spPr>
          <a:xfrm>
            <a:off x="2159640" y="825480"/>
            <a:ext cx="4752000" cy="3877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8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Основы и запуск контейнеров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Что такое образ и контейнер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Структура Dockerfile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Первые команды: </a:t>
            </a:r>
            <a:r>
              <a:rPr lang="ru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 build/run/ps/logs/exec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  <a:tabLst>
                <a:tab pos="0" algn="l"/>
              </a:tabLst>
            </a:pPr>
            <a:r>
              <a:rPr lang="ru" sz="18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Конфигурация и управление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2000" b="0" u="none" strike="noStrike">
                <a:solidFill>
                  <a:schemeClr val="dk2"/>
                </a:solidFill>
                <a:effectLst/>
                <a:uFillTx/>
                <a:latin typeface="Lato"/>
                <a:ea typeface="Lato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Порты, переменные окружения, логи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Управление жизненным циклом контейнера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  <a:tabLst>
                <a:tab pos="0" algn="l"/>
              </a:tabLst>
            </a:pPr>
            <a:r>
              <a:rPr lang="ru" sz="18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Хранение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Разница между </a:t>
            </a:r>
            <a:r>
              <a:rPr lang="ru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bind mount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и </a:t>
            </a:r>
            <a:r>
              <a:rPr lang="ru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volume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Практика маунтов и сохранения данных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  <a:tabLst>
                <a:tab pos="0" algn="l"/>
              </a:tabLst>
            </a:pPr>
            <a:r>
              <a:rPr lang="ru" sz="18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Сети и несколько контейнеров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Типы сетей в Docker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Общение сервисов между собой</a:t>
            </a: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0" t="0" r="0" b="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0" t="0" r="0" b="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</TotalTime>
  <Application>LibreOffice/26.2.1.2$Linux_X86_64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2026-04-19T13:17:53Z</dcterms:modified>
  <cp:revision>81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22</vt:i4>
  </property>
  <property fmtid="{D5CDD505-2E9C-101B-9397-08002B2CF9AE}" pid="4" name="PresentationFormat">
    <vt:lpwstr>On-screen Show (4:3)</vt:lpwstr>
  </property>
  <property fmtid="{D5CDD505-2E9C-101B-9397-08002B2CF9AE}" pid="5" name="Slides">
    <vt:i4>22</vt:i4>
  </property>
</Properties>
</file>