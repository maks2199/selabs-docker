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4.xml" ContentType="application/vnd.openxmlformats-officedocument.presentationml.slide+xml"/>
  <Override PartName="/ppt/slides/slide3.xml" ContentType="application/vnd.openxmlformats-officedocument.presentationml.slide+xml"/>
  <Override PartName="/ppt/slides/slide36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8.xml" ContentType="application/vnd.openxmlformats-officedocument.presentationml.slide+xml"/>
  <Override PartName="/ppt/slides/slide18.xml" ContentType="application/vnd.openxmlformats-officedocument.presentationml.slide+xml"/>
  <Override PartName="/ppt/slides/slide41.xml" ContentType="application/vnd.openxmlformats-officedocument.presentationml.slide+xml"/>
  <Override PartName="/ppt/slides/slide4.xml" ContentType="application/vnd.openxmlformats-officedocument.presentationml.slide+xml"/>
  <Override PartName="/ppt/slides/slide37.xml" ContentType="application/vnd.openxmlformats-officedocument.presentationml.slide+xml"/>
  <Override PartName="/ppt/slides/slide16.xml" ContentType="application/vnd.openxmlformats-officedocument.presentationml.slide+xml"/>
  <Override PartName="/ppt/slides/slide40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5.xml" ContentType="application/vnd.openxmlformats-officedocument.presentationml.slide+xml"/>
  <Override PartName="/ppt/slides/slide32.xml" ContentType="application/vnd.openxmlformats-officedocument.presentationml.slide+xml"/>
  <Override PartName="/ppt/slides/slide27.xml" ContentType="application/vnd.openxmlformats-officedocument.presentationml.slide+xml"/>
  <Override PartName="/ppt/slides/slide43.xml" ContentType="application/vnd.openxmlformats-officedocument.presentationml.slide+xml"/>
  <Override PartName="/ppt/slides/slide20.xml" ContentType="application/vnd.openxmlformats-officedocument.presentationml.slide+xml"/>
  <Override PartName="/ppt/slides/slide44.xml" ContentType="application/vnd.openxmlformats-officedocument.presentationml.slide+xml"/>
  <Override PartName="/ppt/slides/slide39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8.xml" ContentType="application/vnd.openxmlformats-officedocument.presentationml.slide+xml"/>
  <Override PartName="/ppt/slides/slide42.xml" ContentType="application/vnd.openxmlformats-officedocument.presentationml.slide+xml"/>
  <Override PartName="/ppt/slides/slide12.xml" ContentType="application/vnd.openxmlformats-officedocument.presentationml.slide+xml"/>
  <Override PartName="/ppt/notesSlides/notesSlide7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4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ru-RU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13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14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15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10FB1A5-8180-49CC-AE5B-FC7112A5663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2640" cy="3425400"/>
          </a:xfrm>
          <a:prstGeom prst="rect">
            <a:avLst/>
          </a:prstGeom>
          <a:ln w="0">
            <a:noFill/>
          </a:ln>
        </p:spPr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2800" cy="4111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13968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Что такое Docker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l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Платформа для упаковки и запуска приложений в контейнерах.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l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Контейнер = приложение + зависимости, изолированные от системы.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Где применяется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?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l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Разработка и тестирование (единая среда для команды).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l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CI/CD и автоматизация доставки.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l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Микросервисы и масштабирование.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l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Облачные сервисы и DevOps-процессы.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Преимущества / Недостатки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l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+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Быстрая развертка и переносимость.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l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+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Легкость масштабирования.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l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+Экономия ресурсов по сравнению с виртуалками.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l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– Более сложное администрирование.</a:t>
            </a:r>
            <a:br>
              <a:rPr sz="1200"/>
            </a:b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– Безопасность зависит от настройки.</a:t>
            </a:r>
            <a:br>
              <a:rPr sz="1200"/>
            </a:b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– Ограничения в работе с графикой/железом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2640" cy="3425400"/>
          </a:xfrm>
          <a:prstGeom prst="rect">
            <a:avLst/>
          </a:prstGeom>
          <a:ln w="0">
            <a:noFill/>
          </a:ln>
        </p:spPr>
      </p:sp>
      <p:sp>
        <p:nvSpPr>
          <p:cNvPr id="30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2800" cy="4111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1.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What a layer 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Every instruction in a 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Dockerfile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creates a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layer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. Layers are essentially snapshots of the filesystem after that instruction runs. Layers are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immutable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, which means once a layer is created, it doesn’t change — Docker just adds new layers on top.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2. How caching works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Docker tries to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reuse layers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from previous builds to save time. For each instruction: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Docker checks if it has a cached layer that matches: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The command itself (e.g., 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RUN pip install ...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The state of the filesystem the command depends on (e.g., files copied in previous 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COPY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If both match, Docker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skips executing the command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and reuses the layer.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If anything changes (e.g., 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requirements.txt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changes), that layer and all layers after it are rebuilt.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3. Practical consequences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Order matters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: Put layers that change least at the top. For example, copy 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requirements.txt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and install dependencies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before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copying your app source code, so changes in your app don’t force reinstalling dependencies.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2640" cy="342540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2800" cy="4111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1.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What a layer 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Every instruction in a 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Dockerfile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creates a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layer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. Layers are essentially snapshots of the filesystem after that instruction runs. Layers are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immutable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, which means once a layer is created, it doesn’t change — Docker just adds new layers on top.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2. How caching works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Docker tries to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reuse layers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from previous builds to save time. For each instruction: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Docker checks if it has a cached layer that matches: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The command itself (e.g., 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RUN pip install ...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The state of the filesystem the command depends on (e.g., files copied in previous 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COPY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If both match, Docker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skips executing the command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and reuses the layer.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If anything changes (e.g., 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requirements.txt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changes), that layer and all layers after it are rebuilt.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3. Practical consequences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Order matters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: Put layers that change least at the top. For example, copy 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requirements.txt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and install dependencies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before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copying your app source code, so changes in your app don’t force reinstalling dependencies.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2640" cy="3425400"/>
          </a:xfrm>
          <a:prstGeom prst="rect">
            <a:avLst/>
          </a:prstGeom>
          <a:ln w="0">
            <a:noFill/>
          </a:ln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2800" cy="4111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1.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What a layer 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Every instruction in a 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Dockerfile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creates a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layer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. Layers are essentially snapshots of the filesystem after that instruction runs. Layers are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immutable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, which means once a layer is created, it doesn’t change — Docker just adds new layers on top.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2. How caching works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Docker tries to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reuse layers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from previous builds to save time. For each instruction: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Docker checks if it has a cached layer that matches: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The command itself (e.g., 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RUN pip install ...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The state of the filesystem the command depends on (e.g., files copied in previous 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COPY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If both match, Docker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skips executing the command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and reuses the layer.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If anything changes (e.g., 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requirements.txt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changes), that layer and all layers after it are rebuilt.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3. Practical consequences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Order matters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: Put layers that change least at the top. For example, copy 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requirements.txt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and install dependencies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before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copying your app source code, so changes in your app don’t force reinstalling dependencies.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2640" cy="34254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2800" cy="4111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1.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What a layer 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Every instruction in a 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Dockerfile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creates a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layer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. Layers are essentially snapshots of the filesystem after that instruction runs. Layers are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immutable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, which means once a layer is created, it doesn’t change — Docker just adds new layers on top.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2. How caching works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Docker tries to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reuse layers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from previous builds to save time. For each instruction: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Docker checks if it has a cached layer that matches: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The command itself (e.g., 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RUN pip install ...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The state of the filesystem the command depends on (e.g., files copied in previous 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COPY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If both match, Docker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skips executing the command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and reuses the layer.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If anything changes (e.g., 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requirements.txt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changes), that layer and all layers after it are rebuilt.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3. Practical consequences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Order matters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: Put layers that change least at the top. For example, copy 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requirements.txt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and install dependencies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before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copying your app source code, so changes in your app don’t force reinstalling dependencies.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2640" cy="342540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2800" cy="4111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1.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What a layer 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Every instruction in a 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Dockerfile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creates a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layer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. Layers are essentially snapshots of the filesystem after that instruction runs. Layers are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immutable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, which means once a layer is created, it doesn’t change — Docker just adds new layers on top.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2. How caching works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Docker tries to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reuse layers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from previous builds to save time. For each instruction: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Docker checks if it has a cached layer that matches: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The command itself (e.g., 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RUN pip install ...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The state of the filesystem the command depends on (e.g., files copied in previous 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COPY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If both match, Docker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skips executing the command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and reuses the layer.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If anything changes (e.g., 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requirements.txt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changes), that layer and all layers after it are rebuilt.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3. Practical consequences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Order matters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: Put layers that change least at the top. For example, copy 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requirements.txt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and install dependencies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before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copying your app source code, so changes in your app don’t force reinstalling dependencies.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2640" cy="342540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2800" cy="4111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1.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What a layer is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Every instruction in a 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Dockerfile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creates a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layer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. Layers are essentially snapshots of the filesystem after that instruction runs. Layers are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immutable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, which means once a layer is created, it doesn’t change — Docker just adds new layers on top.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2. How caching works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Docker tries to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reuse layers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from previous builds to save time. For each instruction: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Docker checks if it has a cached layer that matches: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The command itself (e.g., 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RUN pip install ...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The state of the filesystem the command depends on (e.g., files copied in previous 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COPY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If both match, Docker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skips executing the command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and reuses the layer.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If anything changes (e.g., 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requirements.txt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changes), that layer and all layers after it are rebuilt.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3. Practical consequences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Order matters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: Put layers that change least at the top. For example, copy 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requirements.txt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and install dependencies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before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copying your app source code, so changes in your app don’t force reinstalling dependencies.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4. Layer size and efficiency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Each layer adds size to the image.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To reduce image size: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Combine multiple commands in a single 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RUN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using 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&amp;&amp;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Remove unnecessary files after installation.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Example: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RUN apt-get update &amp;&amp; \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 apt-get install -y build-essential &amp;&amp; \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     rm -rf /var/lib/apt/lists/*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2640" cy="3425400"/>
          </a:xfrm>
          <a:prstGeom prst="rect">
            <a:avLst/>
          </a:prstGeom>
          <a:ln w="0">
            <a:noFill/>
          </a:ln>
        </p:spPr>
      </p:sp>
      <p:sp>
        <p:nvSpPr>
          <p:cNvPr id="31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2800" cy="4111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1.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What a layer is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Every instruction in a 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Dockerfile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creates a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layer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. Layers are essentially snapshots of the filesystem after that instruction runs. Layers are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immutable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, which means once a layer is created, it doesn’t change — Docker just adds new layers on top.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2. How caching works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Docker tries to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reuse layers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from previous builds to save time. For each instruction: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Docker checks if it has a cached layer that matches: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The command itself (e.g., 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RUN pip install ...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The state of the filesystem the command depends on (e.g., files copied in previous 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COPY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If both match, Docker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skips executing the command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and reuses the layer.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If anything changes (e.g., 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requirements.txt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changes), that layer and all layers after it are rebuilt.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3. Practical consequences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Order matters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: Put layers that change least at the top. For example, copy 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requirements.txt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and install dependencies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before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copying your app source code, so changes in your app don’t force reinstalling dependencies.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4. Layer size and efficiency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Each layer adds size to the image.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To reduce image size: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Combine multiple commands in a single 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RUN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using 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&amp;&amp;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Remove unnecessary files after installation.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Example: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RUN apt-get update &amp;&amp; \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 apt-get install -y build-essential &amp;&amp; \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     rm -rf /var/lib/apt/lists/*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2640" cy="342540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2800" cy="4111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217800" indent="-217800" algn="l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Docker network пригодится в тех случаях, когда хочется, чтобы контейнеры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общались друг с другом не напрямую через IP-адреса, а по "именам" и в изолированной среде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🚢.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7800" indent="-217800" algn="l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By default, a container exposes its port only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inside the Docker network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. The only reason it’s available to your host / internet is because you explicitly mapped it with 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-p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7800" indent="-217800" algn="l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👉 Notice there’s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no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-p 8080:8080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.</a:t>
            </a:r>
            <a:br>
              <a:rPr sz="1100"/>
            </a:b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Now: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680" indent="-184680" algn="l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backend:8080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is reachable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only from containers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in 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orders-net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7800" indent="-217800" algn="l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It is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not accessible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from your host (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localhost:8080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won’t work anymore).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7800" indent="-217800" algn="l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The frontend is accessible at 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http://localhost:3000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7800" indent="-217800" algn="l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When it makes requests to 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http://backend:8080/orders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, it works because both containers are in the same 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orders-net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7800" indent="-217800" algn="l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From outside (your host or the internet), the backend is invisible.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7800" indent="-217800" algn="l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✅ This setup makes your backend a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private service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and frontend the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only public entrypoint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.</a:t>
            </a:r>
            <a:br>
              <a:rPr sz="1100"/>
            </a:b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It’s very similar to how production apps run (frontend or reverse proxy is public, backend is internal-only)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7800" indent="-217800" algn="l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Docker’s embedded DNS lets you use </a:t>
            </a: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container names</a:t>
            </a: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instead of IPs.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7800" indent="-217800" algn="l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If you want to make a container accessible to other containers, it isn't necessary to publish the container's ports. You can enable inter-container communication by connecting the containers to the same network, usually a 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29;p5"/>
          <p:cNvCxnSpPr/>
          <p:nvPr/>
        </p:nvCxnSpPr>
        <p:spPr>
          <a:xfrm>
            <a:off x="2477520" y="415440"/>
            <a:ext cx="6247800" cy="3600"/>
          </a:xfrm>
          <a:prstGeom prst="straightConnector1">
            <a:avLst/>
          </a:prstGeom>
          <a:ln w="38100">
            <a:solidFill>
              <a:srgbClr val="000000"/>
            </a:solidFill>
            <a:round/>
          </a:ln>
        </p:spPr>
      </p:cxnSp>
      <p:cxnSp>
        <p:nvCxnSpPr>
          <p:cNvPr id="3" name="Google Shape;30;p5"/>
          <p:cNvCxnSpPr/>
          <p:nvPr/>
        </p:nvCxnSpPr>
        <p:spPr>
          <a:xfrm>
            <a:off x="2477520" y="4739760"/>
            <a:ext cx="6247800" cy="3600"/>
          </a:xfrm>
          <a:prstGeom prst="straightConnector1">
            <a:avLst/>
          </a:prstGeom>
          <a:ln w="19050">
            <a:solidFill>
              <a:srgbClr val="000000"/>
            </a:solidFill>
            <a:round/>
          </a:ln>
        </p:spPr>
      </p:cxnSp>
      <p:cxnSp>
        <p:nvCxnSpPr>
          <p:cNvPr id="4" name="Google Shape;31;p5"/>
          <p:cNvCxnSpPr/>
          <p:nvPr/>
        </p:nvCxnSpPr>
        <p:spPr>
          <a:xfrm>
            <a:off x="425160" y="415440"/>
            <a:ext cx="186840" cy="3600"/>
          </a:xfrm>
          <a:prstGeom prst="straightConnector1">
            <a:avLst/>
          </a:prstGeom>
          <a:ln w="19050">
            <a:solidFill>
              <a:srgbClr val="000000"/>
            </a:solidFill>
            <a:round/>
          </a:ln>
        </p:spPr>
      </p:cxn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18000" cy="631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3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2400480" y="1602720"/>
            <a:ext cx="3067920" cy="2998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5650560" y="1602720"/>
            <a:ext cx="3067920" cy="2998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sldNum" idx="1"/>
          </p:nvPr>
        </p:nvSpPr>
        <p:spPr>
          <a:xfrm>
            <a:off x="8498160" y="468864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03480" y="411480"/>
            <a:ext cx="8516880" cy="636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3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2"/>
          </p:nvPr>
        </p:nvSpPr>
        <p:spPr>
          <a:xfrm>
            <a:off x="8498160" y="468864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oogle Shape;40;p7"/>
          <p:cNvCxnSpPr/>
          <p:nvPr/>
        </p:nvCxnSpPr>
        <p:spPr>
          <a:xfrm>
            <a:off x="425160" y="415440"/>
            <a:ext cx="186840" cy="3600"/>
          </a:xfrm>
          <a:prstGeom prst="straightConnector1">
            <a:avLst/>
          </a:prstGeom>
          <a:ln w="19050">
            <a:solidFill>
              <a:srgbClr val="000000"/>
            </a:solidFill>
            <a:round/>
          </a:ln>
        </p:spPr>
      </p:cxn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19680" y="936720"/>
            <a:ext cx="2804400" cy="75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319680" y="1846800"/>
            <a:ext cx="2804400" cy="2802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sldNum" idx="3"/>
          </p:nvPr>
        </p:nvSpPr>
        <p:spPr>
          <a:xfrm>
            <a:off x="8498160" y="468864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rgbClr val="353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45;p8"/>
          <p:cNvCxnSpPr/>
          <p:nvPr/>
        </p:nvCxnSpPr>
        <p:spPr>
          <a:xfrm>
            <a:off x="425160" y="415440"/>
            <a:ext cx="186840" cy="3600"/>
          </a:xfrm>
          <a:prstGeom prst="straightConnector1">
            <a:avLst/>
          </a:prstGeom>
          <a:ln w="19050">
            <a:solidFill>
              <a:srgbClr val="FFFFFF"/>
            </a:solidFill>
            <a:round/>
          </a:ln>
        </p:spPr>
      </p:cxn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282960" y="712080"/>
            <a:ext cx="6240600" cy="3831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</a:t>
            </a:r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ck </a:t>
            </a:r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</a:t>
            </a:r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</a:t>
            </a:r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 </a:t>
            </a:r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</a:t>
            </a:r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titl</a:t>
            </a:r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</a:t>
            </a:r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xt </a:t>
            </a:r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</a:t>
            </a:r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at</a:t>
            </a:r>
            <a:endParaRPr lang="ru-RU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ldNum" idx="4"/>
          </p:nvPr>
        </p:nvSpPr>
        <p:spPr>
          <a:xfrm>
            <a:off x="8498160" y="468864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000" cy="29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49;p9"/>
          <p:cNvSpPr/>
          <p:nvPr/>
        </p:nvSpPr>
        <p:spPr>
          <a:xfrm>
            <a:off x="4572000" y="0"/>
            <a:ext cx="4568400" cy="514008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" name="Google Shape;50;p9"/>
          <p:cNvCxnSpPr/>
          <p:nvPr/>
        </p:nvCxnSpPr>
        <p:spPr>
          <a:xfrm>
            <a:off x="5029560" y="4495320"/>
            <a:ext cx="471960" cy="3600"/>
          </a:xfrm>
          <a:prstGeom prst="straightConnector1">
            <a:avLst/>
          </a:prstGeom>
          <a:ln w="19050">
            <a:solidFill>
              <a:srgbClr val="FFFFFF"/>
            </a:solidFill>
            <a:round/>
          </a:ln>
        </p:spPr>
      </p:cxn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265680" y="1397520"/>
            <a:ext cx="4041720" cy="1314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ru-RU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939560" y="724320"/>
            <a:ext cx="3833280" cy="3691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sldNum" idx="5"/>
          </p:nvPr>
        </p:nvSpPr>
        <p:spPr>
          <a:xfrm>
            <a:off x="8498160" y="468864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Google Shape;56;p10"/>
          <p:cNvCxnSpPr/>
          <p:nvPr/>
        </p:nvCxnSpPr>
        <p:spPr>
          <a:xfrm>
            <a:off x="425160" y="4739760"/>
            <a:ext cx="8300160" cy="3600"/>
          </a:xfrm>
          <a:prstGeom prst="straightConnector1">
            <a:avLst/>
          </a:prstGeom>
          <a:ln w="19050">
            <a:solidFill>
              <a:srgbClr val="000000"/>
            </a:solidFill>
            <a:round/>
          </a:ln>
        </p:spPr>
      </p:cxnSp>
      <p:cxnSp>
        <p:nvCxnSpPr>
          <p:cNvPr id="25" name="Google Shape;57;p10"/>
          <p:cNvCxnSpPr/>
          <p:nvPr/>
        </p:nvCxnSpPr>
        <p:spPr>
          <a:xfrm>
            <a:off x="425160" y="415440"/>
            <a:ext cx="186840" cy="3600"/>
          </a:xfrm>
          <a:prstGeom prst="straightConnector1">
            <a:avLst/>
          </a:prstGeom>
          <a:ln w="19050">
            <a:solidFill>
              <a:srgbClr val="000000"/>
            </a:solidFill>
            <a:round/>
          </a:ln>
        </p:spPr>
      </p:cxnSp>
      <p:sp>
        <p:nvSpPr>
          <p:cNvPr id="26" name="PlaceHolder 1"/>
          <p:cNvSpPr>
            <a:spLocks noGrp="1"/>
          </p:cNvSpPr>
          <p:nvPr>
            <p:ph type="body"/>
          </p:nvPr>
        </p:nvSpPr>
        <p:spPr>
          <a:xfrm>
            <a:off x="327960" y="4226040"/>
            <a:ext cx="8385120" cy="389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ldNum" idx="6"/>
          </p:nvPr>
        </p:nvSpPr>
        <p:spPr>
          <a:xfrm>
            <a:off x="8498160" y="468864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10;p2"/>
          <p:cNvCxnSpPr/>
          <p:nvPr/>
        </p:nvCxnSpPr>
        <p:spPr>
          <a:xfrm>
            <a:off x="2477520" y="415440"/>
            <a:ext cx="6247800" cy="3600"/>
          </a:xfrm>
          <a:prstGeom prst="straightConnector1">
            <a:avLst/>
          </a:prstGeom>
          <a:ln w="38100">
            <a:solidFill>
              <a:srgbClr val="FFFFFF"/>
            </a:solidFill>
            <a:round/>
          </a:ln>
        </p:spPr>
      </p:cxnSp>
      <p:cxnSp>
        <p:nvCxnSpPr>
          <p:cNvPr id="29" name="Google Shape;11;p2"/>
          <p:cNvCxnSpPr/>
          <p:nvPr/>
        </p:nvCxnSpPr>
        <p:spPr>
          <a:xfrm>
            <a:off x="2477520" y="4739760"/>
            <a:ext cx="6247800" cy="3600"/>
          </a:xfrm>
          <a:prstGeom prst="straightConnector1">
            <a:avLst/>
          </a:prstGeom>
          <a:ln w="19050">
            <a:solidFill>
              <a:srgbClr val="FFFFFF"/>
            </a:solidFill>
            <a:round/>
          </a:ln>
        </p:spPr>
      </p:cxnSp>
      <p:cxnSp>
        <p:nvCxnSpPr>
          <p:cNvPr id="30" name="Google Shape;12;p2"/>
          <p:cNvCxnSpPr/>
          <p:nvPr/>
        </p:nvCxnSpPr>
        <p:spPr>
          <a:xfrm>
            <a:off x="425160" y="415440"/>
            <a:ext cx="186840" cy="3600"/>
          </a:xfrm>
          <a:prstGeom prst="straightConnector1">
            <a:avLst/>
          </a:prstGeom>
          <a:ln w="19050">
            <a:solidFill>
              <a:srgbClr val="FFFFFF"/>
            </a:solidFill>
            <a:round/>
          </a:ln>
        </p:spPr>
      </p:cxn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2371680" y="630360"/>
            <a:ext cx="6328080" cy="1538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endParaRPr lang="ru-RU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7"/>
          </p:nvPr>
        </p:nvSpPr>
        <p:spPr>
          <a:xfrm>
            <a:off x="8498160" y="468864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000" cy="29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61;p11"/>
          <p:cNvCxnSpPr/>
          <p:nvPr/>
        </p:nvCxnSpPr>
        <p:spPr>
          <a:xfrm>
            <a:off x="425160" y="4739760"/>
            <a:ext cx="8300160" cy="3600"/>
          </a:xfrm>
          <a:prstGeom prst="straightConnector1">
            <a:avLst/>
          </a:prstGeom>
          <a:ln w="19050">
            <a:solidFill>
              <a:srgbClr val="000000"/>
            </a:solidFill>
            <a:round/>
          </a:ln>
        </p:spPr>
      </p:cxnSp>
      <p:cxnSp>
        <p:nvCxnSpPr>
          <p:cNvPr id="35" name="Google Shape;62;p11"/>
          <p:cNvCxnSpPr/>
          <p:nvPr/>
        </p:nvCxnSpPr>
        <p:spPr>
          <a:xfrm>
            <a:off x="425160" y="415440"/>
            <a:ext cx="8300160" cy="3600"/>
          </a:xfrm>
          <a:prstGeom prst="straightConnector1">
            <a:avLst/>
          </a:prstGeom>
          <a:ln w="38100">
            <a:solidFill>
              <a:srgbClr val="000000"/>
            </a:solidFill>
            <a:round/>
          </a:ln>
        </p:spPr>
      </p:cxn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53920" y="1305000"/>
            <a:ext cx="7432560" cy="1534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9600" b="1" u="none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9600" b="1" u="none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xx%</a:t>
            </a:r>
            <a:endParaRPr lang="ru-RU" sz="9600" b="1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853920" y="2919600"/>
            <a:ext cx="7432560" cy="1068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sldNum" idx="8"/>
          </p:nvPr>
        </p:nvSpPr>
        <p:spPr>
          <a:xfrm>
            <a:off x="8498160" y="468864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sldNum" idx="9"/>
          </p:nvPr>
        </p:nvSpPr>
        <p:spPr>
          <a:xfrm>
            <a:off x="8498160" y="468864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000" cy="29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sldNum" idx="10"/>
          </p:nvPr>
        </p:nvSpPr>
        <p:spPr>
          <a:xfrm>
            <a:off x="8498160" y="468864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000" cy="29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17;p3"/>
          <p:cNvCxnSpPr/>
          <p:nvPr/>
        </p:nvCxnSpPr>
        <p:spPr>
          <a:xfrm>
            <a:off x="425160" y="415440"/>
            <a:ext cx="8300160" cy="3600"/>
          </a:xfrm>
          <a:prstGeom prst="straightConnector1">
            <a:avLst/>
          </a:prstGeom>
          <a:ln w="38100">
            <a:solidFill>
              <a:srgbClr val="FFFFFF"/>
            </a:solidFill>
            <a:round/>
          </a:ln>
        </p:spPr>
      </p:cxnSp>
      <p:cxnSp>
        <p:nvCxnSpPr>
          <p:cNvPr id="46" name="Google Shape;18;p3"/>
          <p:cNvCxnSpPr/>
          <p:nvPr/>
        </p:nvCxnSpPr>
        <p:spPr>
          <a:xfrm>
            <a:off x="425160" y="4739760"/>
            <a:ext cx="8300160" cy="3600"/>
          </a:xfrm>
          <a:prstGeom prst="straightConnector1">
            <a:avLst/>
          </a:prstGeom>
          <a:ln w="19050">
            <a:solidFill>
              <a:srgbClr val="FFFFFF"/>
            </a:solidFill>
            <a:round/>
          </a:ln>
        </p:spPr>
      </p:cxn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06440" y="1806840"/>
            <a:ext cx="8293320" cy="1538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ru-RU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11"/>
          </p:nvPr>
        </p:nvSpPr>
        <p:spPr>
          <a:xfrm>
            <a:off x="8498160" y="468864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Google Shape;22;p4"/>
          <p:cNvCxnSpPr/>
          <p:nvPr/>
        </p:nvCxnSpPr>
        <p:spPr>
          <a:xfrm>
            <a:off x="2477520" y="415440"/>
            <a:ext cx="6247800" cy="3600"/>
          </a:xfrm>
          <a:prstGeom prst="straightConnector1">
            <a:avLst/>
          </a:prstGeom>
          <a:ln w="38100">
            <a:solidFill>
              <a:srgbClr val="000000"/>
            </a:solidFill>
            <a:round/>
          </a:ln>
        </p:spPr>
      </p:cxnSp>
      <p:cxnSp>
        <p:nvCxnSpPr>
          <p:cNvPr id="50" name="Google Shape;23;p4"/>
          <p:cNvCxnSpPr/>
          <p:nvPr/>
        </p:nvCxnSpPr>
        <p:spPr>
          <a:xfrm>
            <a:off x="2477520" y="4739760"/>
            <a:ext cx="6247800" cy="3600"/>
          </a:xfrm>
          <a:prstGeom prst="straightConnector1">
            <a:avLst/>
          </a:prstGeom>
          <a:ln w="19050">
            <a:solidFill>
              <a:srgbClr val="000000"/>
            </a:solidFill>
            <a:round/>
          </a:ln>
        </p:spPr>
      </p:cxnSp>
      <p:cxnSp>
        <p:nvCxnSpPr>
          <p:cNvPr id="51" name="Google Shape;24;p4"/>
          <p:cNvCxnSpPr/>
          <p:nvPr/>
        </p:nvCxnSpPr>
        <p:spPr>
          <a:xfrm>
            <a:off x="425160" y="415440"/>
            <a:ext cx="186840" cy="3600"/>
          </a:xfrm>
          <a:prstGeom prst="straightConnector1">
            <a:avLst/>
          </a:prstGeom>
          <a:ln w="19050">
            <a:solidFill>
              <a:srgbClr val="000000"/>
            </a:solidFill>
            <a:round/>
          </a:ln>
        </p:spPr>
      </p:cxn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18000" cy="631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3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2410200" y="1595880"/>
            <a:ext cx="6318000" cy="2998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sldNum" idx="12"/>
          </p:nvPr>
        </p:nvSpPr>
        <p:spPr>
          <a:xfrm>
            <a:off x="8498160" y="468864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hyperlink" Target="https://hub.docker.com/u/library" TargetMode="Externa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0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0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0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0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3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3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3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3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0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0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0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0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70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2371680" y="630360"/>
            <a:ext cx="6328080" cy="1538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4800" b="1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Docker</a:t>
            </a:r>
            <a:endParaRPr lang="ru-RU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subTitle"/>
          </p:nvPr>
        </p:nvSpPr>
        <p:spPr>
          <a:xfrm>
            <a:off x="2390400" y="3238560"/>
            <a:ext cx="6328080" cy="1238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2000" b="0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Контейнеры – наше всё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35680" y="712080"/>
            <a:ext cx="6702480" cy="764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spcAft>
                <a:spcPts val="1599"/>
              </a:spcAft>
              <a:buNone/>
              <a:tabLst>
                <a:tab pos="0" algn="l"/>
              </a:tabLst>
            </a:pPr>
            <a:r>
              <a:rPr lang="ru" sz="3600" b="1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Цели лабораторной</a:t>
            </a:r>
            <a:endParaRPr lang="ru-RU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title"/>
          </p:nvPr>
        </p:nvSpPr>
        <p:spPr>
          <a:xfrm>
            <a:off x="535680" y="1480320"/>
            <a:ext cx="7976880" cy="3063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2200" b="0" u="none" strike="noStrik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1. Изучить основные понятия, набор и предназначение файлов Docker.</a:t>
            </a:r>
            <a:br>
              <a:rPr sz="2200"/>
            </a:b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2200" b="0" u="none" strike="noStrik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2. Научиться собирать, конфигурировать и управлять docker-образами и docker-контейнерами.</a:t>
            </a:r>
            <a:br>
              <a:rPr sz="2200"/>
            </a:b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4000"/>
              </a:lnSpc>
              <a:buNone/>
              <a:tabLst>
                <a:tab pos="0" algn="l"/>
              </a:tabLst>
            </a:pPr>
            <a:r>
              <a:rPr lang="ru" sz="2200" b="0" u="none" strike="noStrik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3. Научиться настраивать взаимодействие docker-контейнеров между собой и с внешней средой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282960" y="202320"/>
            <a:ext cx="8616960" cy="1016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4800" b="1" u="none" strike="noStrike">
                <a:solidFill>
                  <a:srgbClr val="37474F"/>
                </a:solidFill>
                <a:effectLst/>
                <a:highlight>
                  <a:srgbClr val="FFFFFF"/>
                </a:highlight>
                <a:uFillTx/>
                <a:latin typeface="Raleway"/>
                <a:ea typeface="Raleway"/>
              </a:rPr>
              <a:t>План</a:t>
            </a:r>
            <a:endParaRPr lang="ru-RU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Google Shape;85;p15"/>
          <p:cNvSpPr/>
          <p:nvPr/>
        </p:nvSpPr>
        <p:spPr>
          <a:xfrm>
            <a:off x="3223440" y="1536480"/>
            <a:ext cx="1873440" cy="15602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accent5">
              <a:lumMod val="7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Google Shape;89;p15"/>
          <p:cNvSpPr/>
          <p:nvPr/>
        </p:nvSpPr>
        <p:spPr>
          <a:xfrm>
            <a:off x="3261600" y="1601640"/>
            <a:ext cx="1797120" cy="14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4500" b="0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2</a:t>
            </a:r>
            <a:endParaRPr lang="en-US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ru-MO" sz="1900" b="1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Управление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Google Shape;85;p15"/>
          <p:cNvSpPr/>
          <p:nvPr/>
        </p:nvSpPr>
        <p:spPr>
          <a:xfrm>
            <a:off x="4638600" y="3213000"/>
            <a:ext cx="1873440" cy="15602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tx2">
              <a:lumMod val="7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Google Shape;89;p15"/>
          <p:cNvSpPr/>
          <p:nvPr/>
        </p:nvSpPr>
        <p:spPr>
          <a:xfrm>
            <a:off x="4676760" y="3278160"/>
            <a:ext cx="1797120" cy="14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4500" b="0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3</a:t>
            </a:r>
            <a:endParaRPr lang="en-US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6"/>
              </a:spcBef>
              <a:tabLst>
                <a:tab pos="0" algn="l"/>
              </a:tabLst>
            </a:pPr>
            <a:r>
              <a:rPr lang="ru-MO" sz="1600" b="1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Монтирование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6"/>
              </a:spcBef>
              <a:spcAft>
                <a:spcPts val="1196"/>
              </a:spcAft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Google Shape;85;p15"/>
          <p:cNvSpPr/>
          <p:nvPr/>
        </p:nvSpPr>
        <p:spPr>
          <a:xfrm>
            <a:off x="6515640" y="1536480"/>
            <a:ext cx="1873440" cy="15602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accent1">
              <a:lumMod val="60000"/>
              <a:lumOff val="4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Google Shape;89;p15"/>
          <p:cNvSpPr/>
          <p:nvPr/>
        </p:nvSpPr>
        <p:spPr>
          <a:xfrm>
            <a:off x="6553800" y="1601640"/>
            <a:ext cx="1797120" cy="14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4500" b="0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4</a:t>
            </a:r>
            <a:endParaRPr lang="en-US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6"/>
              </a:spcBef>
              <a:tabLst>
                <a:tab pos="0" algn="l"/>
              </a:tabLst>
            </a:pPr>
            <a:r>
              <a:rPr lang="ru-MO" sz="1900" b="1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Сети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6"/>
              </a:spcBef>
              <a:spcAft>
                <a:spcPts val="1196"/>
              </a:spcAft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Google Shape;85;p15"/>
          <p:cNvSpPr/>
          <p:nvPr/>
        </p:nvSpPr>
        <p:spPr>
          <a:xfrm>
            <a:off x="1155960" y="3278160"/>
            <a:ext cx="1873440" cy="15602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rgbClr val="0020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Google Shape;89;p15"/>
          <p:cNvSpPr/>
          <p:nvPr/>
        </p:nvSpPr>
        <p:spPr>
          <a:xfrm>
            <a:off x="1193760" y="3343320"/>
            <a:ext cx="1797120" cy="14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4500" b="0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1</a:t>
            </a:r>
            <a:endParaRPr lang="en-US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6"/>
              </a:spcBef>
              <a:spcAft>
                <a:spcPts val="1196"/>
              </a:spcAft>
              <a:tabLst>
                <a:tab pos="0" algn="l"/>
              </a:tabLst>
            </a:pPr>
            <a:r>
              <a:rPr lang="ru-RU" sz="2000" b="1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Сборка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282960" y="202320"/>
            <a:ext cx="8616960" cy="1016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4800" b="1" u="none" strike="noStrike">
                <a:solidFill>
                  <a:srgbClr val="37474F"/>
                </a:solidFill>
                <a:effectLst/>
                <a:uFillTx/>
                <a:latin typeface="Raleway"/>
                <a:ea typeface="Raleway"/>
              </a:rPr>
              <a:t>Как и что будем делать</a:t>
            </a:r>
            <a:endParaRPr lang="ru-RU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" name=""/>
          <p:cNvPicPr/>
          <p:nvPr/>
        </p:nvPicPr>
        <p:blipFill>
          <a:blip r:embed="rId1"/>
          <a:stretch/>
        </p:blipFill>
        <p:spPr>
          <a:xfrm>
            <a:off x="883080" y="1095480"/>
            <a:ext cx="7591320" cy="397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282960" y="202320"/>
            <a:ext cx="8616960" cy="1016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4800" b="1" u="none" strike="noStrike">
                <a:solidFill>
                  <a:srgbClr val="37474F"/>
                </a:solidFill>
                <a:effectLst/>
                <a:uFillTx/>
                <a:latin typeface="Raleway"/>
                <a:ea typeface="Raleway"/>
              </a:rPr>
              <a:t>Как и что будем делать</a:t>
            </a:r>
            <a:endParaRPr lang="ru-RU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-16560" y="12600"/>
            <a:ext cx="9198000" cy="513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282960" y="712080"/>
            <a:ext cx="8228880" cy="77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</a:pPr>
            <a:r>
              <a:rPr lang="ru" sz="4200" b="1" u="none" strike="noStrike">
                <a:solidFill>
                  <a:schemeClr val="accent5"/>
                </a:solidFill>
                <a:effectLst/>
                <a:uFillTx/>
                <a:latin typeface="Raleway"/>
                <a:ea typeface="Raleway"/>
              </a:rPr>
              <a:t>Цели лабораторной</a:t>
            </a:r>
            <a:endParaRPr lang="ru-RU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Google Shape;105;p 2"/>
          <p:cNvSpPr/>
          <p:nvPr/>
        </p:nvSpPr>
        <p:spPr>
          <a:xfrm>
            <a:off x="282960" y="2941560"/>
            <a:ext cx="8084880" cy="13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 marL="457200" indent="-349200">
              <a:lnSpc>
                <a:spcPct val="100000"/>
              </a:lnSpc>
              <a:buClr>
                <a:srgbClr val="FFFFFF"/>
              </a:buClr>
              <a:buFont typeface="Raleway"/>
              <a:buAutoNum type="arabicParenR"/>
            </a:pPr>
            <a:r>
              <a:rPr lang="ru" sz="1900" b="0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Говорить на одном языке с DevOps и разработчиками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9200">
              <a:lnSpc>
                <a:spcPct val="100000"/>
              </a:lnSpc>
              <a:buClr>
                <a:srgbClr val="FFFFFF"/>
              </a:buClr>
              <a:buFont typeface="Raleway"/>
              <a:buAutoNum type="arabicParenR"/>
            </a:pPr>
            <a:r>
              <a:rPr lang="ru" sz="1900" b="0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Формировать реалистичные требования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9200">
              <a:lnSpc>
                <a:spcPct val="100000"/>
              </a:lnSpc>
              <a:buClr>
                <a:srgbClr val="FFFFFF"/>
              </a:buClr>
              <a:buFont typeface="Raleway"/>
              <a:buAutoNum type="arabicParenR"/>
            </a:pPr>
            <a:r>
              <a:rPr lang="ru" sz="1900" b="0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Понимать архитектуру и среду приложения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9200">
              <a:lnSpc>
                <a:spcPct val="100000"/>
              </a:lnSpc>
              <a:buClr>
                <a:srgbClr val="FFFFFF"/>
              </a:buClr>
              <a:buFont typeface="Raleway"/>
              <a:buAutoNum type="arabicParenR"/>
            </a:pPr>
            <a:r>
              <a:rPr lang="ru" sz="1900" b="0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Работать с тестовыми и демонстрационными окружениями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Google Shape;106;p 2"/>
          <p:cNvSpPr/>
          <p:nvPr/>
        </p:nvSpPr>
        <p:spPr>
          <a:xfrm>
            <a:off x="282960" y="1367640"/>
            <a:ext cx="84308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ru" sz="4200" b="1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Зачем docker системному аналитику?</a:t>
            </a:r>
            <a:endParaRPr lang="en-U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Google Shape;107;p 2"/>
          <p:cNvSpPr/>
          <p:nvPr/>
        </p:nvSpPr>
        <p:spPr>
          <a:xfrm>
            <a:off x="8188200" y="147600"/>
            <a:ext cx="836640" cy="7034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200" tIns="34200" rIns="34200" bIns="3420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title"/>
          </p:nvPr>
        </p:nvSpPr>
        <p:spPr>
          <a:xfrm>
            <a:off x="8216280" y="174600"/>
            <a:ext cx="769680" cy="637560"/>
          </a:xfrm>
          <a:prstGeom prst="rect">
            <a:avLst/>
          </a:prstGeom>
          <a:noFill/>
          <a:ln w="0">
            <a:noFill/>
          </a:ln>
        </p:spPr>
        <p:txBody>
          <a:bodyPr lIns="34200" tIns="34200" rIns="34200" bIns="342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1870" b="0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1</a:t>
            </a:r>
            <a:endParaRPr lang="ru-RU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448"/>
              </a:spcBef>
              <a:buNone/>
              <a:tabLst>
                <a:tab pos="0" algn="l"/>
              </a:tabLst>
            </a:pPr>
            <a:r>
              <a:rPr lang="ru" sz="910" b="1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Основные понятия</a:t>
            </a:r>
            <a:endParaRPr lang="ru-RU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448"/>
              </a:spcBef>
              <a:spcAft>
                <a:spcPts val="448"/>
              </a:spcAft>
              <a:buNone/>
              <a:tabLst>
                <a:tab pos="0" algn="l"/>
              </a:tabLst>
            </a:pPr>
            <a:endParaRPr lang="ru-RU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" dur="indefinite" restart="never" nodeType="tmRoot">
          <p:childTnLst>
            <p:seq>
              <p:cTn id="16" dur="indefinite" nodeType="mainSeq"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"/>
          <p:cNvPicPr/>
          <p:nvPr/>
        </p:nvPicPr>
        <p:blipFill>
          <a:blip r:embed="rId1"/>
          <a:stretch/>
        </p:blipFill>
        <p:spPr>
          <a:xfrm>
            <a:off x="167400" y="685800"/>
            <a:ext cx="8915760" cy="540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Google Shape;159;p23"/>
          <p:cNvSpPr/>
          <p:nvPr/>
        </p:nvSpPr>
        <p:spPr>
          <a:xfrm>
            <a:off x="319680" y="823680"/>
            <a:ext cx="5946840" cy="61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14000"/>
              </a:lnSpc>
              <a:spcAft>
                <a:spcPts val="1599"/>
              </a:spcAft>
              <a:tabLst>
                <a:tab pos="0" algn="l"/>
              </a:tabLst>
            </a:pPr>
            <a:r>
              <a:rPr lang="ru" sz="3000" b="1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Что такое Docker? Контейнеризация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"/>
          <p:cNvPicPr/>
          <p:nvPr/>
        </p:nvPicPr>
        <p:blipFill>
          <a:blip r:embed="rId1"/>
          <a:stretch/>
        </p:blipFill>
        <p:spPr>
          <a:xfrm>
            <a:off x="319680" y="23400"/>
            <a:ext cx="8020800" cy="4881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PlaceHolder 1"/>
          <p:cNvSpPr>
            <a:spLocks noGrp="1"/>
          </p:cNvSpPr>
          <p:nvPr>
            <p:ph/>
          </p:nvPr>
        </p:nvSpPr>
        <p:spPr>
          <a:xfrm>
            <a:off x="319680" y="823680"/>
            <a:ext cx="5946840" cy="618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l">
              <a:lnSpc>
                <a:spcPct val="114000"/>
              </a:lnSpc>
              <a:spcBef>
                <a:spcPts val="1417"/>
              </a:spcBef>
              <a:spcAft>
                <a:spcPts val="1599"/>
              </a:spcAft>
              <a:buNone/>
              <a:tabLst>
                <a:tab pos="0" algn="l"/>
              </a:tabLst>
            </a:pPr>
            <a:r>
              <a:rPr lang="ru" sz="3000" b="1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Образ и контейнер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89;p15"/>
          <p:cNvSpPr/>
          <p:nvPr/>
        </p:nvSpPr>
        <p:spPr>
          <a:xfrm>
            <a:off x="5020200" y="2228760"/>
            <a:ext cx="1358640" cy="10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endParaRPr lang="ru-RU" sz="4800" b="1" u="none" strike="noStrike">
              <a:solidFill>
                <a:schemeClr val="lt1"/>
              </a:solidFill>
              <a:effectLst/>
              <a:uFillTx/>
              <a:latin typeface="Raleway"/>
            </a:endParaRPr>
          </a:p>
        </p:txBody>
      </p:sp>
      <p:sp>
        <p:nvSpPr>
          <p:cNvPr id="88" name=""/>
          <p:cNvSpPr/>
          <p:nvPr/>
        </p:nvSpPr>
        <p:spPr>
          <a:xfrm flipH="1">
            <a:off x="2743200" y="457200"/>
            <a:ext cx="2514600" cy="27432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/>
          </p:nvPr>
        </p:nvSpPr>
        <p:spPr>
          <a:xfrm>
            <a:off x="319680" y="823680"/>
            <a:ext cx="5946840" cy="618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l">
              <a:lnSpc>
                <a:spcPct val="114000"/>
              </a:lnSpc>
              <a:spcBef>
                <a:spcPts val="1417"/>
              </a:spcBef>
              <a:spcAft>
                <a:spcPts val="1599"/>
              </a:spcAft>
              <a:buNone/>
              <a:tabLst>
                <a:tab pos="0" algn="l"/>
              </a:tabLst>
            </a:pPr>
            <a:r>
              <a:rPr lang="ru" sz="3000" b="1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Image name. Название образа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title"/>
          </p:nvPr>
        </p:nvSpPr>
        <p:spPr>
          <a:xfrm>
            <a:off x="8186400" y="189000"/>
            <a:ext cx="789480" cy="637560"/>
          </a:xfrm>
          <a:prstGeom prst="rect">
            <a:avLst/>
          </a:prstGeom>
          <a:noFill/>
          <a:ln w="0">
            <a:noFill/>
          </a:ln>
        </p:spPr>
        <p:txBody>
          <a:bodyPr lIns="29160" tIns="29160" rIns="29160" bIns="2916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1850" b="0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1</a:t>
            </a:r>
            <a:br>
              <a:rPr sz="1850"/>
            </a:br>
            <a:r>
              <a:rPr lang="ru" sz="910" b="1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Оснвные понятия</a:t>
            </a:r>
            <a:endParaRPr lang="ru-RU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Google Shape;89;p15"/>
          <p:cNvSpPr/>
          <p:nvPr/>
        </p:nvSpPr>
        <p:spPr>
          <a:xfrm>
            <a:off x="5020200" y="2228760"/>
            <a:ext cx="1358640" cy="10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endParaRPr lang="ru-RU" sz="4800" b="1" u="none" strike="noStrike">
              <a:solidFill>
                <a:schemeClr val="lt1"/>
              </a:solidFill>
              <a:effectLst/>
              <a:uFillTx/>
              <a:latin typeface="Raleway"/>
            </a:endParaRPr>
          </a:p>
        </p:txBody>
      </p:sp>
      <p:sp>
        <p:nvSpPr>
          <p:cNvPr id="92" name=""/>
          <p:cNvSpPr/>
          <p:nvPr/>
        </p:nvSpPr>
        <p:spPr>
          <a:xfrm>
            <a:off x="871560" y="1952280"/>
            <a:ext cx="7397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HOST</a:t>
            </a:r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/</a:t>
            </a:r>
            <a:r>
              <a:rPr lang="ru-RU" sz="2400" b="1" u="none" strike="noStrike">
                <a:solidFill>
                  <a:schemeClr val="accent1"/>
                </a:solidFill>
                <a:effectLst/>
                <a:uFillTx/>
                <a:latin typeface="Arial"/>
                <a:ea typeface="Arial"/>
              </a:rPr>
              <a:t>PATH</a:t>
            </a:r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</a:t>
            </a:r>
            <a:r>
              <a:rPr lang="ru-RU" sz="2400" b="1" u="none" strike="noStrike"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Arial"/>
                <a:ea typeface="Arial"/>
              </a:rPr>
              <a:t>TAG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871560" y="2895840"/>
            <a:ext cx="74030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docker-lab</a:t>
            </a:r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/</a:t>
            </a:r>
            <a:r>
              <a:rPr lang="ru-RU" sz="2400" b="1" u="none" strike="noStrike">
                <a:solidFill>
                  <a:schemeClr val="accent1"/>
                </a:solidFill>
                <a:effectLst/>
                <a:uFillTx/>
                <a:latin typeface="Arial"/>
                <a:ea typeface="Arial"/>
              </a:rPr>
              <a:t>orders-api</a:t>
            </a:r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</a:t>
            </a:r>
            <a:r>
              <a:rPr lang="ru-RU" sz="2400" b="1" u="none" strike="noStrike"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Arial"/>
                <a:ea typeface="Arial"/>
              </a:rPr>
              <a:t>latest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4" name=""/>
          <p:cNvCxnSpPr>
            <a:stCxn id="92" idx="2"/>
            <a:endCxn id="93" idx="0"/>
          </p:cNvCxnSpPr>
          <p:nvPr/>
        </p:nvCxnSpPr>
        <p:spPr>
          <a:xfrm>
            <a:off x="4570560" y="2407680"/>
            <a:ext cx="2880" cy="488520"/>
          </a:xfrm>
          <a:prstGeom prst="straightConnector1">
            <a:avLst/>
          </a:prstGeom>
          <a:ln w="38099">
            <a:solidFill>
              <a:srgbClr val="000000"/>
            </a:solidFill>
            <a:round/>
            <a:tailEnd len="med" type="arrow" w="med"/>
          </a:ln>
        </p:spPr>
      </p:cxnSp>
      <p:sp>
        <p:nvSpPr>
          <p:cNvPr id="95" name=""/>
          <p:cNvSpPr/>
          <p:nvPr/>
        </p:nvSpPr>
        <p:spPr>
          <a:xfrm>
            <a:off x="868320" y="3324600"/>
            <a:ext cx="7406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docker-lab</a:t>
            </a:r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/</a:t>
            </a:r>
            <a:r>
              <a:rPr lang="ru-RU" sz="2400" b="1" u="none" strike="noStrike">
                <a:solidFill>
                  <a:schemeClr val="accent1"/>
                </a:solidFill>
                <a:effectLst/>
                <a:uFillTx/>
                <a:latin typeface="Arial"/>
                <a:ea typeface="Arial"/>
              </a:rPr>
              <a:t>orders-api</a:t>
            </a:r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</a:t>
            </a:r>
            <a:r>
              <a:rPr lang="ru-RU" sz="2400" b="1" u="none" strike="noStrike"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Arial"/>
                <a:ea typeface="Arial"/>
              </a:rPr>
              <a:t>stage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859320" y="3715200"/>
            <a:ext cx="74052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docker-lab</a:t>
            </a:r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/</a:t>
            </a:r>
            <a:r>
              <a:rPr lang="ru-RU" sz="2400" b="1" u="none" strike="noStrike">
                <a:solidFill>
                  <a:schemeClr val="accent1"/>
                </a:solidFill>
                <a:effectLst/>
                <a:uFillTx/>
                <a:latin typeface="Arial"/>
                <a:ea typeface="Arial"/>
              </a:rPr>
              <a:t>orders-api</a:t>
            </a:r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</a:t>
            </a:r>
            <a:r>
              <a:rPr lang="ru-RU" sz="2400" b="1" u="none" strike="noStrike"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Arial"/>
                <a:ea typeface="Arial"/>
              </a:rPr>
              <a:t>2.0.1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282960" y="712080"/>
            <a:ext cx="8228880" cy="77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</a:pPr>
            <a:r>
              <a:rPr lang="ru" sz="4200" b="1" u="none" strike="noStrike">
                <a:solidFill>
                  <a:schemeClr val="accent5"/>
                </a:solidFill>
                <a:effectLst/>
                <a:uFillTx/>
                <a:latin typeface="Raleway"/>
                <a:ea typeface="Raleway"/>
              </a:rPr>
              <a:t>Цель этапа</a:t>
            </a:r>
            <a:endParaRPr lang="ru-RU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105;p 1"/>
          <p:cNvSpPr/>
          <p:nvPr/>
        </p:nvSpPr>
        <p:spPr>
          <a:xfrm>
            <a:off x="282960" y="2941560"/>
            <a:ext cx="8084880" cy="13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 marL="457200" indent="-349200">
              <a:lnSpc>
                <a:spcPct val="100000"/>
              </a:lnSpc>
              <a:buClr>
                <a:srgbClr val="FFFFFF"/>
              </a:buClr>
              <a:buFont typeface="Raleway"/>
              <a:buChar char="●"/>
            </a:pPr>
            <a:r>
              <a:rPr lang="ru" sz="1900" b="0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Понять как выглядит подготовка контейнера с точки зрения разработчика. (Найти общий язык с разработчиком) 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9200">
              <a:lnSpc>
                <a:spcPct val="100000"/>
              </a:lnSpc>
              <a:buClr>
                <a:srgbClr val="FFFFFF"/>
              </a:buClr>
              <a:buFont typeface="Raleway"/>
              <a:buChar char="●"/>
            </a:pPr>
            <a:r>
              <a:rPr lang="ru" sz="1900" b="0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Дать представление о том, как можно поменять docker-образ, при необходимости.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Google Shape;106;p 1"/>
          <p:cNvSpPr/>
          <p:nvPr/>
        </p:nvSpPr>
        <p:spPr>
          <a:xfrm>
            <a:off x="282960" y="1367640"/>
            <a:ext cx="8430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ru" sz="4200" b="1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Сборка</a:t>
            </a:r>
            <a:endParaRPr lang="en-U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161;p 1"/>
          <p:cNvSpPr/>
          <p:nvPr/>
        </p:nvSpPr>
        <p:spPr>
          <a:xfrm>
            <a:off x="8162280" y="162000"/>
            <a:ext cx="836640" cy="7034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rgbClr val="0020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tIns="29160" rIns="29160" bIns="2916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Google Shape;162;p 1"/>
          <p:cNvSpPr/>
          <p:nvPr/>
        </p:nvSpPr>
        <p:spPr>
          <a:xfrm>
            <a:off x="8186760" y="189360"/>
            <a:ext cx="789480" cy="6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tIns="29160" rIns="29160" bIns="2916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850" b="0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2</a:t>
            </a:r>
            <a:endParaRPr lang="en-US" sz="1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80"/>
              </a:spcBef>
              <a:spcAft>
                <a:spcPts val="380"/>
              </a:spcAft>
              <a:tabLst>
                <a:tab pos="0" algn="l"/>
              </a:tabLst>
            </a:pPr>
            <a:r>
              <a:rPr lang="ru" sz="800" b="1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Dockerfile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9" dur="indefinite" restart="never" nodeType="tmRoot">
          <p:childTnLst>
            <p:seq>
              <p:cTn id="30" dur="indefinite" nodeType="mainSeq"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/>
          </p:nvPr>
        </p:nvSpPr>
        <p:spPr>
          <a:xfrm>
            <a:off x="319680" y="823680"/>
            <a:ext cx="5946840" cy="618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l">
              <a:lnSpc>
                <a:spcPct val="114000"/>
              </a:lnSpc>
              <a:spcBef>
                <a:spcPts val="1417"/>
              </a:spcBef>
              <a:spcAft>
                <a:spcPts val="1599"/>
              </a:spcAft>
              <a:buNone/>
              <a:tabLst>
                <a:tab pos="0" algn="l"/>
              </a:tabLst>
            </a:pPr>
            <a:r>
              <a:rPr lang="ru" sz="3000" b="1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Базовый образ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Google Shape;161;p 2"/>
          <p:cNvSpPr/>
          <p:nvPr/>
        </p:nvSpPr>
        <p:spPr>
          <a:xfrm>
            <a:off x="8161920" y="161640"/>
            <a:ext cx="836640" cy="7034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accent4">
              <a:lumMod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tIns="29160" rIns="29160" bIns="2916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title"/>
          </p:nvPr>
        </p:nvSpPr>
        <p:spPr>
          <a:xfrm>
            <a:off x="8186400" y="189000"/>
            <a:ext cx="789480" cy="637560"/>
          </a:xfrm>
          <a:prstGeom prst="rect">
            <a:avLst/>
          </a:prstGeom>
          <a:noFill/>
          <a:ln w="0">
            <a:noFill/>
          </a:ln>
        </p:spPr>
        <p:txBody>
          <a:bodyPr lIns="29160" tIns="29160" rIns="29160" bIns="2916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1850" b="0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5</a:t>
            </a:r>
            <a:endParaRPr lang="ru-RU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383"/>
              </a:spcBef>
              <a:spcAft>
                <a:spcPts val="383"/>
              </a:spcAft>
              <a:buNone/>
              <a:tabLst>
                <a:tab pos="0" algn="l"/>
              </a:tabLst>
            </a:pPr>
            <a:r>
              <a:rPr lang="ru" sz="800" b="1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Оптимизация контейнера</a:t>
            </a:r>
            <a:endParaRPr lang="ru-RU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Google Shape;89;p 1"/>
          <p:cNvSpPr/>
          <p:nvPr/>
        </p:nvSpPr>
        <p:spPr>
          <a:xfrm>
            <a:off x="5020200" y="2228760"/>
            <a:ext cx="1358640" cy="10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endParaRPr lang="ru-RU" sz="4800" b="1" u="none" strike="noStrike">
              <a:solidFill>
                <a:schemeClr val="lt1"/>
              </a:solidFill>
              <a:effectLst/>
              <a:uFillTx/>
              <a:latin typeface="Raleway"/>
            </a:endParaRPr>
          </a:p>
        </p:txBody>
      </p:sp>
      <p:pic>
        <p:nvPicPr>
          <p:cNvPr id="106" name=""/>
          <p:cNvPicPr/>
          <p:nvPr/>
        </p:nvPicPr>
        <p:blipFill>
          <a:blip r:embed="rId1"/>
          <a:stretch/>
        </p:blipFill>
        <p:spPr>
          <a:xfrm>
            <a:off x="3986640" y="0"/>
            <a:ext cx="5140080" cy="514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"/>
          <p:cNvSpPr/>
          <p:nvPr/>
        </p:nvSpPr>
        <p:spPr>
          <a:xfrm>
            <a:off x="4572000" y="644760"/>
            <a:ext cx="1725480" cy="619200"/>
          </a:xfrm>
          <a:prstGeom prst="rect">
            <a:avLst/>
          </a:prstGeom>
          <a:solidFill>
            <a:srgbClr val="EAEA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ru-RU" sz="2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python-slim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6614640" y="557640"/>
            <a:ext cx="1725480" cy="619200"/>
          </a:xfrm>
          <a:prstGeom prst="rect">
            <a:avLst/>
          </a:prstGeom>
          <a:solidFill>
            <a:srgbClr val="EAEA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ru-RU" sz="26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python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457200" y="1828800"/>
            <a:ext cx="319716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FF4000"/>
                </a:solidFill>
                <a:effectLst/>
                <a:uFillTx/>
                <a:latin typeface="Arial"/>
                <a:ea typeface="Arial"/>
              </a:rPr>
              <a:t>FROM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debian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FF4000"/>
                </a:solidFill>
                <a:effectLst/>
                <a:uFillTx/>
                <a:latin typeface="Arial"/>
                <a:ea typeface="Arial"/>
              </a:rPr>
              <a:t>FROM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noble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FF4000"/>
                </a:solidFill>
                <a:effectLst/>
                <a:uFillTx/>
                <a:latin typeface="Arial"/>
                <a:ea typeface="Arial"/>
              </a:rPr>
              <a:t>FROM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python:3.11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FF4000"/>
                </a:solidFill>
                <a:effectLst/>
                <a:uFillTx/>
                <a:latin typeface="Arial"/>
                <a:ea typeface="Noto Sans CJK SC"/>
              </a:rPr>
              <a:t>FROM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python:3.11-slim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FF4000"/>
                </a:solidFill>
                <a:effectLst/>
                <a:uFillTx/>
                <a:latin typeface="Arial"/>
                <a:ea typeface="Noto Sans CJK SC"/>
              </a:rPr>
              <a:t>FROM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node:18-slim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FF4000"/>
                </a:solidFill>
                <a:effectLst/>
                <a:uFillTx/>
                <a:latin typeface="Arial"/>
                <a:ea typeface="Noto Sans CJK SC"/>
              </a:rPr>
              <a:t>FROM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scratch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28600" y="4572000"/>
            <a:ext cx="335412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277BD"/>
                </a:solidFill>
                <a:effectLst/>
                <a:uFillTx/>
                <a:latin typeface="Arial"/>
                <a:ea typeface="Arial"/>
                <a:hlinkClick r:id="rId2"/>
              </a:rPr>
              <a:t>https://hub.docker.com/u/library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/>
          </p:nvPr>
        </p:nvSpPr>
        <p:spPr>
          <a:xfrm>
            <a:off x="319680" y="823680"/>
            <a:ext cx="5946840" cy="618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l">
              <a:lnSpc>
                <a:spcPct val="114000"/>
              </a:lnSpc>
              <a:spcBef>
                <a:spcPts val="1417"/>
              </a:spcBef>
              <a:spcAft>
                <a:spcPts val="1599"/>
              </a:spcAft>
              <a:buNone/>
              <a:tabLst>
                <a:tab pos="0" algn="l"/>
              </a:tabLst>
            </a:pPr>
            <a:r>
              <a:rPr lang="ru" sz="3000" b="1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Рабочая директория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Google Shape;89;p 1"/>
          <p:cNvSpPr/>
          <p:nvPr/>
        </p:nvSpPr>
        <p:spPr>
          <a:xfrm>
            <a:off x="5020200" y="2228760"/>
            <a:ext cx="1358640" cy="10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endParaRPr lang="ru-RU" sz="4800" b="1" u="none" strike="noStrike">
              <a:solidFill>
                <a:schemeClr val="lt1"/>
              </a:solidFill>
              <a:effectLst/>
              <a:uFillTx/>
              <a:latin typeface="Raleway"/>
            </a:endParaRPr>
          </a:p>
        </p:txBody>
      </p:sp>
      <p:sp>
        <p:nvSpPr>
          <p:cNvPr id="113" name=""/>
          <p:cNvSpPr/>
          <p:nvPr/>
        </p:nvSpPr>
        <p:spPr>
          <a:xfrm>
            <a:off x="457200" y="1828800"/>
            <a:ext cx="1825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FF4000"/>
                </a:solidFill>
                <a:effectLst/>
                <a:uFillTx/>
                <a:latin typeface="Arial"/>
                <a:ea typeface="Arial"/>
              </a:rPr>
              <a:t>WORKDIR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/app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Google Shape;161;p 4"/>
          <p:cNvSpPr/>
          <p:nvPr/>
        </p:nvSpPr>
        <p:spPr>
          <a:xfrm>
            <a:off x="8162640" y="162360"/>
            <a:ext cx="836640" cy="7034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rgbClr val="0020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tIns="29160" rIns="29160" bIns="2916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Google Shape;162;p 4"/>
          <p:cNvSpPr/>
          <p:nvPr/>
        </p:nvSpPr>
        <p:spPr>
          <a:xfrm>
            <a:off x="8187120" y="189720"/>
            <a:ext cx="789480" cy="6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tIns="29160" rIns="29160" bIns="2916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850" b="0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2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80"/>
              </a:spcBef>
              <a:spcAft>
                <a:spcPts val="380"/>
              </a:spcAft>
              <a:tabLst>
                <a:tab pos="0" algn="l"/>
              </a:tabLst>
            </a:pPr>
            <a:r>
              <a:rPr lang="ru" sz="800" b="1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Dockerfile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4572000" y="0"/>
            <a:ext cx="3882960" cy="501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/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├── bin/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│   ├── bash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│   ├── python3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│   └── pip3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├── lib/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│   └── python3.11/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│       └── site-packages/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│           ├── fastapi/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│           ├── pydantic/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│           ├── ...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├── usr/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│   ├── bin/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│   ├── lib/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│   └── share/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├── etc/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│   ├── hosts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│   ├── passwd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│   └── ...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8000"/>
                </a:solidFill>
                <a:effectLst/>
                <a:uFillTx/>
                <a:latin typeface="Adwaita Mono"/>
                <a:ea typeface="Arial"/>
              </a:rPr>
              <a:t>└── app/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    ├── main.py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    ├── requirements.txt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    └── app/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        ├── __init__.py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        ├── routes.py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        └── utils.py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7" name=""/>
          <p:cNvCxnSpPr>
            <a:stCxn id="113" idx="3"/>
          </p:cNvCxnSpPr>
          <p:nvPr/>
        </p:nvCxnSpPr>
        <p:spPr>
          <a:xfrm>
            <a:off x="2282760" y="2010960"/>
            <a:ext cx="2129760" cy="1707480"/>
          </a:xfrm>
          <a:prstGeom prst="curvedConnector3">
            <a:avLst>
              <a:gd name="adj1" fmla="val 31428"/>
            </a:avLst>
          </a:prstGeom>
          <a:ln w="25560">
            <a:solidFill>
              <a:srgbClr val="FF8000"/>
            </a:solidFill>
            <a:round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/>
          </p:nvPr>
        </p:nvSpPr>
        <p:spPr>
          <a:xfrm>
            <a:off x="319680" y="823680"/>
            <a:ext cx="5946840" cy="618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l">
              <a:lnSpc>
                <a:spcPct val="114000"/>
              </a:lnSpc>
              <a:spcBef>
                <a:spcPts val="1417"/>
              </a:spcBef>
              <a:spcAft>
                <a:spcPts val="1599"/>
              </a:spcAft>
              <a:buNone/>
              <a:tabLst>
                <a:tab pos="0" algn="l"/>
              </a:tabLst>
            </a:pPr>
            <a:r>
              <a:rPr lang="ru" sz="3000" b="1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Копировать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89;p 1"/>
          <p:cNvSpPr/>
          <p:nvPr/>
        </p:nvSpPr>
        <p:spPr>
          <a:xfrm>
            <a:off x="5020200" y="2228760"/>
            <a:ext cx="1358640" cy="10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endParaRPr lang="ru-RU" sz="4800" b="1" u="none" strike="noStrike">
              <a:solidFill>
                <a:schemeClr val="lt1"/>
              </a:solidFill>
              <a:effectLst/>
              <a:uFillTx/>
              <a:latin typeface="Raleway"/>
            </a:endParaRPr>
          </a:p>
        </p:txBody>
      </p:sp>
      <p:sp>
        <p:nvSpPr>
          <p:cNvPr id="120" name=""/>
          <p:cNvSpPr/>
          <p:nvPr/>
        </p:nvSpPr>
        <p:spPr>
          <a:xfrm>
            <a:off x="457200" y="1828800"/>
            <a:ext cx="434016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4000"/>
                </a:solidFill>
                <a:effectLst/>
                <a:uFillTx/>
                <a:latin typeface="Arial"/>
                <a:ea typeface="Arial"/>
              </a:rPr>
              <a:t>COPY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&lt;откуда&gt; &lt;куда&gt;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FF4000"/>
                </a:solidFill>
                <a:effectLst/>
                <a:uFillTx/>
                <a:latin typeface="Arial"/>
                <a:ea typeface="Arial"/>
              </a:rPr>
              <a:t>COPY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app/requirements.txt 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FF4000"/>
                </a:solidFill>
                <a:effectLst/>
                <a:uFillTx/>
                <a:latin typeface="Arial"/>
                <a:ea typeface="Arial"/>
              </a:rPr>
              <a:t>COPY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app /app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FF4000"/>
                </a:solidFill>
                <a:effectLst/>
                <a:uFillTx/>
                <a:latin typeface="Arial"/>
                <a:ea typeface="Arial"/>
              </a:rPr>
              <a:t>COPY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 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Google Shape;161;p 4"/>
          <p:cNvSpPr/>
          <p:nvPr/>
        </p:nvSpPr>
        <p:spPr>
          <a:xfrm>
            <a:off x="8162640" y="162360"/>
            <a:ext cx="836640" cy="7034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rgbClr val="0020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tIns="29160" rIns="29160" bIns="2916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Google Shape;162;p 4"/>
          <p:cNvSpPr/>
          <p:nvPr/>
        </p:nvSpPr>
        <p:spPr>
          <a:xfrm>
            <a:off x="8187120" y="189720"/>
            <a:ext cx="789480" cy="6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tIns="29160" rIns="29160" bIns="2916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850" b="0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2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80"/>
              </a:spcBef>
              <a:spcAft>
                <a:spcPts val="380"/>
              </a:spcAft>
              <a:tabLst>
                <a:tab pos="0" algn="l"/>
              </a:tabLst>
            </a:pPr>
            <a:r>
              <a:rPr lang="ru" sz="800" b="1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Dockerfile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6462720" y="1564560"/>
            <a:ext cx="3882960" cy="24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/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├── bin/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├── lib/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├── usr/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├── etc/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└── src/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    ├── main.py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    ├── requirements.txt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    └── app/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        ├── __init__.py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        ├── routes.py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dwaita Mono"/>
                <a:ea typeface="Arial"/>
              </a:rPr>
              <a:t>        └── utils.py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4" name=""/>
          <p:cNvPicPr/>
          <p:nvPr/>
        </p:nvPicPr>
        <p:blipFill>
          <a:blip r:embed="rId1"/>
          <a:srcRect l="0" t="0" r="0" b="29751"/>
          <a:stretch/>
        </p:blipFill>
        <p:spPr>
          <a:xfrm>
            <a:off x="3657600" y="1564560"/>
            <a:ext cx="2837880" cy="369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"/>
          <p:cNvSpPr/>
          <p:nvPr/>
        </p:nvSpPr>
        <p:spPr>
          <a:xfrm>
            <a:off x="4114800" y="2563560"/>
            <a:ext cx="2318760" cy="225360"/>
          </a:xfrm>
          <a:prstGeom prst="rect">
            <a:avLst/>
          </a:prstGeom>
          <a:noFill/>
          <a:ln w="29160">
            <a:solidFill>
              <a:srgbClr val="FF8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760" tIns="59760" rIns="104760" bIns="597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6823440" y="2743200"/>
            <a:ext cx="2318760" cy="610560"/>
          </a:xfrm>
          <a:prstGeom prst="rect">
            <a:avLst/>
          </a:prstGeom>
          <a:noFill/>
          <a:ln w="29160">
            <a:solidFill>
              <a:srgbClr val="FF8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760" tIns="59760" rIns="104760" bIns="597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7" name=""/>
          <p:cNvCxnSpPr>
            <a:stCxn id="125" idx="2"/>
            <a:endCxn id="126" idx="1"/>
          </p:cNvCxnSpPr>
          <p:nvPr/>
        </p:nvCxnSpPr>
        <p:spPr>
          <a:xfrm flipH="1" rot="16200000">
            <a:off x="5919120" y="2143800"/>
            <a:ext cx="259920" cy="1549440"/>
          </a:xfrm>
          <a:prstGeom prst="curvedConnector2">
            <a:avLst/>
          </a:prstGeom>
          <a:ln w="38160">
            <a:solidFill>
              <a:srgbClr val="FF8000"/>
            </a:solidFill>
            <a:round/>
            <a:tailEnd len="med" type="triangle" w="med"/>
          </a:ln>
        </p:spPr>
      </p:cxnSp>
      <p:sp>
        <p:nvSpPr>
          <p:cNvPr id="128" name=""/>
          <p:cNvSpPr/>
          <p:nvPr/>
        </p:nvSpPr>
        <p:spPr>
          <a:xfrm>
            <a:off x="6406200" y="228600"/>
            <a:ext cx="1823400" cy="2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4000"/>
                </a:solidFill>
                <a:effectLst/>
                <a:uFillTx/>
                <a:latin typeface="Adwaita Mono"/>
                <a:ea typeface="Arial"/>
              </a:rPr>
              <a:t>Внутри контейнера: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3657600" y="228600"/>
            <a:ext cx="1823400" cy="2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4000"/>
                </a:solidFill>
                <a:effectLst/>
                <a:uFillTx/>
                <a:latin typeface="Adwaita Mono"/>
                <a:ea typeface="Arial"/>
              </a:rPr>
              <a:t>На хостовой машине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/>
          </p:nvPr>
        </p:nvSpPr>
        <p:spPr>
          <a:xfrm>
            <a:off x="319680" y="823680"/>
            <a:ext cx="5946840" cy="618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l">
              <a:lnSpc>
                <a:spcPct val="114000"/>
              </a:lnSpc>
              <a:spcBef>
                <a:spcPts val="1417"/>
              </a:spcBef>
              <a:spcAft>
                <a:spcPts val="1599"/>
              </a:spcAft>
              <a:buNone/>
              <a:tabLst>
                <a:tab pos="0" algn="l"/>
              </a:tabLst>
            </a:pPr>
            <a:r>
              <a:rPr lang="ru" sz="3000" b="1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Выполнить при сборке образа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Google Shape;89;p 3"/>
          <p:cNvSpPr/>
          <p:nvPr/>
        </p:nvSpPr>
        <p:spPr>
          <a:xfrm>
            <a:off x="5020200" y="2228760"/>
            <a:ext cx="1358640" cy="10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endParaRPr lang="ru-RU" sz="4800" b="1" u="none" strike="noStrike">
              <a:solidFill>
                <a:schemeClr val="lt1"/>
              </a:solidFill>
              <a:effectLst/>
              <a:uFillTx/>
              <a:latin typeface="Raleway"/>
            </a:endParaRPr>
          </a:p>
        </p:txBody>
      </p:sp>
      <p:sp>
        <p:nvSpPr>
          <p:cNvPr id="132" name=""/>
          <p:cNvSpPr/>
          <p:nvPr/>
        </p:nvSpPr>
        <p:spPr>
          <a:xfrm>
            <a:off x="457200" y="1828800"/>
            <a:ext cx="731196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4000"/>
                </a:solidFill>
                <a:effectLst/>
                <a:uFillTx/>
                <a:latin typeface="Arial"/>
                <a:ea typeface="Arial"/>
              </a:rPr>
              <a:t>RUN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echo "Hello, world!"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4000"/>
                </a:solidFill>
                <a:effectLst/>
                <a:uFillTx/>
                <a:latin typeface="Arial"/>
                <a:ea typeface="Arial"/>
              </a:rPr>
              <a:t>RUN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apt-get update &amp;&amp; apt-get install -y curl git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4000"/>
                </a:solidFill>
                <a:effectLst/>
                <a:uFillTx/>
                <a:latin typeface="Arial"/>
                <a:ea typeface="Arial"/>
              </a:rPr>
              <a:t>RUN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pip install --no-cache-dir flask requests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4000"/>
                </a:solidFill>
                <a:effectLst/>
                <a:uFillTx/>
                <a:latin typeface="Arial"/>
                <a:ea typeface="Arial"/>
              </a:rPr>
              <a:t>RUN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chmod +x /tmp/setup.sh &amp;&amp; /tmp/setup.sh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4000"/>
                </a:solidFill>
                <a:effectLst/>
                <a:uFillTx/>
                <a:latin typeface="Arial"/>
                <a:ea typeface="Arial"/>
              </a:rPr>
              <a:t>RUN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mkdir -p $APP_HOME/src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Google Shape;161;p 5"/>
          <p:cNvSpPr/>
          <p:nvPr/>
        </p:nvSpPr>
        <p:spPr>
          <a:xfrm>
            <a:off x="8162640" y="162360"/>
            <a:ext cx="836640" cy="7034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rgbClr val="0020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tIns="29160" rIns="29160" bIns="2916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Google Shape;162;p 5"/>
          <p:cNvSpPr/>
          <p:nvPr/>
        </p:nvSpPr>
        <p:spPr>
          <a:xfrm>
            <a:off x="8187120" y="189720"/>
            <a:ext cx="789480" cy="6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tIns="29160" rIns="29160" bIns="2916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850" b="0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2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80"/>
              </a:spcBef>
              <a:spcAft>
                <a:spcPts val="380"/>
              </a:spcAft>
              <a:tabLst>
                <a:tab pos="0" algn="l"/>
              </a:tabLst>
            </a:pPr>
            <a:r>
              <a:rPr lang="ru" sz="800" b="1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Dockerfile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/>
          </p:nvPr>
        </p:nvSpPr>
        <p:spPr>
          <a:xfrm>
            <a:off x="319680" y="823680"/>
            <a:ext cx="7449480" cy="618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l">
              <a:lnSpc>
                <a:spcPct val="114000"/>
              </a:lnSpc>
              <a:spcBef>
                <a:spcPts val="1417"/>
              </a:spcBef>
              <a:spcAft>
                <a:spcPts val="1599"/>
              </a:spcAft>
              <a:buNone/>
              <a:tabLst>
                <a:tab pos="0" algn="l"/>
              </a:tabLst>
            </a:pPr>
            <a:r>
              <a:rPr lang="ru" sz="3000" b="1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Выполнить при старте контейнра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Google Shape;89;p 2"/>
          <p:cNvSpPr/>
          <p:nvPr/>
        </p:nvSpPr>
        <p:spPr>
          <a:xfrm>
            <a:off x="5020200" y="2228760"/>
            <a:ext cx="1358640" cy="10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endParaRPr lang="ru-RU" sz="4800" b="1" u="none" strike="noStrike">
              <a:solidFill>
                <a:schemeClr val="lt1"/>
              </a:solidFill>
              <a:effectLst/>
              <a:uFillTx/>
              <a:latin typeface="Raleway"/>
            </a:endParaRPr>
          </a:p>
        </p:txBody>
      </p:sp>
      <p:sp>
        <p:nvSpPr>
          <p:cNvPr id="137" name=""/>
          <p:cNvSpPr/>
          <p:nvPr/>
        </p:nvSpPr>
        <p:spPr>
          <a:xfrm>
            <a:off x="457200" y="1828800"/>
            <a:ext cx="7311960" cy="39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4000"/>
                </a:solidFill>
                <a:effectLst/>
                <a:uFillTx/>
                <a:latin typeface="Arial"/>
                <a:ea typeface="Arial"/>
              </a:rPr>
              <a:t>CMD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["python", "app.py"]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4000"/>
                </a:solidFill>
                <a:effectLst/>
                <a:uFillTx/>
                <a:latin typeface="Arial"/>
                <a:ea typeface="Arial"/>
              </a:rPr>
              <a:t>CMD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["gunicorn", "app:app", "--bind", "0.0.0.0:8000"]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4000"/>
                </a:solidFill>
                <a:effectLst/>
                <a:uFillTx/>
                <a:latin typeface="Arial"/>
                <a:ea typeface="Arial"/>
              </a:rPr>
              <a:t>CMD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["node", "server.js"]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4000"/>
                </a:solidFill>
                <a:effectLst/>
                <a:uFillTx/>
                <a:latin typeface="Arial"/>
                <a:ea typeface="Arial"/>
              </a:rPr>
              <a:t>CMD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["nginx", "-g", "daemon off;"]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4000"/>
                </a:solidFill>
                <a:effectLst/>
                <a:uFillTx/>
                <a:latin typeface="Arial"/>
                <a:ea typeface="Arial"/>
              </a:rPr>
              <a:t>CMD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["bash"]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4000"/>
                </a:solidFill>
                <a:effectLst/>
                <a:uFillTx/>
                <a:latin typeface="Arial"/>
                <a:ea typeface="Arial"/>
              </a:rPr>
              <a:t>CMD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["postgres"]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Google Shape;161;p 3"/>
          <p:cNvSpPr/>
          <p:nvPr/>
        </p:nvSpPr>
        <p:spPr>
          <a:xfrm>
            <a:off x="8162640" y="162360"/>
            <a:ext cx="836640" cy="7034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rgbClr val="0020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tIns="29160" rIns="29160" bIns="2916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Google Shape;162;p 3"/>
          <p:cNvSpPr/>
          <p:nvPr/>
        </p:nvSpPr>
        <p:spPr>
          <a:xfrm>
            <a:off x="8187120" y="189720"/>
            <a:ext cx="789480" cy="6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tIns="29160" rIns="29160" bIns="2916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850" b="0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2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80"/>
              </a:spcBef>
              <a:spcAft>
                <a:spcPts val="380"/>
              </a:spcAft>
              <a:tabLst>
                <a:tab pos="0" algn="l"/>
              </a:tabLst>
            </a:pPr>
            <a:r>
              <a:rPr lang="ru" sz="800" b="1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Dockerfile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/>
          </p:nvPr>
        </p:nvSpPr>
        <p:spPr>
          <a:xfrm>
            <a:off x="319680" y="823680"/>
            <a:ext cx="5946840" cy="618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l">
              <a:lnSpc>
                <a:spcPct val="114000"/>
              </a:lnSpc>
              <a:spcBef>
                <a:spcPts val="1417"/>
              </a:spcBef>
              <a:spcAft>
                <a:spcPts val="1599"/>
              </a:spcAft>
              <a:buNone/>
              <a:tabLst>
                <a:tab pos="0" algn="l"/>
              </a:tabLst>
            </a:pPr>
            <a:r>
              <a:rPr lang="ru" sz="3000" b="1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Cлои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Google Shape;89;p15"/>
          <p:cNvSpPr/>
          <p:nvPr/>
        </p:nvSpPr>
        <p:spPr>
          <a:xfrm>
            <a:off x="5020200" y="2228760"/>
            <a:ext cx="1358640" cy="10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endParaRPr lang="ru-RU" sz="4800" b="1" u="none" strike="noStrike">
              <a:solidFill>
                <a:schemeClr val="lt1"/>
              </a:solidFill>
              <a:effectLst/>
              <a:uFillTx/>
              <a:latin typeface="Raleway"/>
            </a:endParaRPr>
          </a:p>
        </p:txBody>
      </p:sp>
      <p:pic>
        <p:nvPicPr>
          <p:cNvPr id="142" name=""/>
          <p:cNvPicPr/>
          <p:nvPr/>
        </p:nvPicPr>
        <p:blipFill>
          <a:blip r:embed="rId1"/>
          <a:stretch/>
        </p:blipFill>
        <p:spPr>
          <a:xfrm>
            <a:off x="108720" y="-996480"/>
            <a:ext cx="11181600" cy="741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"/>
          <p:cNvSpPr/>
          <p:nvPr/>
        </p:nvSpPr>
        <p:spPr>
          <a:xfrm>
            <a:off x="2619720" y="2104920"/>
            <a:ext cx="6159600" cy="2100600"/>
          </a:xfrm>
          <a:prstGeom prst="rect">
            <a:avLst/>
          </a:prstGeom>
          <a:solidFill>
            <a:schemeClr val="dk2">
              <a:lumMod val="75000"/>
              <a:lumOff val="25000"/>
              <a:alpha val="33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2200" b="1" u="none" strike="noStrike">
                <a:solidFill>
                  <a:schemeClr val="lt1"/>
                </a:solidFill>
                <a:effectLst/>
                <a:uFillTx/>
                <a:latin typeface="FreeMono"/>
                <a:ea typeface="FreeMono"/>
              </a:rPr>
              <a:t>FROM python:3.11-slim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200" b="1" u="none" strike="noStrike">
                <a:solidFill>
                  <a:schemeClr val="lt1"/>
                </a:solidFill>
                <a:effectLst/>
                <a:uFillTx/>
                <a:latin typeface="FreeMono"/>
                <a:ea typeface="FreeMono"/>
              </a:rPr>
              <a:t>WORKDIR /app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200" b="1" u="none" strike="noStrike">
                <a:solidFill>
                  <a:schemeClr val="lt1"/>
                </a:solidFill>
                <a:effectLst/>
                <a:uFillTx/>
                <a:latin typeface="FreeMono"/>
                <a:ea typeface="FreeMono"/>
              </a:rPr>
              <a:t>COPY requirements.txt 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200" b="1" u="none" strike="noStrike">
                <a:solidFill>
                  <a:schemeClr val="lt1"/>
                </a:solidFill>
                <a:effectLst/>
                <a:uFillTx/>
                <a:latin typeface="FreeMono"/>
                <a:ea typeface="FreeMono"/>
              </a:rPr>
              <a:t>RUN pip install -r requirements.txt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200" b="1" u="none" strike="noStrike">
                <a:solidFill>
                  <a:schemeClr val="lt1"/>
                </a:solidFill>
                <a:effectLst/>
                <a:uFillTx/>
                <a:latin typeface="FreeMono"/>
                <a:ea typeface="FreeMono"/>
              </a:rPr>
              <a:t>COPY . 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200" b="1" u="none" strike="noStrike">
                <a:solidFill>
                  <a:schemeClr val="lt1"/>
                </a:solidFill>
                <a:effectLst/>
                <a:uFillTx/>
                <a:latin typeface="FreeMono"/>
                <a:ea typeface="FreeMono"/>
              </a:rPr>
              <a:t>CMD ["python", "main.py"]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Google Shape;161;p23"/>
          <p:cNvSpPr/>
          <p:nvPr/>
        </p:nvSpPr>
        <p:spPr>
          <a:xfrm>
            <a:off x="8161920" y="161640"/>
            <a:ext cx="836640" cy="7034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rgbClr val="0020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tIns="29160" rIns="29160" bIns="2916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title"/>
          </p:nvPr>
        </p:nvSpPr>
        <p:spPr>
          <a:xfrm>
            <a:off x="8186400" y="189000"/>
            <a:ext cx="789480" cy="637560"/>
          </a:xfrm>
          <a:prstGeom prst="rect">
            <a:avLst/>
          </a:prstGeom>
          <a:noFill/>
          <a:ln w="0">
            <a:noFill/>
          </a:ln>
        </p:spPr>
        <p:txBody>
          <a:bodyPr lIns="29160" tIns="29160" rIns="29160" bIns="2916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1850" b="0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2</a:t>
            </a:r>
            <a:endParaRPr lang="ru-RU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380"/>
              </a:spcBef>
              <a:spcAft>
                <a:spcPts val="380"/>
              </a:spcAft>
              <a:buNone/>
              <a:tabLst>
                <a:tab pos="0" algn="l"/>
              </a:tabLst>
            </a:pPr>
            <a:r>
              <a:rPr lang="ru" sz="800" b="1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Dockerfile</a:t>
            </a:r>
            <a:endParaRPr lang="ru-RU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/>
          </p:nvPr>
        </p:nvSpPr>
        <p:spPr>
          <a:xfrm>
            <a:off x="319680" y="823680"/>
            <a:ext cx="5946840" cy="618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l">
              <a:lnSpc>
                <a:spcPct val="114000"/>
              </a:lnSpc>
              <a:spcBef>
                <a:spcPts val="1417"/>
              </a:spcBef>
              <a:spcAft>
                <a:spcPts val="1599"/>
              </a:spcAft>
              <a:buNone/>
              <a:tabLst>
                <a:tab pos="0" algn="l"/>
              </a:tabLst>
            </a:pPr>
            <a:r>
              <a:rPr lang="ru" sz="3000" b="1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Cлои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Google Shape;89;p15"/>
          <p:cNvSpPr/>
          <p:nvPr/>
        </p:nvSpPr>
        <p:spPr>
          <a:xfrm>
            <a:off x="5020200" y="2228760"/>
            <a:ext cx="1358640" cy="10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endParaRPr lang="ru-RU" sz="4800" b="1" u="none" strike="noStrike">
              <a:solidFill>
                <a:schemeClr val="lt1"/>
              </a:solidFill>
              <a:effectLst/>
              <a:uFillTx/>
              <a:latin typeface="Raleway"/>
            </a:endParaRPr>
          </a:p>
        </p:txBody>
      </p:sp>
      <p:pic>
        <p:nvPicPr>
          <p:cNvPr id="148" name=""/>
          <p:cNvPicPr/>
          <p:nvPr/>
        </p:nvPicPr>
        <p:blipFill>
          <a:blip r:embed="rId1"/>
          <a:srcRect l="0" t="0" r="0" b="17698"/>
          <a:stretch/>
        </p:blipFill>
        <p:spPr>
          <a:xfrm rot="10800000">
            <a:off x="112320" y="1206720"/>
            <a:ext cx="11181600" cy="610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" name=""/>
          <p:cNvSpPr/>
          <p:nvPr/>
        </p:nvSpPr>
        <p:spPr>
          <a:xfrm>
            <a:off x="2619720" y="1422360"/>
            <a:ext cx="6164280" cy="2100600"/>
          </a:xfrm>
          <a:prstGeom prst="rect">
            <a:avLst/>
          </a:prstGeom>
          <a:solidFill>
            <a:schemeClr val="dk2">
              <a:lumMod val="75000"/>
              <a:lumOff val="25000"/>
              <a:alpha val="33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2200" b="1" u="none" strike="noStrike">
                <a:solidFill>
                  <a:schemeClr val="lt1"/>
                </a:solidFill>
                <a:effectLst/>
                <a:uFillTx/>
                <a:latin typeface="FreeMono"/>
                <a:ea typeface="FreeMono"/>
              </a:rPr>
              <a:t>FROM python:3.11-slim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200" b="1" u="none" strike="noStrike">
                <a:solidFill>
                  <a:schemeClr val="lt1"/>
                </a:solidFill>
                <a:effectLst/>
                <a:uFillTx/>
                <a:latin typeface="FreeMono"/>
                <a:ea typeface="FreeMono"/>
              </a:rPr>
              <a:t>WORKDIR /app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200" b="1" u="none" strike="noStrike">
                <a:solidFill>
                  <a:schemeClr val="lt1"/>
                </a:solidFill>
                <a:effectLst/>
                <a:uFillTx/>
                <a:latin typeface="FreeMono"/>
                <a:ea typeface="FreeMono"/>
              </a:rPr>
              <a:t>COPY requirements.txt .</a:t>
            </a:r>
            <a:br>
              <a:rPr sz="2200"/>
            </a:br>
            <a:r>
              <a:rPr lang="ru-RU" sz="2200" b="1" u="none" strike="noStrike">
                <a:solidFill>
                  <a:schemeClr val="lt1"/>
                </a:solidFill>
                <a:effectLst/>
                <a:uFillTx/>
                <a:latin typeface="FreeMono"/>
                <a:ea typeface="FreeMono"/>
              </a:rPr>
              <a:t>RUN pip install -r requirements.txt</a:t>
            </a:r>
            <a:br>
              <a:rPr sz="2200"/>
            </a:br>
            <a:r>
              <a:rPr lang="ru-RU" sz="2200" b="1" u="none" strike="noStrike">
                <a:solidFill>
                  <a:schemeClr val="lt1"/>
                </a:solidFill>
                <a:effectLst/>
                <a:uFillTx/>
                <a:latin typeface="FreeMono"/>
                <a:ea typeface="FreeMono"/>
              </a:rPr>
              <a:t>COPY /app 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200" b="1" u="none" strike="noStrike">
                <a:solidFill>
                  <a:schemeClr val="lt1"/>
                </a:solidFill>
                <a:effectLst/>
                <a:uFillTx/>
                <a:latin typeface="FreeMono"/>
                <a:ea typeface="FreeMono"/>
              </a:rPr>
              <a:t>CMD ["python", "main.py"]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350280" y="1914120"/>
            <a:ext cx="213480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tIns="45000" rIns="90000" bIns="45000" anchor="t">
            <a:sp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Google Shape;161;p23"/>
          <p:cNvSpPr/>
          <p:nvPr/>
        </p:nvSpPr>
        <p:spPr>
          <a:xfrm>
            <a:off x="8161920" y="161640"/>
            <a:ext cx="836640" cy="7034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rgbClr val="0020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tIns="29160" rIns="29160" bIns="2916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 type="title"/>
          </p:nvPr>
        </p:nvSpPr>
        <p:spPr>
          <a:xfrm>
            <a:off x="8186400" y="189000"/>
            <a:ext cx="789480" cy="637560"/>
          </a:xfrm>
          <a:prstGeom prst="rect">
            <a:avLst/>
          </a:prstGeom>
          <a:noFill/>
          <a:ln w="0">
            <a:noFill/>
          </a:ln>
        </p:spPr>
        <p:txBody>
          <a:bodyPr lIns="29160" tIns="29160" rIns="29160" bIns="2916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1850" b="0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2</a:t>
            </a:r>
            <a:endParaRPr lang="ru-RU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380"/>
              </a:spcBef>
              <a:spcAft>
                <a:spcPts val="380"/>
              </a:spcAft>
              <a:buNone/>
              <a:tabLst>
                <a:tab pos="0" algn="l"/>
              </a:tabLst>
            </a:pPr>
            <a:r>
              <a:rPr lang="ru" sz="800" b="1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Dockerfile</a:t>
            </a:r>
            <a:endParaRPr lang="ru-RU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1;p22"/>
          <p:cNvPicPr/>
          <p:nvPr/>
        </p:nvPicPr>
        <p:blipFill>
          <a:blip r:embed="rId1"/>
          <a:stretch/>
        </p:blipFill>
        <p:spPr>
          <a:xfrm>
            <a:off x="2444760" y="162720"/>
            <a:ext cx="4250880" cy="4814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4" name="Google Shape;152;p22" descr="Кусок клейкой ленты, который удерживает заметку на слайде"/>
          <p:cNvPicPr/>
          <p:nvPr/>
        </p:nvPicPr>
        <p:blipFill>
          <a:blip r:embed="rId2"/>
          <a:srcRect l="9242" t="5927" r="2118" b="10007"/>
          <a:stretch/>
        </p:blipFill>
        <p:spPr>
          <a:xfrm rot="154800">
            <a:off x="3535920" y="147240"/>
            <a:ext cx="2068560" cy="73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Google Shape;153;p22"/>
          <p:cNvSpPr/>
          <p:nvPr/>
        </p:nvSpPr>
        <p:spPr>
          <a:xfrm>
            <a:off x="2855520" y="687240"/>
            <a:ext cx="3429360" cy="10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b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2800" b="1" u="none" strike="noStrike">
                <a:solidFill>
                  <a:schemeClr val="lt2"/>
                </a:solidFill>
                <a:effectLst/>
                <a:uFillTx/>
                <a:latin typeface="Raleway"/>
                <a:ea typeface="Raleway"/>
              </a:rPr>
              <a:t>Вопросы к слушателям!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7"/>
          <p:cNvSpPr/>
          <p:nvPr/>
        </p:nvSpPr>
        <p:spPr>
          <a:xfrm>
            <a:off x="2855520" y="1702080"/>
            <a:ext cx="3429360" cy="29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pPr marL="457200" indent="-343080" defTabSz="914400">
              <a:lnSpc>
                <a:spcPct val="114000"/>
              </a:lnSpc>
              <a:spcBef>
                <a:spcPts val="1417"/>
              </a:spcBef>
              <a:buClr>
                <a:srgbClr val="0070C0"/>
              </a:buClr>
              <a:buFont typeface="OpenSymbol" charset="2"/>
              <a:buAutoNum type="arabicParenR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Raleway"/>
              </a:rPr>
              <a:t>Чем образ отличается от контейнера?                 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defTabSz="914400">
              <a:lnSpc>
                <a:spcPct val="114000"/>
              </a:lnSpc>
              <a:spcBef>
                <a:spcPts val="1417"/>
              </a:spcBef>
              <a:buClr>
                <a:srgbClr val="0070C0"/>
              </a:buClr>
              <a:buFont typeface="Raleway"/>
              <a:buAutoNum type="arabicParenR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Raleway"/>
              </a:rPr>
              <a:t>Сколько контейнеров можно запустить из одного образа?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defTabSz="914400">
              <a:lnSpc>
                <a:spcPct val="114000"/>
              </a:lnSpc>
              <a:spcBef>
                <a:spcPts val="1417"/>
              </a:spcBef>
              <a:buClr>
                <a:srgbClr val="0070C0"/>
              </a:buClr>
              <a:buFont typeface="Raleway"/>
              <a:buAutoNum type="arabicParenR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Raleway"/>
              </a:rPr>
              <a:t>Что означает </a:t>
            </a:r>
            <a:r>
              <a:rPr lang="ru-RU" sz="1600" b="0" u="none" strike="noStrike">
                <a:solidFill>
                  <a:srgbClr val="FFFFD7"/>
                </a:solidFill>
                <a:effectLst/>
                <a:highlight>
                  <a:srgbClr val="2A6099"/>
                </a:highlight>
                <a:uFillTx/>
                <a:latin typeface="Arial"/>
                <a:ea typeface="Raleway"/>
              </a:rPr>
              <a:t>docker-lab/orders-api:2.0.1</a:t>
            </a: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Raleway"/>
              </a:rPr>
              <a:t>     где здесь имя, а где тег? Что поменяется, если тег опустить?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1;p 2"/>
          <p:cNvPicPr/>
          <p:nvPr/>
        </p:nvPicPr>
        <p:blipFill>
          <a:blip r:embed="rId1"/>
          <a:stretch/>
        </p:blipFill>
        <p:spPr>
          <a:xfrm>
            <a:off x="2444760" y="162720"/>
            <a:ext cx="4250880" cy="4814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8" name="Google Shape;152;p 2" descr="Кусок клейкой ленты, который удерживает заметку на слайде"/>
          <p:cNvPicPr/>
          <p:nvPr/>
        </p:nvPicPr>
        <p:blipFill>
          <a:blip r:embed="rId2"/>
          <a:srcRect l="9242" t="5927" r="2118" b="10007"/>
          <a:stretch/>
        </p:blipFill>
        <p:spPr>
          <a:xfrm rot="154800">
            <a:off x="3535920" y="147240"/>
            <a:ext cx="2068560" cy="73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Google Shape;153;p 2"/>
          <p:cNvSpPr/>
          <p:nvPr/>
        </p:nvSpPr>
        <p:spPr>
          <a:xfrm>
            <a:off x="2855520" y="687240"/>
            <a:ext cx="3429360" cy="10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b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2800" b="1" u="none" strike="noStrike">
                <a:solidFill>
                  <a:schemeClr val="lt2"/>
                </a:solidFill>
                <a:effectLst/>
                <a:uFillTx/>
                <a:latin typeface="Raleway"/>
                <a:ea typeface="Raleway"/>
              </a:rPr>
              <a:t>Вопросы к слушателям!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8"/>
          <p:cNvSpPr/>
          <p:nvPr/>
        </p:nvSpPr>
        <p:spPr>
          <a:xfrm>
            <a:off x="2855520" y="1702080"/>
            <a:ext cx="3429360" cy="29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pPr marL="457200" indent="-343080" defTabSz="914400">
              <a:lnSpc>
                <a:spcPct val="114000"/>
              </a:lnSpc>
              <a:spcBef>
                <a:spcPts val="1417"/>
              </a:spcBef>
              <a:buClr>
                <a:srgbClr val="0070C0"/>
              </a:buClr>
              <a:buFont typeface="OpenSymbol" charset="2"/>
              <a:buAutoNum type="arabicParenR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Raleway"/>
              </a:rPr>
              <a:t>Чем образ </a:t>
            </a: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Raleway"/>
              </a:rPr>
              <a:t>отличается </a:t>
            </a: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Raleway"/>
              </a:rPr>
              <a:t>от </a:t>
            </a: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Raleway"/>
              </a:rPr>
              <a:t>контейнера? </a:t>
            </a: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Raleway"/>
              </a:rPr>
              <a:t>                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defTabSz="914400">
              <a:lnSpc>
                <a:spcPct val="114000"/>
              </a:lnSpc>
              <a:spcBef>
                <a:spcPts val="1417"/>
              </a:spcBef>
              <a:buClr>
                <a:srgbClr val="0070C0"/>
              </a:buClr>
              <a:buFont typeface="Raleway"/>
              <a:buAutoNum type="arabicParenR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Raleway"/>
              </a:rPr>
              <a:t>Сколько </a:t>
            </a: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Raleway"/>
              </a:rPr>
              <a:t>контейнеров </a:t>
            </a: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Raleway"/>
              </a:rPr>
              <a:t>можно </a:t>
            </a: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Raleway"/>
              </a:rPr>
              <a:t>запустить из </a:t>
            </a: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Raleway"/>
              </a:rPr>
              <a:t>одного </a:t>
            </a: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Raleway"/>
              </a:rPr>
              <a:t>образа?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defTabSz="914400">
              <a:lnSpc>
                <a:spcPct val="114000"/>
              </a:lnSpc>
              <a:spcBef>
                <a:spcPts val="1417"/>
              </a:spcBef>
              <a:buClr>
                <a:srgbClr val="0070C0"/>
              </a:buClr>
              <a:buFont typeface="Raleway"/>
              <a:buAutoNum type="arabicParenR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Raleway"/>
              </a:rPr>
              <a:t>Что </a:t>
            </a: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Raleway"/>
              </a:rPr>
              <a:t>означает </a:t>
            </a:r>
            <a:r>
              <a:rPr lang="ru-RU" sz="1600" b="0" u="none" strike="noStrike">
                <a:solidFill>
                  <a:srgbClr val="FFFFD7"/>
                </a:solidFill>
                <a:effectLst/>
                <a:highlight>
                  <a:srgbClr val="2A6099"/>
                </a:highlight>
                <a:uFillTx/>
                <a:latin typeface="Arial"/>
                <a:ea typeface="Raleway"/>
              </a:rPr>
              <a:t>docker-lab/or</a:t>
            </a:r>
            <a:r>
              <a:rPr lang="ru-RU" sz="1600" b="0" u="none" strike="noStrike">
                <a:solidFill>
                  <a:srgbClr val="FFFFD7"/>
                </a:solidFill>
                <a:effectLst/>
                <a:highlight>
                  <a:srgbClr val="2A6099"/>
                </a:highlight>
                <a:uFillTx/>
                <a:latin typeface="Arial"/>
                <a:ea typeface="Raleway"/>
              </a:rPr>
              <a:t>ders-</a:t>
            </a:r>
            <a:r>
              <a:rPr lang="ru-RU" sz="1600" b="0" u="none" strike="noStrike">
                <a:solidFill>
                  <a:srgbClr val="FFFFD7"/>
                </a:solidFill>
                <a:effectLst/>
                <a:highlight>
                  <a:srgbClr val="2A6099"/>
                </a:highlight>
                <a:uFillTx/>
                <a:latin typeface="Arial"/>
                <a:ea typeface="Raleway"/>
              </a:rPr>
              <a:t>api:2.0.1</a:t>
            </a: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Raleway"/>
              </a:rPr>
              <a:t>     </a:t>
            </a: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Raleway"/>
              </a:rPr>
              <a:t>где здесь </a:t>
            </a: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Raleway"/>
              </a:rPr>
              <a:t>имя, а где </a:t>
            </a: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Raleway"/>
              </a:rPr>
              <a:t>тег? Что </a:t>
            </a: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Raleway"/>
              </a:rPr>
              <a:t>поменяется, </a:t>
            </a: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Raleway"/>
              </a:rPr>
              <a:t>если тег </a:t>
            </a: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Raleway"/>
              </a:rPr>
              <a:t>опустить?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70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51;p 1"/>
          <p:cNvPicPr/>
          <p:nvPr/>
        </p:nvPicPr>
        <p:blipFill>
          <a:blip r:embed="rId1"/>
          <a:stretch/>
        </p:blipFill>
        <p:spPr>
          <a:xfrm>
            <a:off x="2444760" y="162720"/>
            <a:ext cx="4250880" cy="4814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2" name="Google Shape;152;p 1" descr="Кусок клейкой ленты, который удерживает заметку на слайде"/>
          <p:cNvPicPr/>
          <p:nvPr/>
        </p:nvPicPr>
        <p:blipFill>
          <a:blip r:embed="rId2"/>
          <a:srcRect l="9242" t="5927" r="2118" b="10007"/>
          <a:stretch/>
        </p:blipFill>
        <p:spPr>
          <a:xfrm rot="154800">
            <a:off x="3535920" y="147240"/>
            <a:ext cx="2068560" cy="73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Google Shape;153;p 1"/>
          <p:cNvSpPr/>
          <p:nvPr/>
        </p:nvSpPr>
        <p:spPr>
          <a:xfrm>
            <a:off x="2855520" y="687240"/>
            <a:ext cx="3429360" cy="10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b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2800" b="1" u="none" strike="noStrike">
                <a:solidFill>
                  <a:schemeClr val="lt2"/>
                </a:solidFill>
                <a:effectLst/>
                <a:uFillTx/>
                <a:latin typeface="Raleway"/>
                <a:ea typeface="Raleway"/>
              </a:rPr>
              <a:t>Образы и контейнеры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1"/>
          <p:cNvSpPr>
            <a:spLocks noGrp="1"/>
          </p:cNvSpPr>
          <p:nvPr>
            <p:ph/>
          </p:nvPr>
        </p:nvSpPr>
        <p:spPr>
          <a:xfrm>
            <a:off x="2855520" y="1504800"/>
            <a:ext cx="3429360" cy="3196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343080" algn="l" defTabSz="914400">
              <a:lnSpc>
                <a:spcPct val="114000"/>
              </a:lnSpc>
              <a:spcBef>
                <a:spcPts val="1417"/>
              </a:spcBef>
              <a:buClr>
                <a:srgbClr val="0070C0"/>
              </a:buClr>
              <a:buSzPct val="45000"/>
              <a:buFont typeface="Raleway"/>
              <a:buChar char="➔"/>
            </a:pPr>
            <a:r>
              <a:rPr lang="ru" sz="1600" b="1" u="none" strike="noStrike">
                <a:solidFill>
                  <a:srgbClr val="0070C0"/>
                </a:solidFill>
                <a:effectLst/>
                <a:uFillTx/>
                <a:latin typeface="Raleway"/>
                <a:ea typeface="Raleway"/>
              </a:rPr>
              <a:t>Dockerfile</a:t>
            </a:r>
            <a:br>
              <a:rPr sz="1600"/>
            </a:br>
            <a:r>
              <a:rPr lang="ru" sz="1600" b="0" u="none" strike="noStrik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Инструкция по сборке образа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 defTabSz="914400">
              <a:lnSpc>
                <a:spcPct val="114000"/>
              </a:lnSpc>
              <a:spcBef>
                <a:spcPts val="1417"/>
              </a:spcBef>
              <a:buClr>
                <a:srgbClr val="0070C0"/>
              </a:buClr>
              <a:buSzPct val="45000"/>
              <a:buFont typeface="Raleway"/>
              <a:buChar char="➔"/>
            </a:pPr>
            <a:r>
              <a:rPr lang="ru" sz="1600" b="1" u="none" strike="noStrike">
                <a:solidFill>
                  <a:srgbClr val="0070C0"/>
                </a:solidFill>
                <a:effectLst/>
                <a:uFillTx/>
                <a:latin typeface="Raleway"/>
                <a:ea typeface="Raleway"/>
              </a:rPr>
              <a:t>Образ (image)</a:t>
            </a:r>
            <a:br>
              <a:rPr sz="1600"/>
            </a:br>
            <a:r>
              <a:rPr lang="ru" sz="1600" b="0" u="none" strike="noStrik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docker images</a:t>
            </a:r>
            <a:br>
              <a:rPr sz="1600"/>
            </a:br>
            <a:r>
              <a:rPr lang="ru" sz="1600" b="0" u="none" strike="noStrik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Синтаксис именования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 defTabSz="914400">
              <a:lnSpc>
                <a:spcPct val="114000"/>
              </a:lnSpc>
              <a:spcBef>
                <a:spcPts val="1417"/>
              </a:spcBef>
              <a:buClr>
                <a:srgbClr val="0070C0"/>
              </a:buClr>
              <a:buSzPct val="45000"/>
              <a:buFont typeface="Raleway"/>
              <a:buChar char="➔"/>
            </a:pPr>
            <a:r>
              <a:rPr lang="ru" sz="1600" b="1" u="none" strike="noStrike">
                <a:solidFill>
                  <a:srgbClr val="0070C0"/>
                </a:solidFill>
                <a:effectLst/>
                <a:uFillTx/>
                <a:latin typeface="Raleway"/>
                <a:ea typeface="Raleway"/>
              </a:rPr>
              <a:t>Сборка</a:t>
            </a:r>
            <a:br>
              <a:rPr sz="1600"/>
            </a:br>
            <a:r>
              <a:rPr lang="ru" sz="1600" b="0" u="none" strike="noStrik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docker build –f –t . 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 defTabSz="914400">
              <a:lnSpc>
                <a:spcPct val="114000"/>
              </a:lnSpc>
              <a:spcBef>
                <a:spcPts val="1001"/>
              </a:spcBef>
              <a:spcAft>
                <a:spcPts val="1001"/>
              </a:spcAft>
              <a:buClr>
                <a:srgbClr val="0070C0"/>
              </a:buClr>
              <a:buSzPct val="45000"/>
              <a:buFont typeface="Raleway"/>
              <a:buChar char="➔"/>
            </a:pPr>
            <a:r>
              <a:rPr lang="ru" sz="1600" b="1" u="none" strike="noStrike">
                <a:solidFill>
                  <a:srgbClr val="0070C0"/>
                </a:solidFill>
                <a:effectLst/>
                <a:uFillTx/>
                <a:latin typeface="Raleway"/>
                <a:ea typeface="Raleway"/>
              </a:rPr>
              <a:t>Запуск контейнера</a:t>
            </a:r>
            <a:br>
              <a:rPr sz="1600"/>
            </a:br>
            <a:r>
              <a:rPr lang="ru" sz="1600" b="0" u="none" strike="noStrik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docker run</a:t>
            </a:r>
            <a:br>
              <a:rPr sz="1600"/>
            </a:br>
            <a:r>
              <a:rPr lang="ru" sz="1600" b="0" u="none" strike="noStrik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docker</a:t>
            </a:r>
            <a:r>
              <a:rPr lang="ru" sz="1600" b="1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ru" sz="1600" b="0" u="none" strike="noStrik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ps</a:t>
            </a:r>
            <a:br>
              <a:rPr sz="1600"/>
            </a:br>
            <a:r>
              <a:rPr lang="ru" sz="1600" b="1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 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282960" y="712080"/>
            <a:ext cx="8228880" cy="77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</a:pPr>
            <a:r>
              <a:rPr lang="ru" sz="4200" b="1" u="none" strike="noStrike">
                <a:solidFill>
                  <a:schemeClr val="accent5"/>
                </a:solidFill>
                <a:effectLst/>
                <a:uFillTx/>
                <a:latin typeface="Raleway"/>
                <a:ea typeface="Raleway"/>
              </a:rPr>
              <a:t>Цель этапа</a:t>
            </a:r>
            <a:endParaRPr lang="ru-RU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Google Shape;105;p 1"/>
          <p:cNvSpPr/>
          <p:nvPr/>
        </p:nvSpPr>
        <p:spPr>
          <a:xfrm>
            <a:off x="282960" y="2531160"/>
            <a:ext cx="8084880" cy="249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 marL="457200" indent="-349200">
              <a:lnSpc>
                <a:spcPct val="100000"/>
              </a:lnSpc>
              <a:buClr>
                <a:srgbClr val="FFFFFF"/>
              </a:buClr>
              <a:buFont typeface="Raleway"/>
              <a:buChar char="●"/>
            </a:pPr>
            <a:r>
              <a:rPr lang="ru" sz="1900" b="0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Разобраться с инструментами и командами для управления жизненным циклом docker-контейнера: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60000" lvl="1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" sz="1900" b="0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Конфигурирование, запуск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60000" lvl="1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" sz="1900" b="0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Мониторинг, изучение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60000" lvl="1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" sz="1900" b="0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Остановка, удаление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9200">
              <a:lnSpc>
                <a:spcPct val="100000"/>
              </a:lnSpc>
              <a:buClr>
                <a:srgbClr val="FFFFFF"/>
              </a:buClr>
              <a:buFont typeface="Raleway"/>
              <a:buChar char="●"/>
            </a:pPr>
            <a:r>
              <a:rPr lang="ru" sz="1900" b="0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Понять, как выглядит развертывание и управление контейнеризированным приложением с точки зрения DevOps-специалиста (Найти общий язык с DevOps'ом)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Google Shape;106;p 1"/>
          <p:cNvSpPr/>
          <p:nvPr/>
        </p:nvSpPr>
        <p:spPr>
          <a:xfrm>
            <a:off x="282960" y="1367640"/>
            <a:ext cx="8430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ru" sz="4200" b="1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Управление</a:t>
            </a:r>
            <a:endParaRPr lang="en-U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Google Shape;161;p 6"/>
          <p:cNvSpPr/>
          <p:nvPr/>
        </p:nvSpPr>
        <p:spPr>
          <a:xfrm>
            <a:off x="8162280" y="162000"/>
            <a:ext cx="836640" cy="7034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accent5">
              <a:lumMod val="7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tIns="29160" rIns="29160" bIns="2916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Google Shape;162;p 6"/>
          <p:cNvSpPr/>
          <p:nvPr/>
        </p:nvSpPr>
        <p:spPr>
          <a:xfrm>
            <a:off x="8186760" y="189360"/>
            <a:ext cx="789480" cy="6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tIns="29160" rIns="29160" bIns="2916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850" b="0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3</a:t>
            </a:r>
            <a:endParaRPr lang="en-US" sz="1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80"/>
              </a:spcBef>
              <a:spcAft>
                <a:spcPts val="380"/>
              </a:spcAft>
              <a:tabLst>
                <a:tab pos="0" algn="l"/>
              </a:tabLst>
            </a:pPr>
            <a:r>
              <a:rPr lang="ru" sz="800" b="1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Управление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9" dur="indefinite" restart="never" nodeType="tmRoot">
          <p:childTnLst>
            <p:seq>
              <p:cTn id="40" dur="indefinite" nodeType="mainSeq"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/>
          </p:nvPr>
        </p:nvSpPr>
        <p:spPr>
          <a:xfrm>
            <a:off x="319680" y="823680"/>
            <a:ext cx="5946840" cy="618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l">
              <a:lnSpc>
                <a:spcPct val="114000"/>
              </a:lnSpc>
              <a:spcBef>
                <a:spcPts val="1417"/>
              </a:spcBef>
              <a:spcAft>
                <a:spcPts val="1596"/>
              </a:spcAft>
              <a:buNone/>
              <a:tabLst>
                <a:tab pos="0" algn="l"/>
              </a:tabLst>
            </a:pPr>
            <a:r>
              <a:rPr lang="ru" sz="3000" b="1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docker compose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Google Shape;161;p23"/>
          <p:cNvSpPr/>
          <p:nvPr/>
        </p:nvSpPr>
        <p:spPr>
          <a:xfrm>
            <a:off x="8161920" y="161640"/>
            <a:ext cx="836640" cy="7034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accent5">
              <a:lumMod val="7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tIns="29160" rIns="29160" bIns="2916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title"/>
          </p:nvPr>
        </p:nvSpPr>
        <p:spPr>
          <a:xfrm>
            <a:off x="8186400" y="189000"/>
            <a:ext cx="789480" cy="637560"/>
          </a:xfrm>
          <a:prstGeom prst="rect">
            <a:avLst/>
          </a:prstGeom>
          <a:noFill/>
          <a:ln w="0">
            <a:noFill/>
          </a:ln>
        </p:spPr>
        <p:txBody>
          <a:bodyPr lIns="29160" tIns="29160" rIns="29160" bIns="2916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1850" b="0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3</a:t>
            </a:r>
            <a:endParaRPr lang="ru-RU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380"/>
              </a:spcBef>
              <a:spcAft>
                <a:spcPts val="380"/>
              </a:spcAft>
              <a:buNone/>
              <a:tabLst>
                <a:tab pos="0" algn="l"/>
              </a:tabLst>
            </a:pPr>
            <a:r>
              <a:rPr lang="ru" sz="800" b="1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Управление</a:t>
            </a:r>
            <a:endParaRPr lang="ru-RU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Google Shape;89;p15"/>
          <p:cNvSpPr/>
          <p:nvPr/>
        </p:nvSpPr>
        <p:spPr>
          <a:xfrm>
            <a:off x="5020200" y="2228760"/>
            <a:ext cx="1358640" cy="10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endParaRPr lang="ru-RU" sz="4800" b="1" u="none" strike="noStrike">
              <a:solidFill>
                <a:schemeClr val="lt1"/>
              </a:solidFill>
              <a:effectLst/>
              <a:uFillTx/>
              <a:latin typeface="Raleway"/>
            </a:endParaRPr>
          </a:p>
        </p:txBody>
      </p:sp>
      <p:sp>
        <p:nvSpPr>
          <p:cNvPr id="174" name=""/>
          <p:cNvSpPr/>
          <p:nvPr/>
        </p:nvSpPr>
        <p:spPr>
          <a:xfrm>
            <a:off x="0" y="0"/>
            <a:ext cx="4569480" cy="5141160"/>
          </a:xfrm>
          <a:prstGeom prst="rect">
            <a:avLst/>
          </a:prstGeom>
          <a:solidFill>
            <a:srgbClr val="35353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666666"/>
                </a:solidFill>
                <a:effectLst/>
                <a:uFillTx/>
                <a:latin typeface="PT Mono"/>
                <a:ea typeface="Calibri"/>
              </a:rPr>
              <a:t>PROBLEMS  OUTPUT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</a:t>
            </a:r>
            <a:r>
              <a:rPr lang="en-US" sz="1600" b="0" u="sng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TERMINAL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</a:t>
            </a:r>
            <a:r>
              <a:rPr lang="en-US" sz="1600" b="0" u="none" strike="noStrike">
                <a:solidFill>
                  <a:srgbClr val="666666"/>
                </a:solidFill>
                <a:effectLst/>
                <a:uFillTx/>
                <a:latin typeface="PT Mono"/>
                <a:ea typeface="Calibri"/>
              </a:rPr>
              <a:t>PORTS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$ docker run --rm -p 8081:8080  docker-lab/orders-api:latest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/>
          </p:nvPr>
        </p:nvSpPr>
        <p:spPr>
          <a:xfrm>
            <a:off x="319680" y="823680"/>
            <a:ext cx="5946840" cy="618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l">
              <a:lnSpc>
                <a:spcPct val="114000"/>
              </a:lnSpc>
              <a:spcBef>
                <a:spcPts val="1417"/>
              </a:spcBef>
              <a:spcAft>
                <a:spcPts val="1596"/>
              </a:spcAft>
              <a:buNone/>
              <a:tabLst>
                <a:tab pos="0" algn="l"/>
              </a:tabLst>
            </a:pPr>
            <a:r>
              <a:rPr lang="ru" sz="3000" b="1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docker compose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Google Shape;161;p 13"/>
          <p:cNvSpPr/>
          <p:nvPr/>
        </p:nvSpPr>
        <p:spPr>
          <a:xfrm>
            <a:off x="8161920" y="161640"/>
            <a:ext cx="836640" cy="7034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accent5">
              <a:lumMod val="7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tIns="29160" rIns="29160" bIns="2916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title"/>
          </p:nvPr>
        </p:nvSpPr>
        <p:spPr>
          <a:xfrm>
            <a:off x="8186400" y="189000"/>
            <a:ext cx="789480" cy="637560"/>
          </a:xfrm>
          <a:prstGeom prst="rect">
            <a:avLst/>
          </a:prstGeom>
          <a:noFill/>
          <a:ln w="0">
            <a:noFill/>
          </a:ln>
        </p:spPr>
        <p:txBody>
          <a:bodyPr lIns="29160" tIns="29160" rIns="29160" bIns="2916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1850" b="0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3</a:t>
            </a:r>
            <a:endParaRPr lang="ru-RU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380"/>
              </a:spcBef>
              <a:spcAft>
                <a:spcPts val="380"/>
              </a:spcAft>
              <a:buNone/>
              <a:tabLst>
                <a:tab pos="0" algn="l"/>
              </a:tabLst>
            </a:pPr>
            <a:r>
              <a:rPr lang="ru" sz="800" b="1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Управление</a:t>
            </a:r>
            <a:endParaRPr lang="ru-RU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Google Shape;89;p 8"/>
          <p:cNvSpPr/>
          <p:nvPr/>
        </p:nvSpPr>
        <p:spPr>
          <a:xfrm>
            <a:off x="5020200" y="2228760"/>
            <a:ext cx="1358640" cy="10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endParaRPr lang="ru-RU" sz="4800" b="1" u="none" strike="noStrike">
              <a:solidFill>
                <a:schemeClr val="lt1"/>
              </a:solidFill>
              <a:effectLst/>
              <a:uFillTx/>
              <a:latin typeface="Raleway"/>
            </a:endParaRPr>
          </a:p>
        </p:txBody>
      </p:sp>
      <p:sp>
        <p:nvSpPr>
          <p:cNvPr id="179" name=""/>
          <p:cNvSpPr/>
          <p:nvPr/>
        </p:nvSpPr>
        <p:spPr>
          <a:xfrm>
            <a:off x="0" y="0"/>
            <a:ext cx="4569480" cy="5141160"/>
          </a:xfrm>
          <a:prstGeom prst="rect">
            <a:avLst/>
          </a:prstGeom>
          <a:solidFill>
            <a:srgbClr val="35353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666666"/>
                </a:solidFill>
                <a:effectLst/>
                <a:uFillTx/>
                <a:latin typeface="PT Mono"/>
                <a:ea typeface="Calibri"/>
              </a:rPr>
              <a:t>PROBLEMS  OUTPUT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</a:t>
            </a:r>
            <a:r>
              <a:rPr lang="en-US" sz="1600" b="0" u="sng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TERMINAL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</a:t>
            </a:r>
            <a:r>
              <a:rPr lang="en-US" sz="1600" b="0" u="none" strike="noStrike">
                <a:solidFill>
                  <a:srgbClr val="666666"/>
                </a:solidFill>
                <a:effectLst/>
                <a:uFillTx/>
                <a:latin typeface="PT Mono"/>
                <a:ea typeface="Calibri"/>
              </a:rPr>
              <a:t>PORTS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$ docker run -d \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--name mydb \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-e POSTGRES_USER=admin \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-e POSTGRES_PASSWORD=secret \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-e POSTGRES_DB=myapp \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-v pg_data:/var/lib/postgresql/data \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postgres:15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/>
          </p:nvPr>
        </p:nvSpPr>
        <p:spPr>
          <a:xfrm>
            <a:off x="319680" y="823680"/>
            <a:ext cx="5946840" cy="618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l">
              <a:lnSpc>
                <a:spcPct val="114000"/>
              </a:lnSpc>
              <a:spcBef>
                <a:spcPts val="1417"/>
              </a:spcBef>
              <a:spcAft>
                <a:spcPts val="1596"/>
              </a:spcAft>
              <a:buNone/>
              <a:tabLst>
                <a:tab pos="0" algn="l"/>
              </a:tabLst>
            </a:pPr>
            <a:r>
              <a:rPr lang="ru" sz="3000" b="1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docker compose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Google Shape;161;p 10"/>
          <p:cNvSpPr/>
          <p:nvPr/>
        </p:nvSpPr>
        <p:spPr>
          <a:xfrm>
            <a:off x="8161920" y="161640"/>
            <a:ext cx="836640" cy="7034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accent5">
              <a:lumMod val="7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tIns="29160" rIns="29160" bIns="2916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 type="title"/>
          </p:nvPr>
        </p:nvSpPr>
        <p:spPr>
          <a:xfrm>
            <a:off x="8186400" y="189000"/>
            <a:ext cx="789480" cy="637560"/>
          </a:xfrm>
          <a:prstGeom prst="rect">
            <a:avLst/>
          </a:prstGeom>
          <a:noFill/>
          <a:ln w="0">
            <a:noFill/>
          </a:ln>
        </p:spPr>
        <p:txBody>
          <a:bodyPr lIns="29160" tIns="29160" rIns="29160" bIns="2916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1850" b="0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3</a:t>
            </a:r>
            <a:endParaRPr lang="ru-RU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380"/>
              </a:spcBef>
              <a:spcAft>
                <a:spcPts val="380"/>
              </a:spcAft>
              <a:buNone/>
              <a:tabLst>
                <a:tab pos="0" algn="l"/>
              </a:tabLst>
            </a:pPr>
            <a:r>
              <a:rPr lang="ru" sz="800" b="1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Управление</a:t>
            </a:r>
            <a:endParaRPr lang="ru-RU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Google Shape;89;p 5"/>
          <p:cNvSpPr/>
          <p:nvPr/>
        </p:nvSpPr>
        <p:spPr>
          <a:xfrm>
            <a:off x="5020200" y="2228760"/>
            <a:ext cx="1358640" cy="10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endParaRPr lang="ru-RU" sz="4800" b="1" u="none" strike="noStrike">
              <a:solidFill>
                <a:schemeClr val="lt1"/>
              </a:solidFill>
              <a:effectLst/>
              <a:uFillTx/>
              <a:latin typeface="Raleway"/>
            </a:endParaRPr>
          </a:p>
        </p:txBody>
      </p:sp>
      <p:sp>
        <p:nvSpPr>
          <p:cNvPr id="184" name=""/>
          <p:cNvSpPr/>
          <p:nvPr/>
        </p:nvSpPr>
        <p:spPr>
          <a:xfrm>
            <a:off x="0" y="0"/>
            <a:ext cx="4569480" cy="5141160"/>
          </a:xfrm>
          <a:prstGeom prst="rect">
            <a:avLst/>
          </a:prstGeom>
          <a:solidFill>
            <a:srgbClr val="35353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666666"/>
                </a:solidFill>
                <a:effectLst/>
                <a:uFillTx/>
                <a:latin typeface="PT Mono"/>
                <a:ea typeface="Calibri"/>
              </a:rPr>
              <a:t>PROBLEMS  OUTPUT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</a:t>
            </a:r>
            <a:r>
              <a:rPr lang="en-US" sz="1600" b="0" u="sng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TERMINAL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</a:t>
            </a:r>
            <a:r>
              <a:rPr lang="en-US" sz="1600" b="0" u="none" strike="noStrike">
                <a:solidFill>
                  <a:srgbClr val="666666"/>
                </a:solidFill>
                <a:effectLst/>
                <a:uFillTx/>
                <a:latin typeface="PT Mono"/>
                <a:ea typeface="Calibri"/>
              </a:rPr>
              <a:t>PORTS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$ docker run -d \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--name mydb \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-e POSTGRES_USER=admin \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-e POSTGRES_PASSWORD=secret \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-e POSTGRES_DB=myapp \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-v pg_data:/var/lib/postgresql/data \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postgres:15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$ docker run -d \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--name web \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-p 8080:80 \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-v $(pwd)/nginx.conf:/etc/nginx/nginx.conf:ro \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--link mydb:db \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nginx:alpine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/>
          </p:nvPr>
        </p:nvSpPr>
        <p:spPr>
          <a:xfrm>
            <a:off x="319680" y="823680"/>
            <a:ext cx="5946840" cy="618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l">
              <a:lnSpc>
                <a:spcPct val="114000"/>
              </a:lnSpc>
              <a:spcBef>
                <a:spcPts val="1417"/>
              </a:spcBef>
              <a:spcAft>
                <a:spcPts val="1596"/>
              </a:spcAft>
              <a:buNone/>
              <a:tabLst>
                <a:tab pos="0" algn="l"/>
              </a:tabLst>
            </a:pPr>
            <a:r>
              <a:rPr lang="ru" sz="3000" b="1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docker compose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Google Shape;161;p 12"/>
          <p:cNvSpPr/>
          <p:nvPr/>
        </p:nvSpPr>
        <p:spPr>
          <a:xfrm>
            <a:off x="8161920" y="161640"/>
            <a:ext cx="836640" cy="7034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accent5">
              <a:lumMod val="7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tIns="29160" rIns="29160" bIns="2916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 type="title"/>
          </p:nvPr>
        </p:nvSpPr>
        <p:spPr>
          <a:xfrm>
            <a:off x="8186400" y="189000"/>
            <a:ext cx="789480" cy="637560"/>
          </a:xfrm>
          <a:prstGeom prst="rect">
            <a:avLst/>
          </a:prstGeom>
          <a:noFill/>
          <a:ln w="0">
            <a:noFill/>
          </a:ln>
        </p:spPr>
        <p:txBody>
          <a:bodyPr lIns="29160" tIns="29160" rIns="29160" bIns="2916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1850" b="0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3</a:t>
            </a:r>
            <a:endParaRPr lang="ru-RU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380"/>
              </a:spcBef>
              <a:spcAft>
                <a:spcPts val="380"/>
              </a:spcAft>
              <a:buNone/>
              <a:tabLst>
                <a:tab pos="0" algn="l"/>
              </a:tabLst>
            </a:pPr>
            <a:r>
              <a:rPr lang="ru" sz="800" b="1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Управление</a:t>
            </a:r>
            <a:endParaRPr lang="ru-RU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Google Shape;89;p 7"/>
          <p:cNvSpPr/>
          <p:nvPr/>
        </p:nvSpPr>
        <p:spPr>
          <a:xfrm>
            <a:off x="5020200" y="2228760"/>
            <a:ext cx="1358640" cy="10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endParaRPr lang="ru-RU" sz="4800" b="1" u="none" strike="noStrike">
              <a:solidFill>
                <a:schemeClr val="lt1"/>
              </a:solidFill>
              <a:effectLst/>
              <a:uFillTx/>
              <a:latin typeface="Raleway"/>
            </a:endParaRPr>
          </a:p>
        </p:txBody>
      </p:sp>
      <p:sp>
        <p:nvSpPr>
          <p:cNvPr id="189" name=""/>
          <p:cNvSpPr/>
          <p:nvPr/>
        </p:nvSpPr>
        <p:spPr>
          <a:xfrm>
            <a:off x="0" y="0"/>
            <a:ext cx="4569480" cy="5141160"/>
          </a:xfrm>
          <a:prstGeom prst="rect">
            <a:avLst/>
          </a:prstGeom>
          <a:solidFill>
            <a:srgbClr val="35353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666666"/>
                </a:solidFill>
                <a:effectLst/>
                <a:uFillTx/>
                <a:latin typeface="PT Mono"/>
                <a:ea typeface="Calibri"/>
              </a:rPr>
              <a:t>PROBLEMS  OUTPUT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</a:t>
            </a:r>
            <a:r>
              <a:rPr lang="en-US" sz="1600" b="0" u="sng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TERMINAL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</a:t>
            </a:r>
            <a:r>
              <a:rPr lang="en-US" sz="1600" b="0" u="none" strike="noStrike">
                <a:solidFill>
                  <a:srgbClr val="666666"/>
                </a:solidFill>
                <a:effectLst/>
                <a:uFillTx/>
                <a:latin typeface="PT Mono"/>
                <a:ea typeface="Calibri"/>
              </a:rPr>
              <a:t>PORTS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$ docker run -d \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--name mydb \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-e POSTGRES_USER=admin \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-e POSTGRES_PASSWORD=secret \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-e POSTGRES_DB=myapp \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-v pg_data:/var/lib/postgresql/data \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postgres:15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$ docker run -d \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--name web \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-p 8080:80 \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-v $(pwd)/nginx.conf:/etc/nginx/nginx.conf:ro \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--link mydb:db \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nginx:alpine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4800600" y="1444320"/>
            <a:ext cx="4112280" cy="314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Запустить контейнер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Остановить контейнер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Поменять конфигурацию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Запустить контейнер(ы) снова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/>
          </p:nvPr>
        </p:nvSpPr>
        <p:spPr>
          <a:xfrm>
            <a:off x="319680" y="823680"/>
            <a:ext cx="5946840" cy="618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l">
              <a:lnSpc>
                <a:spcPct val="114000"/>
              </a:lnSpc>
              <a:spcBef>
                <a:spcPts val="1417"/>
              </a:spcBef>
              <a:spcAft>
                <a:spcPts val="1596"/>
              </a:spcAft>
              <a:buNone/>
              <a:tabLst>
                <a:tab pos="0" algn="l"/>
              </a:tabLst>
            </a:pPr>
            <a:r>
              <a:rPr lang="ru" sz="3000" b="1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docker-compose.yml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Google Shape;161;p 11"/>
          <p:cNvSpPr/>
          <p:nvPr/>
        </p:nvSpPr>
        <p:spPr>
          <a:xfrm>
            <a:off x="8161920" y="161640"/>
            <a:ext cx="836640" cy="7034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accent5">
              <a:lumMod val="7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tIns="29160" rIns="29160" bIns="2916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title"/>
          </p:nvPr>
        </p:nvSpPr>
        <p:spPr>
          <a:xfrm>
            <a:off x="8186400" y="189000"/>
            <a:ext cx="789480" cy="637560"/>
          </a:xfrm>
          <a:prstGeom prst="rect">
            <a:avLst/>
          </a:prstGeom>
          <a:noFill/>
          <a:ln w="0">
            <a:noFill/>
          </a:ln>
        </p:spPr>
        <p:txBody>
          <a:bodyPr lIns="29160" tIns="29160" rIns="29160" bIns="2916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1850" b="0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3</a:t>
            </a:r>
            <a:endParaRPr lang="ru-RU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380"/>
              </a:spcBef>
              <a:spcAft>
                <a:spcPts val="380"/>
              </a:spcAft>
              <a:buNone/>
              <a:tabLst>
                <a:tab pos="0" algn="l"/>
              </a:tabLst>
            </a:pPr>
            <a:r>
              <a:rPr lang="ru" sz="800" b="1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Управление</a:t>
            </a:r>
            <a:endParaRPr lang="ru-RU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Google Shape;89;p 6"/>
          <p:cNvSpPr/>
          <p:nvPr/>
        </p:nvSpPr>
        <p:spPr>
          <a:xfrm>
            <a:off x="5020200" y="2228760"/>
            <a:ext cx="1358640" cy="10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endParaRPr lang="ru-RU" sz="4800" b="1" u="none" strike="noStrike">
              <a:solidFill>
                <a:schemeClr val="lt1"/>
              </a:solidFill>
              <a:effectLst/>
              <a:uFillTx/>
              <a:latin typeface="Raleway"/>
            </a:endParaRPr>
          </a:p>
        </p:txBody>
      </p:sp>
      <p:sp>
        <p:nvSpPr>
          <p:cNvPr id="195" name=""/>
          <p:cNvSpPr/>
          <p:nvPr/>
        </p:nvSpPr>
        <p:spPr>
          <a:xfrm>
            <a:off x="0" y="0"/>
            <a:ext cx="4340880" cy="5141160"/>
          </a:xfrm>
          <a:prstGeom prst="rect">
            <a:avLst/>
          </a:prstGeom>
          <a:solidFill>
            <a:srgbClr val="35353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666666"/>
                </a:solidFill>
                <a:effectLst/>
                <a:uFillTx/>
                <a:latin typeface="PT Mono"/>
                <a:ea typeface="Calibri"/>
              </a:rPr>
              <a:t>PROBLEMS  OUTPUT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</a:t>
            </a:r>
            <a:r>
              <a:rPr lang="en-US" sz="1600" b="0" u="sng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TERMINAL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</a:t>
            </a:r>
            <a:r>
              <a:rPr lang="en-US" sz="1600" b="0" u="none" strike="noStrike">
                <a:solidFill>
                  <a:srgbClr val="666666"/>
                </a:solidFill>
                <a:effectLst/>
                <a:uFillTx/>
                <a:latin typeface="PT Mono"/>
                <a:ea typeface="Calibri"/>
              </a:rPr>
              <a:t>PORTS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$ docker compose up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$ docker compose down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4572000" y="0"/>
            <a:ext cx="4569480" cy="5141160"/>
          </a:xfrm>
          <a:prstGeom prst="rect">
            <a:avLst/>
          </a:prstGeom>
          <a:solidFill>
            <a:srgbClr val="353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200" b="0" u="sng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docker-compose.yml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services: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db: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image: postgres:15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container_name: mydb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environment: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  POSTGRES_USER: admin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  POSTGRES_PASSWORD: secret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  POSTGRES_DB: myapp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volumes: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  - pg_data:/var/lib/postgresql/data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web: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image: nginx:alpine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container_name: web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ports: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  - "8080:80"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volumes: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  - ./nginx.conf:/etc/nginx/nginx.conf:ro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depends_on: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  - db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volumes: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pg_data: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4572000" y="360"/>
            <a:ext cx="4569480" cy="226080"/>
          </a:xfrm>
          <a:prstGeom prst="rect">
            <a:avLst/>
          </a:prstGeom>
          <a:solidFill>
            <a:srgbClr val="53535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PT Mono"/>
            </a:endParaRPr>
          </a:p>
        </p:txBody>
      </p:sp>
      <p:sp>
        <p:nvSpPr>
          <p:cNvPr id="198" name=""/>
          <p:cNvSpPr/>
          <p:nvPr/>
        </p:nvSpPr>
        <p:spPr>
          <a:xfrm>
            <a:off x="4572000" y="0"/>
            <a:ext cx="1826280" cy="226080"/>
          </a:xfrm>
          <a:prstGeom prst="rect">
            <a:avLst/>
          </a:prstGeom>
          <a:solidFill>
            <a:srgbClr val="353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200" b="0" u="sng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docker-compose.yml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/>
          </p:nvPr>
        </p:nvSpPr>
        <p:spPr>
          <a:xfrm>
            <a:off x="319680" y="823680"/>
            <a:ext cx="5946840" cy="618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l">
              <a:lnSpc>
                <a:spcPct val="114000"/>
              </a:lnSpc>
              <a:spcBef>
                <a:spcPts val="1417"/>
              </a:spcBef>
              <a:spcAft>
                <a:spcPts val="1596"/>
              </a:spcAft>
              <a:buNone/>
              <a:tabLst>
                <a:tab pos="0" algn="l"/>
              </a:tabLst>
            </a:pPr>
            <a:r>
              <a:rPr lang="ru" sz="3000" b="1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Что можно конфигурировать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Google Shape;161;p 9"/>
          <p:cNvSpPr/>
          <p:nvPr/>
        </p:nvSpPr>
        <p:spPr>
          <a:xfrm>
            <a:off x="8161920" y="161640"/>
            <a:ext cx="836640" cy="7034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accent5">
              <a:lumMod val="7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tIns="29160" rIns="29160" bIns="2916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title"/>
          </p:nvPr>
        </p:nvSpPr>
        <p:spPr>
          <a:xfrm>
            <a:off x="8186400" y="189000"/>
            <a:ext cx="789480" cy="637560"/>
          </a:xfrm>
          <a:prstGeom prst="rect">
            <a:avLst/>
          </a:prstGeom>
          <a:noFill/>
          <a:ln w="0">
            <a:noFill/>
          </a:ln>
        </p:spPr>
        <p:txBody>
          <a:bodyPr lIns="29160" tIns="29160" rIns="29160" bIns="2916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1850" b="0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3</a:t>
            </a:r>
            <a:endParaRPr lang="ru-RU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380"/>
              </a:spcBef>
              <a:spcAft>
                <a:spcPts val="380"/>
              </a:spcAft>
              <a:buNone/>
              <a:tabLst>
                <a:tab pos="0" algn="l"/>
              </a:tabLst>
            </a:pPr>
            <a:r>
              <a:rPr lang="ru" sz="800" b="1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Управление</a:t>
            </a:r>
            <a:endParaRPr lang="ru-RU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Google Shape;89;p 4"/>
          <p:cNvSpPr/>
          <p:nvPr/>
        </p:nvSpPr>
        <p:spPr>
          <a:xfrm>
            <a:off x="5020200" y="2228760"/>
            <a:ext cx="1358640" cy="10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endParaRPr lang="ru-RU" sz="4800" b="1" u="none" strike="noStrike">
              <a:solidFill>
                <a:schemeClr val="lt1"/>
              </a:solidFill>
              <a:effectLst/>
              <a:uFillTx/>
              <a:latin typeface="Raleway"/>
            </a:endParaRPr>
          </a:p>
        </p:txBody>
      </p:sp>
      <p:sp>
        <p:nvSpPr>
          <p:cNvPr id="203" name=""/>
          <p:cNvSpPr/>
          <p:nvPr/>
        </p:nvSpPr>
        <p:spPr>
          <a:xfrm>
            <a:off x="350280" y="1914120"/>
            <a:ext cx="8245440" cy="17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tIns="45000" rIns="90000" bIns="45000" anchor="t">
            <a:spAutoFit/>
          </a:bodyPr>
          <a:p>
            <a:pPr marL="239760" indent="-23976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ru-RU" sz="2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Без пересборки образа, для каждого инстанса контейнера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9760" indent="-23976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ru-RU" sz="2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Основное: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9720" lvl="1" indent="-23976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ru-RU" sz="2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Порты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9720" lvl="1" indent="-23976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ru-RU" sz="2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Переменные среды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9720" lvl="1" indent="-23976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ru-RU" sz="2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Вольюмы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/>
          </p:nvPr>
        </p:nvSpPr>
        <p:spPr>
          <a:xfrm>
            <a:off x="319680" y="823680"/>
            <a:ext cx="5946840" cy="618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l">
              <a:lnSpc>
                <a:spcPct val="114000"/>
              </a:lnSpc>
              <a:spcBef>
                <a:spcPts val="1417"/>
              </a:spcBef>
              <a:spcAft>
                <a:spcPts val="1596"/>
              </a:spcAft>
              <a:buNone/>
              <a:tabLst>
                <a:tab pos="0" algn="l"/>
              </a:tabLst>
            </a:pPr>
            <a:r>
              <a:rPr lang="ru" sz="3000" b="1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Публикация портов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Google Shape;161;p 15"/>
          <p:cNvSpPr/>
          <p:nvPr/>
        </p:nvSpPr>
        <p:spPr>
          <a:xfrm>
            <a:off x="8161920" y="161640"/>
            <a:ext cx="836640" cy="7034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accent5">
              <a:lumMod val="7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tIns="29160" rIns="29160" bIns="2916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title"/>
          </p:nvPr>
        </p:nvSpPr>
        <p:spPr>
          <a:xfrm>
            <a:off x="8186400" y="189000"/>
            <a:ext cx="789480" cy="637560"/>
          </a:xfrm>
          <a:prstGeom prst="rect">
            <a:avLst/>
          </a:prstGeom>
          <a:noFill/>
          <a:ln w="0">
            <a:noFill/>
          </a:ln>
        </p:spPr>
        <p:txBody>
          <a:bodyPr lIns="29160" tIns="29160" rIns="29160" bIns="2916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1850" b="0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3</a:t>
            </a:r>
            <a:endParaRPr lang="ru-RU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380"/>
              </a:spcBef>
              <a:spcAft>
                <a:spcPts val="380"/>
              </a:spcAft>
              <a:buNone/>
              <a:tabLst>
                <a:tab pos="0" algn="l"/>
              </a:tabLst>
            </a:pPr>
            <a:r>
              <a:rPr lang="ru" sz="800" b="1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Управление</a:t>
            </a:r>
            <a:endParaRPr lang="ru-RU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Google Shape;89;p 10"/>
          <p:cNvSpPr/>
          <p:nvPr/>
        </p:nvSpPr>
        <p:spPr>
          <a:xfrm>
            <a:off x="5020200" y="2228760"/>
            <a:ext cx="1358640" cy="10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endParaRPr lang="ru-RU" sz="4800" b="1" u="none" strike="noStrike">
              <a:solidFill>
                <a:schemeClr val="lt1"/>
              </a:solidFill>
              <a:effectLst/>
              <a:uFillTx/>
              <a:latin typeface="Raleway"/>
            </a:endParaRPr>
          </a:p>
        </p:txBody>
      </p:sp>
      <p:sp>
        <p:nvSpPr>
          <p:cNvPr id="208" name=""/>
          <p:cNvSpPr/>
          <p:nvPr/>
        </p:nvSpPr>
        <p:spPr>
          <a:xfrm>
            <a:off x="4572000" y="0"/>
            <a:ext cx="4569480" cy="5141160"/>
          </a:xfrm>
          <a:prstGeom prst="rect">
            <a:avLst/>
          </a:prstGeom>
          <a:solidFill>
            <a:srgbClr val="353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services: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orders-api: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    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image: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docker-lab/orders-api:latest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    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container_name: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backend-orders-api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    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build: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        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context: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.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        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dockerfile: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Dockerfile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    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ports: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        - "8081:8080"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    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4572000" y="360"/>
            <a:ext cx="4569480" cy="226080"/>
          </a:xfrm>
          <a:prstGeom prst="rect">
            <a:avLst/>
          </a:prstGeom>
          <a:solidFill>
            <a:srgbClr val="53535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PT Mono"/>
            </a:endParaRPr>
          </a:p>
        </p:txBody>
      </p:sp>
      <p:sp>
        <p:nvSpPr>
          <p:cNvPr id="210" name=""/>
          <p:cNvSpPr/>
          <p:nvPr/>
        </p:nvSpPr>
        <p:spPr>
          <a:xfrm>
            <a:off x="4572000" y="0"/>
            <a:ext cx="1826280" cy="454680"/>
          </a:xfrm>
          <a:prstGeom prst="rect">
            <a:avLst/>
          </a:prstGeom>
          <a:solidFill>
            <a:srgbClr val="353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00" b="0" u="sng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docker-compose.yml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457200" y="2057400"/>
            <a:ext cx="3883680" cy="178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ports: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- “</a:t>
            </a:r>
            <a:r>
              <a:rPr lang="ru-RU" sz="2400" b="1" u="none" strike="noStrike">
                <a:solidFill>
                  <a:srgbClr val="F46524"/>
                </a:solidFill>
                <a:effectLst/>
                <a:uFillTx/>
                <a:latin typeface="Arial"/>
                <a:ea typeface="Arial"/>
              </a:rPr>
              <a:t>source</a:t>
            </a:r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</a:t>
            </a:r>
            <a:r>
              <a:rPr lang="ru-RU" sz="2400" b="1" u="none" strike="noStrike">
                <a:solidFill>
                  <a:srgbClr val="2A6099"/>
                </a:solidFill>
                <a:effectLst/>
                <a:uFillTx/>
                <a:latin typeface="Arial"/>
                <a:ea typeface="Arial"/>
              </a:rPr>
              <a:t>target</a:t>
            </a:r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”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- “</a:t>
            </a:r>
            <a:r>
              <a:rPr lang="ru-RU" sz="2400" b="1" u="none" strike="noStrike">
                <a:solidFill>
                  <a:srgbClr val="F46524"/>
                </a:solidFill>
                <a:effectLst/>
                <a:uFillTx/>
                <a:latin typeface="Arial"/>
                <a:ea typeface="Arial"/>
              </a:rPr>
              <a:t>хост</a:t>
            </a:r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</a:t>
            </a:r>
            <a:r>
              <a:rPr lang="ru-RU" sz="2400" b="1" u="none" strike="noStrike">
                <a:solidFill>
                  <a:srgbClr val="2A6099"/>
                </a:solidFill>
                <a:effectLst/>
                <a:uFillTx/>
                <a:latin typeface="Arial"/>
                <a:ea typeface="Arial"/>
              </a:rPr>
              <a:t>контейнер</a:t>
            </a:r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”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- “</a:t>
            </a:r>
            <a:r>
              <a:rPr lang="ru-RU" sz="2400" b="1" u="none" strike="noStrike">
                <a:solidFill>
                  <a:srgbClr val="F46524"/>
                </a:solidFill>
                <a:effectLst/>
                <a:uFillTx/>
                <a:latin typeface="Arial"/>
                <a:ea typeface="Arial"/>
              </a:rPr>
              <a:t>8081</a:t>
            </a:r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</a:t>
            </a:r>
            <a:r>
              <a:rPr lang="ru-RU" sz="2400" b="1" u="none" strike="noStrike">
                <a:solidFill>
                  <a:srgbClr val="2A6099"/>
                </a:solidFill>
                <a:effectLst/>
                <a:uFillTx/>
                <a:latin typeface="Arial"/>
                <a:ea typeface="Arial"/>
              </a:rPr>
              <a:t>8080</a:t>
            </a:r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”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/>
          </p:nvPr>
        </p:nvSpPr>
        <p:spPr>
          <a:xfrm>
            <a:off x="319680" y="823680"/>
            <a:ext cx="4249800" cy="618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l">
              <a:lnSpc>
                <a:spcPct val="114000"/>
              </a:lnSpc>
              <a:spcBef>
                <a:spcPts val="1417"/>
              </a:spcBef>
              <a:spcAft>
                <a:spcPts val="1596"/>
              </a:spcAft>
              <a:buNone/>
              <a:tabLst>
                <a:tab pos="0" algn="l"/>
              </a:tabLst>
            </a:pPr>
            <a:r>
              <a:rPr lang="ru" sz="3000" b="1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Переменные окружения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Google Shape;161;p 16"/>
          <p:cNvSpPr/>
          <p:nvPr/>
        </p:nvSpPr>
        <p:spPr>
          <a:xfrm>
            <a:off x="8161920" y="161640"/>
            <a:ext cx="836640" cy="7034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accent5">
              <a:lumMod val="7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tIns="29160" rIns="29160" bIns="2916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 type="title"/>
          </p:nvPr>
        </p:nvSpPr>
        <p:spPr>
          <a:xfrm>
            <a:off x="8186400" y="189000"/>
            <a:ext cx="789480" cy="637560"/>
          </a:xfrm>
          <a:prstGeom prst="rect">
            <a:avLst/>
          </a:prstGeom>
          <a:noFill/>
          <a:ln w="0">
            <a:noFill/>
          </a:ln>
        </p:spPr>
        <p:txBody>
          <a:bodyPr lIns="29160" tIns="29160" rIns="29160" bIns="2916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1850" b="0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3</a:t>
            </a:r>
            <a:endParaRPr lang="ru-RU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380"/>
              </a:spcBef>
              <a:spcAft>
                <a:spcPts val="380"/>
              </a:spcAft>
              <a:buNone/>
              <a:tabLst>
                <a:tab pos="0" algn="l"/>
              </a:tabLst>
            </a:pPr>
            <a:r>
              <a:rPr lang="ru" sz="800" b="1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Управление</a:t>
            </a:r>
            <a:endParaRPr lang="ru-RU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Google Shape;89;p 11"/>
          <p:cNvSpPr/>
          <p:nvPr/>
        </p:nvSpPr>
        <p:spPr>
          <a:xfrm>
            <a:off x="5020200" y="2228760"/>
            <a:ext cx="1358640" cy="10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endParaRPr lang="ru-RU" sz="4800" b="1" u="none" strike="noStrike">
              <a:solidFill>
                <a:schemeClr val="lt1"/>
              </a:solidFill>
              <a:effectLst/>
              <a:uFillTx/>
              <a:latin typeface="Raleway"/>
            </a:endParaRPr>
          </a:p>
        </p:txBody>
      </p:sp>
      <p:sp>
        <p:nvSpPr>
          <p:cNvPr id="216" name=""/>
          <p:cNvSpPr/>
          <p:nvPr/>
        </p:nvSpPr>
        <p:spPr>
          <a:xfrm>
            <a:off x="4572000" y="0"/>
            <a:ext cx="4569480" cy="5141160"/>
          </a:xfrm>
          <a:prstGeom prst="rect">
            <a:avLst/>
          </a:prstGeom>
          <a:solidFill>
            <a:srgbClr val="353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s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e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r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v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i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c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e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s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: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o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r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d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e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r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s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-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a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p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i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: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i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m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a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g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e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: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d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o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c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k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e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r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-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a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b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/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o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r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d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e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r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s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-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a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p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i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: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a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e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s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c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o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n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t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a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i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n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e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r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_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n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a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m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e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: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b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a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c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k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e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n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d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-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o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r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d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e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r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s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-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a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p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i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b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u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i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l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d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: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c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o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n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t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e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x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t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: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.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d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o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c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k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e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r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f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i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l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e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: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D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o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c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k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e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r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f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i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e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p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o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r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t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s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: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-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"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8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0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8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1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: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8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0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8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0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"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e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n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v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i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r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o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n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m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e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n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t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: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D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B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_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P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A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H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: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/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d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a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a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/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o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r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d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e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r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s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.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d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b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D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E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B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U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G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: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$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{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D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E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B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U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G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}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e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n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v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_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f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i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l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e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: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"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.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e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n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v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"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4572000" y="360"/>
            <a:ext cx="4569480" cy="226080"/>
          </a:xfrm>
          <a:prstGeom prst="rect">
            <a:avLst/>
          </a:prstGeom>
          <a:solidFill>
            <a:srgbClr val="53535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PT Mono"/>
            </a:endParaRPr>
          </a:p>
        </p:txBody>
      </p:sp>
      <p:sp>
        <p:nvSpPr>
          <p:cNvPr id="218" name=""/>
          <p:cNvSpPr/>
          <p:nvPr/>
        </p:nvSpPr>
        <p:spPr>
          <a:xfrm>
            <a:off x="4572000" y="0"/>
            <a:ext cx="1826280" cy="454680"/>
          </a:xfrm>
          <a:prstGeom prst="rect">
            <a:avLst/>
          </a:prstGeom>
          <a:solidFill>
            <a:srgbClr val="353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00" b="0" u="sng" strike="noStrike">
                <a:solidFill>
                  <a:srgbClr val="FFFFFF"/>
                </a:solidFill>
                <a:effectLst/>
                <a:uFillTx/>
                <a:latin typeface="PT Mono"/>
                <a:ea typeface="Calibri"/>
              </a:rPr>
              <a:t>docker-compose.yml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457200" y="1828800"/>
            <a:ext cx="3883680" cy="37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envir</a:t>
            </a:r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onm</a:t>
            </a:r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ent: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 </a:t>
            </a:r>
            <a:r>
              <a:rPr lang="ru-RU" sz="2400" b="1" u="none" strike="noStrike">
                <a:solidFill>
                  <a:srgbClr val="F46524"/>
                </a:solidFill>
                <a:effectLst/>
                <a:uFillTx/>
                <a:latin typeface="Arial"/>
                <a:ea typeface="Arial"/>
              </a:rPr>
              <a:t>ИМЯ</a:t>
            </a:r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 </a:t>
            </a:r>
            <a:r>
              <a:rPr lang="ru-RU" sz="2400" b="1" u="none" strike="noStrike">
                <a:solidFill>
                  <a:srgbClr val="2A6099"/>
                </a:solidFill>
                <a:effectLst/>
                <a:uFillTx/>
                <a:latin typeface="Arial"/>
                <a:ea typeface="Arial"/>
              </a:rPr>
              <a:t>знач</a:t>
            </a:r>
            <a:r>
              <a:rPr lang="ru-RU" sz="2400" b="1" u="none" strike="noStrike">
                <a:solidFill>
                  <a:srgbClr val="2A6099"/>
                </a:solidFill>
                <a:effectLst/>
                <a:uFillTx/>
                <a:latin typeface="Arial"/>
                <a:ea typeface="Arial"/>
              </a:rPr>
              <a:t>ение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 </a:t>
            </a:r>
            <a:r>
              <a:rPr lang="ru-RU" sz="2400" b="1" u="none" strike="noStrike">
                <a:solidFill>
                  <a:srgbClr val="F46524"/>
                </a:solidFill>
                <a:effectLst/>
                <a:uFillTx/>
                <a:latin typeface="Arial"/>
                <a:ea typeface="Arial"/>
              </a:rPr>
              <a:t>DEB</a:t>
            </a:r>
            <a:r>
              <a:rPr lang="ru-RU" sz="2400" b="1" u="none" strike="noStrike">
                <a:solidFill>
                  <a:srgbClr val="F46524"/>
                </a:solidFill>
                <a:effectLst/>
                <a:uFillTx/>
                <a:latin typeface="Arial"/>
                <a:ea typeface="Arial"/>
              </a:rPr>
              <a:t>UG</a:t>
            </a:r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 </a:t>
            </a:r>
            <a:r>
              <a:rPr lang="ru-RU" sz="2400" b="1" u="none" strike="noStrike">
                <a:solidFill>
                  <a:srgbClr val="2A6099"/>
                </a:solidFill>
                <a:effectLst/>
                <a:uFillTx/>
                <a:latin typeface="Arial"/>
                <a:ea typeface="Arial"/>
              </a:rPr>
              <a:t>true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env_</a:t>
            </a:r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file:</a:t>
            </a:r>
            <a:r>
              <a:rPr lang="ru-RU" sz="2400" b="1" u="none" strike="noStrike">
                <a:solidFill>
                  <a:srgbClr val="2A6099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ru-RU" sz="2400" b="1" u="none" strike="noStrike">
                <a:solidFill>
                  <a:srgbClr val="F46524"/>
                </a:solidFill>
                <a:effectLst/>
                <a:uFillTx/>
                <a:latin typeface="Arial"/>
                <a:ea typeface="Arial"/>
              </a:rPr>
              <a:t>&lt;пут</a:t>
            </a:r>
            <a:r>
              <a:rPr lang="ru-RU" sz="2400" b="1" u="none" strike="noStrike">
                <a:solidFill>
                  <a:srgbClr val="F46524"/>
                </a:solidFill>
                <a:effectLst/>
                <a:uFillTx/>
                <a:latin typeface="Arial"/>
                <a:ea typeface="Arial"/>
              </a:rPr>
              <a:t>ь к </a:t>
            </a:r>
            <a:r>
              <a:rPr lang="ru-RU" sz="2400" b="1" u="none" strike="noStrike">
                <a:solidFill>
                  <a:srgbClr val="F46524"/>
                </a:solidFill>
                <a:effectLst/>
                <a:uFillTx/>
                <a:latin typeface="Arial"/>
                <a:ea typeface="Arial"/>
              </a:rPr>
              <a:t>фай</a:t>
            </a:r>
            <a:r>
              <a:rPr lang="ru-RU" sz="2400" b="1" u="none" strike="noStrike">
                <a:solidFill>
                  <a:srgbClr val="F46524"/>
                </a:solidFill>
                <a:effectLst/>
                <a:uFillTx/>
                <a:latin typeface="Arial"/>
                <a:ea typeface="Arial"/>
              </a:rPr>
              <a:t>лу&gt;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151;p 2"/>
          <p:cNvPicPr/>
          <p:nvPr/>
        </p:nvPicPr>
        <p:blipFill>
          <a:blip r:embed="rId1"/>
          <a:stretch/>
        </p:blipFill>
        <p:spPr>
          <a:xfrm>
            <a:off x="2444760" y="162720"/>
            <a:ext cx="4250880" cy="4814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1" name="Google Shape;152;p 2" descr="Кусок клейкой ленты, который удерживает заметку на слайде"/>
          <p:cNvPicPr/>
          <p:nvPr/>
        </p:nvPicPr>
        <p:blipFill>
          <a:blip r:embed="rId2"/>
          <a:srcRect l="9242" t="5927" r="2118" b="10007"/>
          <a:stretch/>
        </p:blipFill>
        <p:spPr>
          <a:xfrm rot="154800">
            <a:off x="3535920" y="147240"/>
            <a:ext cx="2068560" cy="73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2" name="Google Shape;153;p 2"/>
          <p:cNvSpPr/>
          <p:nvPr/>
        </p:nvSpPr>
        <p:spPr>
          <a:xfrm>
            <a:off x="2855520" y="687240"/>
            <a:ext cx="3429360" cy="10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b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2800" b="1" u="none" strike="noStrike">
                <a:solidFill>
                  <a:schemeClr val="lt2"/>
                </a:solidFill>
                <a:effectLst/>
                <a:uFillTx/>
                <a:latin typeface="Raleway"/>
                <a:ea typeface="Raleway"/>
              </a:rPr>
              <a:t>Вопросы к слушателям!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8"/>
          <p:cNvSpPr/>
          <p:nvPr/>
        </p:nvSpPr>
        <p:spPr>
          <a:xfrm>
            <a:off x="2855520" y="1702080"/>
            <a:ext cx="3429360" cy="29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pPr marL="457200" indent="-343080" defTabSz="914400">
              <a:lnSpc>
                <a:spcPct val="114000"/>
              </a:lnSpc>
              <a:spcBef>
                <a:spcPts val="1417"/>
              </a:spcBef>
              <a:buClr>
                <a:srgbClr val="0070C0"/>
              </a:buClr>
              <a:buFont typeface="OpenSymbol" charset="2"/>
              <a:buAutoNum type="arabicParenR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Raleway"/>
              </a:rPr>
              <a:t>Зачем нужен </a:t>
            </a:r>
            <a:r>
              <a:rPr lang="ru-RU" sz="1600" b="0" u="none" strike="noStrike">
                <a:solidFill>
                  <a:srgbClr val="FFFFD7"/>
                </a:solidFill>
                <a:effectLst/>
                <a:highlight>
                  <a:srgbClr val="2A6099"/>
                </a:highlight>
                <a:uFillTx/>
                <a:latin typeface="Arial"/>
                <a:ea typeface="Raleway"/>
              </a:rPr>
              <a:t>docker compose</a:t>
            </a: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Raleway"/>
              </a:rPr>
              <a:t>, если есть </a:t>
            </a:r>
            <a:r>
              <a:rPr lang="ru-RU" sz="1600" b="0" u="none" strike="noStrike">
                <a:solidFill>
                  <a:srgbClr val="FFFFD7"/>
                </a:solidFill>
                <a:effectLst/>
                <a:highlight>
                  <a:srgbClr val="2A6099"/>
                </a:highlight>
                <a:uFillTx/>
                <a:latin typeface="Arial"/>
                <a:ea typeface="Raleway"/>
              </a:rPr>
              <a:t>docker run</a:t>
            </a: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Raleway"/>
              </a:rPr>
              <a:t>?  Назовите хотя бы 2 причины.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defTabSz="914400">
              <a:lnSpc>
                <a:spcPct val="114000"/>
              </a:lnSpc>
              <a:spcBef>
                <a:spcPts val="1417"/>
              </a:spcBef>
              <a:buClr>
                <a:srgbClr val="0070C0"/>
              </a:buClr>
              <a:buFont typeface="OpenSymbol" charset="2"/>
              <a:buAutoNum type="arabicParenR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Raleway"/>
              </a:rPr>
              <a:t>В записи </a:t>
            </a:r>
            <a:r>
              <a:rPr lang="ru-RU" sz="1600" b="0" u="none" strike="noStrike">
                <a:solidFill>
                  <a:srgbClr val="FFFFD7"/>
                </a:solidFill>
                <a:effectLst/>
                <a:highlight>
                  <a:srgbClr val="2A6099"/>
                </a:highlight>
                <a:uFillTx/>
                <a:latin typeface="Arial"/>
                <a:ea typeface="Raleway"/>
              </a:rPr>
              <a:t>ports: - "8081:8080"</a:t>
            </a: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Raleway"/>
              </a:rPr>
              <a:t> —  какое число «хостовое», а какое «контейнерное»?  Что увидит пользователь в браузере?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151;p 3"/>
          <p:cNvPicPr/>
          <p:nvPr/>
        </p:nvPicPr>
        <p:blipFill>
          <a:blip r:embed="rId1"/>
          <a:stretch/>
        </p:blipFill>
        <p:spPr>
          <a:xfrm>
            <a:off x="2444760" y="162720"/>
            <a:ext cx="4250880" cy="4814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5" name="Google Shape;152;p 3" descr="Кусок клейкой ленты, который удерживает заметку на слайде"/>
          <p:cNvPicPr/>
          <p:nvPr/>
        </p:nvPicPr>
        <p:blipFill>
          <a:blip r:embed="rId2"/>
          <a:srcRect l="9242" t="5927" r="2118" b="10007"/>
          <a:stretch/>
        </p:blipFill>
        <p:spPr>
          <a:xfrm rot="154800">
            <a:off x="3535920" y="147240"/>
            <a:ext cx="2068560" cy="73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6" name="Google Shape;153;p 3"/>
          <p:cNvSpPr/>
          <p:nvPr/>
        </p:nvSpPr>
        <p:spPr>
          <a:xfrm>
            <a:off x="2855520" y="687240"/>
            <a:ext cx="3429360" cy="10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b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2800" b="1" u="none" strike="noStrike">
                <a:solidFill>
                  <a:schemeClr val="lt2"/>
                </a:solidFill>
                <a:effectLst/>
                <a:uFillTx/>
                <a:latin typeface="Raleway"/>
                <a:ea typeface="Raleway"/>
              </a:rPr>
              <a:t>Вопросы к слушателям!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9"/>
          <p:cNvSpPr/>
          <p:nvPr/>
        </p:nvSpPr>
        <p:spPr>
          <a:xfrm>
            <a:off x="2855520" y="1702080"/>
            <a:ext cx="3429360" cy="29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pPr marL="457200" indent="-343080" defTabSz="914400">
              <a:lnSpc>
                <a:spcPct val="114000"/>
              </a:lnSpc>
              <a:spcBef>
                <a:spcPts val="1417"/>
              </a:spcBef>
              <a:buClr>
                <a:srgbClr val="0070C0"/>
              </a:buClr>
              <a:buFont typeface="OpenSymbol" charset="2"/>
              <a:buAutoNum type="arabicParenR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Raleway"/>
              </a:rPr>
              <a:t>Зачем нужен </a:t>
            </a:r>
            <a:r>
              <a:rPr lang="ru-RU" sz="1600" b="0" u="none" strike="noStrike">
                <a:solidFill>
                  <a:srgbClr val="FFFFD7"/>
                </a:solidFill>
                <a:effectLst/>
                <a:highlight>
                  <a:srgbClr val="2A6099"/>
                </a:highlight>
                <a:uFillTx/>
                <a:latin typeface="Arial"/>
                <a:ea typeface="Raleway"/>
              </a:rPr>
              <a:t>docker compose</a:t>
            </a: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Raleway"/>
              </a:rPr>
              <a:t>, если есть </a:t>
            </a:r>
            <a:r>
              <a:rPr lang="ru-RU" sz="1600" b="0" u="none" strike="noStrike">
                <a:solidFill>
                  <a:srgbClr val="FFFFD7"/>
                </a:solidFill>
                <a:effectLst/>
                <a:highlight>
                  <a:srgbClr val="2A6099"/>
                </a:highlight>
                <a:uFillTx/>
                <a:latin typeface="Arial"/>
                <a:ea typeface="Raleway"/>
              </a:rPr>
              <a:t>docker run</a:t>
            </a: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Raleway"/>
              </a:rPr>
              <a:t>?  Назовите хотя бы 2 причины.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defTabSz="914400">
              <a:lnSpc>
                <a:spcPct val="114000"/>
              </a:lnSpc>
              <a:spcBef>
                <a:spcPts val="1417"/>
              </a:spcBef>
              <a:buClr>
                <a:srgbClr val="0070C0"/>
              </a:buClr>
              <a:buFont typeface="OpenSymbol" charset="2"/>
              <a:buAutoNum type="arabicParenR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Raleway"/>
              </a:rPr>
              <a:t>В записи </a:t>
            </a:r>
            <a:r>
              <a:rPr lang="ru-RU" sz="1600" b="0" u="none" strike="noStrike">
                <a:solidFill>
                  <a:srgbClr val="FFFFD7"/>
                </a:solidFill>
                <a:effectLst/>
                <a:highlight>
                  <a:srgbClr val="2A6099"/>
                </a:highlight>
                <a:uFillTx/>
                <a:latin typeface="Arial"/>
                <a:ea typeface="Raleway"/>
              </a:rPr>
              <a:t>ports: - "8081:8080"</a:t>
            </a: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Raleway"/>
              </a:rPr>
              <a:t> —  какое число «хостовое», а какое «контейнерное»?  Что увидит пользователь в браузере?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70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151;p22"/>
          <p:cNvPicPr/>
          <p:nvPr/>
        </p:nvPicPr>
        <p:blipFill>
          <a:blip r:embed="rId1"/>
          <a:stretch/>
        </p:blipFill>
        <p:spPr>
          <a:xfrm>
            <a:off x="2444760" y="162720"/>
            <a:ext cx="4250880" cy="4814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9" name="Google Shape;152;p22" descr="Кусок клейкой ленты, который удерживает заметку на слайде"/>
          <p:cNvPicPr/>
          <p:nvPr/>
        </p:nvPicPr>
        <p:blipFill>
          <a:blip r:embed="rId2"/>
          <a:srcRect l="9242" t="5927" r="2118" b="10007"/>
          <a:stretch/>
        </p:blipFill>
        <p:spPr>
          <a:xfrm rot="154800">
            <a:off x="3535920" y="147240"/>
            <a:ext cx="2068560" cy="73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0" name="Google Shape;153;p22"/>
          <p:cNvSpPr/>
          <p:nvPr/>
        </p:nvSpPr>
        <p:spPr>
          <a:xfrm>
            <a:off x="2855520" y="687240"/>
            <a:ext cx="3429360" cy="10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b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2800" b="1" u="none" strike="noStrike">
                <a:solidFill>
                  <a:schemeClr val="lt2"/>
                </a:solidFill>
                <a:effectLst/>
                <a:uFillTx/>
                <a:latin typeface="Raleway"/>
                <a:ea typeface="Raleway"/>
              </a:rPr>
              <a:t>Управление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1"/>
          <p:cNvSpPr>
            <a:spLocks noGrp="1"/>
          </p:cNvSpPr>
          <p:nvPr>
            <p:ph/>
          </p:nvPr>
        </p:nvSpPr>
        <p:spPr>
          <a:xfrm>
            <a:off x="2855520" y="1647720"/>
            <a:ext cx="3429360" cy="3053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343080" algn="l" defTabSz="914400">
              <a:lnSpc>
                <a:spcPct val="114000"/>
              </a:lnSpc>
              <a:spcBef>
                <a:spcPts val="1417"/>
              </a:spcBef>
              <a:buClr>
                <a:srgbClr val="0070C0"/>
              </a:buClr>
              <a:buSzPct val="45000"/>
              <a:buFont typeface="Raleway"/>
              <a:buChar char="➔"/>
            </a:pPr>
            <a:r>
              <a:rPr lang="ru" sz="1600" b="1" u="none" strike="noStrike">
                <a:solidFill>
                  <a:srgbClr val="0070C0"/>
                </a:solidFill>
                <a:effectLst/>
                <a:uFillTx/>
                <a:latin typeface="Raleway"/>
                <a:ea typeface="Raleway"/>
              </a:rPr>
              <a:t>Порты</a:t>
            </a:r>
            <a:br>
              <a:rPr sz="1600"/>
            </a:br>
            <a:r>
              <a:rPr lang="ru" sz="1600" b="0" u="none" strike="noStrik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-p 8081:8080 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 defTabSz="914400">
              <a:lnSpc>
                <a:spcPct val="114000"/>
              </a:lnSpc>
              <a:spcBef>
                <a:spcPts val="1417"/>
              </a:spcBef>
              <a:buClr>
                <a:srgbClr val="0070C0"/>
              </a:buClr>
              <a:buSzPct val="45000"/>
              <a:buFont typeface="Raleway"/>
              <a:buChar char="➔"/>
            </a:pPr>
            <a:r>
              <a:rPr lang="ru" sz="1600" b="1" u="none" strike="noStrike">
                <a:solidFill>
                  <a:srgbClr val="0070C0"/>
                </a:solidFill>
                <a:effectLst/>
                <a:uFillTx/>
                <a:latin typeface="Raleway"/>
                <a:ea typeface="Raleway"/>
              </a:rPr>
              <a:t>Переменные окружения</a:t>
            </a:r>
            <a:br>
              <a:rPr sz="1600"/>
            </a:br>
            <a:r>
              <a:rPr lang="ru" sz="1600" b="0" u="none" strike="noStrik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environment, env_file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 defTabSz="914400">
              <a:lnSpc>
                <a:spcPct val="114000"/>
              </a:lnSpc>
              <a:spcBef>
                <a:spcPts val="1417"/>
              </a:spcBef>
              <a:buClr>
                <a:srgbClr val="0070C0"/>
              </a:buClr>
              <a:buSzPct val="45000"/>
              <a:buFont typeface="Raleway"/>
              <a:buChar char="➔"/>
            </a:pPr>
            <a:r>
              <a:rPr lang="ru" sz="1600" b="1" u="none" strike="noStrike">
                <a:solidFill>
                  <a:srgbClr val="0070C0"/>
                </a:solidFill>
                <a:effectLst/>
                <a:uFillTx/>
                <a:latin typeface="Raleway"/>
                <a:ea typeface="Raleway"/>
              </a:rPr>
              <a:t>Информация о контейнере</a:t>
            </a:r>
            <a:br>
              <a:rPr sz="1600"/>
            </a:br>
            <a:r>
              <a:rPr lang="ru" sz="1600" b="0" u="none" strike="noStrik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docker inspect  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 defTabSz="914400">
              <a:lnSpc>
                <a:spcPct val="114000"/>
              </a:lnSpc>
              <a:spcBef>
                <a:spcPts val="998"/>
              </a:spcBef>
              <a:spcAft>
                <a:spcPts val="998"/>
              </a:spcAft>
              <a:buClr>
                <a:srgbClr val="0070C0"/>
              </a:buClr>
              <a:buSzPct val="45000"/>
              <a:buFont typeface="Raleway"/>
              <a:buChar char="➔"/>
            </a:pPr>
            <a:r>
              <a:rPr lang="ru" sz="1600" b="1" u="none" strike="noStrike">
                <a:solidFill>
                  <a:srgbClr val="0070C0"/>
                </a:solidFill>
                <a:effectLst/>
                <a:uFillTx/>
                <a:latin typeface="Raleway"/>
                <a:ea typeface="Raleway"/>
              </a:rPr>
              <a:t>Управление контейнером</a:t>
            </a:r>
            <a:br>
              <a:rPr sz="1600"/>
            </a:br>
            <a:r>
              <a:rPr lang="ru" sz="1600" b="0" u="none" strike="noStrik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docker logs, exec it, stats, top, restart, stop</a:t>
            </a:r>
            <a:br>
              <a:rPr sz="1600"/>
            </a:br>
            <a:r>
              <a:rPr lang="ru" sz="1600" b="1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 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282960" y="712080"/>
            <a:ext cx="8228880" cy="77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</a:pPr>
            <a:r>
              <a:rPr lang="ru" sz="4200" b="1" u="none" strike="noStrike">
                <a:solidFill>
                  <a:schemeClr val="accent5"/>
                </a:solidFill>
                <a:effectLst/>
                <a:uFillTx/>
                <a:latin typeface="Raleway"/>
                <a:ea typeface="Raleway"/>
              </a:rPr>
              <a:t>Цель этапа</a:t>
            </a:r>
            <a:endParaRPr lang="ru-RU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Google Shape;105;p 1"/>
          <p:cNvSpPr/>
          <p:nvPr/>
        </p:nvSpPr>
        <p:spPr>
          <a:xfrm>
            <a:off x="282960" y="2531160"/>
            <a:ext cx="8084880" cy="16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 marL="457200" indent="-349200">
              <a:lnSpc>
                <a:spcPct val="100000"/>
              </a:lnSpc>
              <a:buClr>
                <a:srgbClr val="FFFFFF"/>
              </a:buClr>
              <a:buFont typeface="Raleway"/>
              <a:buChar char="●"/>
            </a:pPr>
            <a:r>
              <a:rPr lang="ru" sz="1800" b="0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Понять, как в Docker </a:t>
            </a:r>
            <a:r>
              <a:rPr lang="ru" sz="1900" b="0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осуществляется работа с постоянными данными: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60000" lvl="1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" sz="1900" b="0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Базы данных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60000" lvl="1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" sz="1900" b="0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Файлы конфигураций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60000" lvl="1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" sz="1900" b="0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Файлы на файловом сервере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Google Shape;106;p 1"/>
          <p:cNvSpPr/>
          <p:nvPr/>
        </p:nvSpPr>
        <p:spPr>
          <a:xfrm>
            <a:off x="282960" y="1367640"/>
            <a:ext cx="8430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ru" sz="4200" b="1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Монтирование</a:t>
            </a:r>
            <a:endParaRPr lang="en-U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Google Shape;161;p 7"/>
          <p:cNvSpPr/>
          <p:nvPr/>
        </p:nvSpPr>
        <p:spPr>
          <a:xfrm>
            <a:off x="8161920" y="161640"/>
            <a:ext cx="836640" cy="7034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tx2">
              <a:lumMod val="7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tIns="29160" rIns="29160" bIns="2916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4"/>
          <p:cNvSpPr/>
          <p:nvPr/>
        </p:nvSpPr>
        <p:spPr>
          <a:xfrm>
            <a:off x="8186400" y="189000"/>
            <a:ext cx="789480" cy="6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tIns="29160" rIns="29160" bIns="2916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850" b="0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4</a:t>
            </a:r>
            <a:endParaRPr lang="en-US" sz="1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77"/>
              </a:spcBef>
              <a:spcAft>
                <a:spcPts val="377"/>
              </a:spcAft>
              <a:tabLst>
                <a:tab pos="0" algn="l"/>
              </a:tabLst>
            </a:pPr>
            <a:r>
              <a:rPr lang="ru" sz="800" b="1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Монтирование томов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9" dur="indefinite" restart="never" nodeType="tmRoot">
          <p:childTnLst>
            <p:seq>
              <p:cTn id="50" dur="indefinite" nodeType="mainSeq"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"/>
          <p:cNvPicPr/>
          <p:nvPr/>
        </p:nvPicPr>
        <p:blipFill>
          <a:blip r:embed="rId1"/>
          <a:stretch/>
        </p:blipFill>
        <p:spPr>
          <a:xfrm>
            <a:off x="2068920" y="161640"/>
            <a:ext cx="7034400" cy="493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" name=""/>
          <p:cNvSpPr/>
          <p:nvPr/>
        </p:nvSpPr>
        <p:spPr>
          <a:xfrm>
            <a:off x="350280" y="1914120"/>
            <a:ext cx="827460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tIns="45000" rIns="90000" bIns="45000" anchor="t">
            <a:sp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1"/>
          <p:cNvSpPr>
            <a:spLocks noGrp="1"/>
          </p:cNvSpPr>
          <p:nvPr>
            <p:ph/>
          </p:nvPr>
        </p:nvSpPr>
        <p:spPr>
          <a:xfrm>
            <a:off x="319680" y="823680"/>
            <a:ext cx="3211560" cy="618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l">
              <a:lnSpc>
                <a:spcPct val="114000"/>
              </a:lnSpc>
              <a:spcBef>
                <a:spcPts val="1417"/>
              </a:spcBef>
              <a:spcAft>
                <a:spcPts val="1593"/>
              </a:spcAft>
              <a:buNone/>
              <a:tabLst>
                <a:tab pos="0" algn="l"/>
              </a:tabLst>
            </a:pPr>
            <a:r>
              <a:rPr lang="ru" sz="3000" b="1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Монтирование томов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Google Shape;161;p23"/>
          <p:cNvSpPr/>
          <p:nvPr/>
        </p:nvSpPr>
        <p:spPr>
          <a:xfrm>
            <a:off x="8161920" y="161640"/>
            <a:ext cx="836640" cy="7034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tx2">
              <a:lumMod val="7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tIns="29160" rIns="29160" bIns="2916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 type="title"/>
          </p:nvPr>
        </p:nvSpPr>
        <p:spPr>
          <a:xfrm>
            <a:off x="8186400" y="189000"/>
            <a:ext cx="789480" cy="637560"/>
          </a:xfrm>
          <a:prstGeom prst="rect">
            <a:avLst/>
          </a:prstGeom>
          <a:noFill/>
          <a:ln w="0">
            <a:noFill/>
          </a:ln>
        </p:spPr>
        <p:txBody>
          <a:bodyPr lIns="29160" tIns="29160" rIns="29160" bIns="2916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1850" b="0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4</a:t>
            </a:r>
            <a:endParaRPr lang="ru-RU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377"/>
              </a:spcBef>
              <a:spcAft>
                <a:spcPts val="377"/>
              </a:spcAft>
              <a:buNone/>
              <a:tabLst>
                <a:tab pos="0" algn="l"/>
              </a:tabLst>
            </a:pPr>
            <a:r>
              <a:rPr lang="ru" sz="800" b="1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Монтирование томов</a:t>
            </a:r>
            <a:endParaRPr lang="ru-RU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Google Shape;89;p15"/>
          <p:cNvSpPr/>
          <p:nvPr/>
        </p:nvSpPr>
        <p:spPr>
          <a:xfrm>
            <a:off x="5020200" y="2228760"/>
            <a:ext cx="1358640" cy="10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endParaRPr lang="ru-RU" sz="4800" b="1" u="none" strike="noStrike">
              <a:solidFill>
                <a:schemeClr val="lt1"/>
              </a:solidFill>
              <a:effectLst/>
              <a:uFillTx/>
              <a:latin typeface="Raleway"/>
            </a:endParaRPr>
          </a:p>
        </p:txBody>
      </p:sp>
      <p:sp>
        <p:nvSpPr>
          <p:cNvPr id="243" name=""/>
          <p:cNvSpPr/>
          <p:nvPr/>
        </p:nvSpPr>
        <p:spPr>
          <a:xfrm>
            <a:off x="319320" y="1990800"/>
            <a:ext cx="1898640" cy="22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tIns="45000" rIns="90000" bIns="45000" anchor="t">
            <a:spAutoFit/>
          </a:bodyPr>
          <a:p>
            <a:pPr marL="217800" indent="-2178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Сохранять данные при пересоздании контейнеров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7800" indent="-2178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Делиться файлами между контейнером и хостом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7800" indent="-2178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Организовывать общий доступ для нескольких контейнеров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7800" indent="-2178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Удобно хранить конфиги и логи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"/>
          <p:cNvPicPr/>
          <p:nvPr/>
        </p:nvPicPr>
        <p:blipFill>
          <a:blip r:embed="rId1"/>
          <a:stretch/>
        </p:blipFill>
        <p:spPr>
          <a:xfrm>
            <a:off x="1143000" y="3600"/>
            <a:ext cx="8215560" cy="513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5" name=""/>
          <p:cNvSpPr/>
          <p:nvPr/>
        </p:nvSpPr>
        <p:spPr>
          <a:xfrm>
            <a:off x="350280" y="1914120"/>
            <a:ext cx="827460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tIns="45000" rIns="90000" bIns="45000" anchor="t">
            <a:sp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1"/>
          <p:cNvSpPr>
            <a:spLocks noGrp="1"/>
          </p:cNvSpPr>
          <p:nvPr>
            <p:ph/>
          </p:nvPr>
        </p:nvSpPr>
        <p:spPr>
          <a:xfrm>
            <a:off x="319680" y="823680"/>
            <a:ext cx="3211560" cy="618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l">
              <a:lnSpc>
                <a:spcPct val="114000"/>
              </a:lnSpc>
              <a:spcBef>
                <a:spcPts val="1417"/>
              </a:spcBef>
              <a:spcAft>
                <a:spcPts val="1596"/>
              </a:spcAft>
              <a:buNone/>
              <a:tabLst>
                <a:tab pos="0" algn="l"/>
              </a:tabLst>
            </a:pPr>
            <a:r>
              <a:rPr lang="ru" sz="3000" b="1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Монтирование томов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Google Shape;161;p23"/>
          <p:cNvSpPr/>
          <p:nvPr/>
        </p:nvSpPr>
        <p:spPr>
          <a:xfrm>
            <a:off x="8161920" y="161640"/>
            <a:ext cx="836640" cy="7034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tx2">
              <a:lumMod val="7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tIns="29160" rIns="29160" bIns="2916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 type="title"/>
          </p:nvPr>
        </p:nvSpPr>
        <p:spPr>
          <a:xfrm>
            <a:off x="8186400" y="189000"/>
            <a:ext cx="789480" cy="637560"/>
          </a:xfrm>
          <a:prstGeom prst="rect">
            <a:avLst/>
          </a:prstGeom>
          <a:noFill/>
          <a:ln w="0">
            <a:noFill/>
          </a:ln>
        </p:spPr>
        <p:txBody>
          <a:bodyPr lIns="29160" tIns="29160" rIns="29160" bIns="2916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1850" b="0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4</a:t>
            </a:r>
            <a:endParaRPr lang="ru-RU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380"/>
              </a:spcBef>
              <a:spcAft>
                <a:spcPts val="380"/>
              </a:spcAft>
              <a:buNone/>
              <a:tabLst>
                <a:tab pos="0" algn="l"/>
              </a:tabLst>
            </a:pPr>
            <a:r>
              <a:rPr lang="ru" sz="800" b="1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Монтирование томов</a:t>
            </a:r>
            <a:endParaRPr lang="ru-RU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Google Shape;89;p15"/>
          <p:cNvSpPr/>
          <p:nvPr/>
        </p:nvSpPr>
        <p:spPr>
          <a:xfrm>
            <a:off x="5020200" y="2228760"/>
            <a:ext cx="1358640" cy="10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endParaRPr lang="ru-RU" sz="4800" b="1" u="none" strike="noStrike">
              <a:solidFill>
                <a:schemeClr val="lt1"/>
              </a:solidFill>
              <a:effectLst/>
              <a:uFillTx/>
              <a:latin typeface="Raleway"/>
            </a:endParaRPr>
          </a:p>
        </p:txBody>
      </p:sp>
      <p:sp>
        <p:nvSpPr>
          <p:cNvPr id="250" name=""/>
          <p:cNvSpPr/>
          <p:nvPr/>
        </p:nvSpPr>
        <p:spPr>
          <a:xfrm>
            <a:off x="155520" y="1670400"/>
            <a:ext cx="4759200" cy="246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2600" b="0" u="none" strike="noStrike">
                <a:solidFill>
                  <a:srgbClr val="F46524"/>
                </a:solidFill>
                <a:effectLst/>
                <a:uFillTx/>
                <a:latin typeface="Arial"/>
                <a:ea typeface="Arial"/>
              </a:rPr>
              <a:t>хост</a:t>
            </a:r>
            <a:r>
              <a:rPr lang="ru-RU" sz="2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</a:t>
            </a:r>
            <a:r>
              <a:rPr lang="ru-RU" sz="2600" b="0" u="none" strike="noStrike">
                <a:solidFill>
                  <a:srgbClr val="2A6099"/>
                </a:solidFill>
                <a:effectLst/>
                <a:uFillTx/>
                <a:latin typeface="Arial"/>
                <a:ea typeface="Arial"/>
              </a:rPr>
              <a:t>контейнер</a:t>
            </a:r>
            <a:br>
              <a:rPr sz="2600"/>
            </a:br>
            <a:br>
              <a:rPr sz="2600"/>
            </a:b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600" b="0" u="none" strike="noStrike">
                <a:solidFill>
                  <a:srgbClr val="F46524"/>
                </a:solidFill>
                <a:effectLst/>
                <a:uFillTx/>
                <a:latin typeface="Arial"/>
                <a:ea typeface="Arial"/>
              </a:rPr>
              <a:t>/var/tmp</a:t>
            </a:r>
            <a:r>
              <a:rPr lang="ru-RU" sz="2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</a:t>
            </a:r>
            <a:r>
              <a:rPr lang="ru-RU" sz="2600" b="0" u="none" strike="noStrike">
                <a:solidFill>
                  <a:srgbClr val="2A6099"/>
                </a:solidFill>
                <a:effectLst/>
                <a:uFillTx/>
                <a:latin typeface="Arial"/>
                <a:ea typeface="Arial"/>
              </a:rPr>
              <a:t>/app/temp-files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"/>
          <p:cNvPicPr/>
          <p:nvPr/>
        </p:nvPicPr>
        <p:blipFill>
          <a:blip r:embed="rId1"/>
          <a:stretch/>
        </p:blipFill>
        <p:spPr>
          <a:xfrm>
            <a:off x="2596680" y="823680"/>
            <a:ext cx="6553440" cy="421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2" name=""/>
          <p:cNvSpPr/>
          <p:nvPr/>
        </p:nvSpPr>
        <p:spPr>
          <a:xfrm>
            <a:off x="350280" y="1914120"/>
            <a:ext cx="827460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tIns="45000" rIns="90000" bIns="45000" anchor="t">
            <a:sp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PlaceHolder 1"/>
          <p:cNvSpPr>
            <a:spLocks noGrp="1"/>
          </p:cNvSpPr>
          <p:nvPr>
            <p:ph/>
          </p:nvPr>
        </p:nvSpPr>
        <p:spPr>
          <a:xfrm>
            <a:off x="319680" y="823680"/>
            <a:ext cx="3211560" cy="618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l">
              <a:lnSpc>
                <a:spcPct val="114000"/>
              </a:lnSpc>
              <a:spcBef>
                <a:spcPts val="1417"/>
              </a:spcBef>
              <a:spcAft>
                <a:spcPts val="1596"/>
              </a:spcAft>
              <a:buNone/>
              <a:tabLst>
                <a:tab pos="0" algn="l"/>
              </a:tabLst>
            </a:pPr>
            <a:r>
              <a:rPr lang="ru" sz="3000" b="1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Вольюмы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Google Shape;161;p23"/>
          <p:cNvSpPr/>
          <p:nvPr/>
        </p:nvSpPr>
        <p:spPr>
          <a:xfrm>
            <a:off x="8161920" y="161640"/>
            <a:ext cx="836640" cy="7034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tx2">
              <a:lumMod val="7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tIns="29160" rIns="29160" bIns="2916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 type="title"/>
          </p:nvPr>
        </p:nvSpPr>
        <p:spPr>
          <a:xfrm>
            <a:off x="8186400" y="189000"/>
            <a:ext cx="789480" cy="637560"/>
          </a:xfrm>
          <a:prstGeom prst="rect">
            <a:avLst/>
          </a:prstGeom>
          <a:noFill/>
          <a:ln w="0">
            <a:noFill/>
          </a:ln>
        </p:spPr>
        <p:txBody>
          <a:bodyPr lIns="29160" tIns="29160" rIns="29160" bIns="2916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1850" b="0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4</a:t>
            </a:r>
            <a:endParaRPr lang="ru-RU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380"/>
              </a:spcBef>
              <a:spcAft>
                <a:spcPts val="380"/>
              </a:spcAft>
              <a:buNone/>
              <a:tabLst>
                <a:tab pos="0" algn="l"/>
              </a:tabLst>
            </a:pPr>
            <a:r>
              <a:rPr lang="ru" sz="800" b="1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Монтирование томов</a:t>
            </a:r>
            <a:endParaRPr lang="ru-RU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Google Shape;89;p15"/>
          <p:cNvSpPr/>
          <p:nvPr/>
        </p:nvSpPr>
        <p:spPr>
          <a:xfrm>
            <a:off x="5020200" y="2228760"/>
            <a:ext cx="1358640" cy="10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endParaRPr lang="ru-RU" sz="4800" b="1" u="none" strike="noStrike">
              <a:solidFill>
                <a:schemeClr val="lt1"/>
              </a:solidFill>
              <a:effectLst/>
              <a:uFillTx/>
              <a:latin typeface="Raleway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"/>
          <p:cNvPicPr/>
          <p:nvPr/>
        </p:nvPicPr>
        <p:blipFill>
          <a:blip r:embed="rId1"/>
          <a:stretch/>
        </p:blipFill>
        <p:spPr>
          <a:xfrm>
            <a:off x="2353680" y="1193040"/>
            <a:ext cx="6805800" cy="388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"/>
          <p:cNvSpPr/>
          <p:nvPr/>
        </p:nvSpPr>
        <p:spPr>
          <a:xfrm>
            <a:off x="350280" y="1914120"/>
            <a:ext cx="827460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tIns="45000" rIns="90000" bIns="45000" anchor="t">
            <a:sp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PlaceHolder 1"/>
          <p:cNvSpPr>
            <a:spLocks noGrp="1"/>
          </p:cNvSpPr>
          <p:nvPr>
            <p:ph/>
          </p:nvPr>
        </p:nvSpPr>
        <p:spPr>
          <a:xfrm>
            <a:off x="319680" y="823680"/>
            <a:ext cx="3211560" cy="618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l">
              <a:lnSpc>
                <a:spcPct val="114000"/>
              </a:lnSpc>
              <a:spcBef>
                <a:spcPts val="1417"/>
              </a:spcBef>
              <a:spcAft>
                <a:spcPts val="1596"/>
              </a:spcAft>
              <a:buNone/>
              <a:tabLst>
                <a:tab pos="0" algn="l"/>
              </a:tabLst>
            </a:pPr>
            <a:r>
              <a:rPr lang="ru" sz="3000" b="1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Вольюмы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Google Shape;161;p23"/>
          <p:cNvSpPr/>
          <p:nvPr/>
        </p:nvSpPr>
        <p:spPr>
          <a:xfrm>
            <a:off x="8161920" y="161640"/>
            <a:ext cx="836640" cy="7034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tx2">
              <a:lumMod val="7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tIns="29160" rIns="29160" bIns="2916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 type="title"/>
          </p:nvPr>
        </p:nvSpPr>
        <p:spPr>
          <a:xfrm>
            <a:off x="8186400" y="189000"/>
            <a:ext cx="789480" cy="637560"/>
          </a:xfrm>
          <a:prstGeom prst="rect">
            <a:avLst/>
          </a:prstGeom>
          <a:noFill/>
          <a:ln w="0">
            <a:noFill/>
          </a:ln>
        </p:spPr>
        <p:txBody>
          <a:bodyPr lIns="29160" tIns="29160" rIns="29160" bIns="2916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1850" b="0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4</a:t>
            </a:r>
            <a:endParaRPr lang="ru-RU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380"/>
              </a:spcBef>
              <a:spcAft>
                <a:spcPts val="380"/>
              </a:spcAft>
              <a:buNone/>
              <a:tabLst>
                <a:tab pos="0" algn="l"/>
              </a:tabLst>
            </a:pPr>
            <a:r>
              <a:rPr lang="ru" sz="800" b="1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Монтирование томов</a:t>
            </a:r>
            <a:endParaRPr lang="ru-RU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Google Shape;89;p15"/>
          <p:cNvSpPr/>
          <p:nvPr/>
        </p:nvSpPr>
        <p:spPr>
          <a:xfrm>
            <a:off x="5020200" y="2228760"/>
            <a:ext cx="1358640" cy="10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endParaRPr lang="ru-RU" sz="4800" b="1" u="none" strike="noStrike">
              <a:solidFill>
                <a:schemeClr val="lt1"/>
              </a:solidFill>
              <a:effectLst/>
              <a:uFillTx/>
              <a:latin typeface="Raleway"/>
            </a:endParaRPr>
          </a:p>
        </p:txBody>
      </p:sp>
      <p:sp>
        <p:nvSpPr>
          <p:cNvPr id="263" name=""/>
          <p:cNvSpPr/>
          <p:nvPr/>
        </p:nvSpPr>
        <p:spPr>
          <a:xfrm>
            <a:off x="2727000" y="82800"/>
            <a:ext cx="475956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2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-v </a:t>
            </a:r>
            <a:r>
              <a:rPr lang="ru-RU" sz="2600" b="0" u="none" strike="noStrike">
                <a:solidFill>
                  <a:srgbClr val="F46524"/>
                </a:solidFill>
                <a:effectLst/>
                <a:uFillTx/>
                <a:latin typeface="Arial"/>
                <a:ea typeface="Arial"/>
              </a:rPr>
              <a:t>/var/tmp</a:t>
            </a:r>
            <a:r>
              <a:rPr lang="ru-RU" sz="2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</a:t>
            </a:r>
            <a:r>
              <a:rPr lang="ru-RU" sz="2600" b="0" u="none" strike="noStrike">
                <a:solidFill>
                  <a:srgbClr val="2A6099"/>
                </a:solidFill>
                <a:effectLst/>
                <a:uFillTx/>
                <a:latin typeface="Arial"/>
                <a:ea typeface="Arial"/>
              </a:rPr>
              <a:t>/app/temp-files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"/>
          <p:cNvSpPr/>
          <p:nvPr/>
        </p:nvSpPr>
        <p:spPr>
          <a:xfrm>
            <a:off x="2727000" y="570600"/>
            <a:ext cx="47628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2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-v </a:t>
            </a:r>
            <a:r>
              <a:rPr lang="ru-RU" sz="2600" b="0" u="none" strike="noStrike">
                <a:solidFill>
                  <a:srgbClr val="F46524"/>
                </a:solidFill>
                <a:effectLst/>
                <a:uFillTx/>
                <a:latin typeface="Arial"/>
                <a:ea typeface="Arial"/>
              </a:rPr>
              <a:t>my-volume</a:t>
            </a:r>
            <a:r>
              <a:rPr lang="ru-RU" sz="2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</a:t>
            </a:r>
            <a:r>
              <a:rPr lang="ru-RU" sz="2600" b="0" u="none" strike="noStrike">
                <a:solidFill>
                  <a:srgbClr val="2A6099"/>
                </a:solidFill>
                <a:effectLst/>
                <a:uFillTx/>
                <a:latin typeface="Arial"/>
                <a:ea typeface="Arial"/>
              </a:rPr>
              <a:t>/app/temp-files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70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151;p22"/>
          <p:cNvPicPr/>
          <p:nvPr/>
        </p:nvPicPr>
        <p:blipFill>
          <a:blip r:embed="rId1"/>
          <a:stretch/>
        </p:blipFill>
        <p:spPr>
          <a:xfrm>
            <a:off x="2444760" y="162720"/>
            <a:ext cx="4250880" cy="4814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6" name="Google Shape;152;p22" descr="Кусок клейкой ленты, который удерживает заметку на слайде"/>
          <p:cNvPicPr/>
          <p:nvPr/>
        </p:nvPicPr>
        <p:blipFill>
          <a:blip r:embed="rId2"/>
          <a:srcRect l="9242" t="5927" r="2118" b="10007"/>
          <a:stretch/>
        </p:blipFill>
        <p:spPr>
          <a:xfrm rot="154800">
            <a:off x="3535920" y="147240"/>
            <a:ext cx="2068560" cy="73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7" name="Google Shape;153;p22"/>
          <p:cNvSpPr/>
          <p:nvPr/>
        </p:nvSpPr>
        <p:spPr>
          <a:xfrm>
            <a:off x="2855520" y="687240"/>
            <a:ext cx="3429360" cy="87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b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2800" b="1" u="none" strike="noStrike">
                <a:solidFill>
                  <a:schemeClr val="lt2"/>
                </a:solidFill>
                <a:effectLst/>
                <a:uFillTx/>
                <a:latin typeface="Raleway"/>
                <a:ea typeface="Raleway"/>
              </a:rPr>
              <a:t>Монтирование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PlaceHolder 1"/>
          <p:cNvSpPr>
            <a:spLocks noGrp="1"/>
          </p:cNvSpPr>
          <p:nvPr>
            <p:ph/>
          </p:nvPr>
        </p:nvSpPr>
        <p:spPr>
          <a:xfrm>
            <a:off x="2855520" y="1647720"/>
            <a:ext cx="3429360" cy="3053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343080" algn="l" defTabSz="914400">
              <a:lnSpc>
                <a:spcPct val="114000"/>
              </a:lnSpc>
              <a:spcBef>
                <a:spcPts val="1417"/>
              </a:spcBef>
              <a:buClr>
                <a:srgbClr val="0070C0"/>
              </a:buClr>
              <a:buSzPct val="45000"/>
              <a:buFont typeface="Raleway"/>
              <a:buChar char="➔"/>
            </a:pPr>
            <a:r>
              <a:rPr lang="ru" sz="1600" b="1" u="none" strike="noStrike">
                <a:solidFill>
                  <a:srgbClr val="0070C0"/>
                </a:solidFill>
                <a:effectLst/>
                <a:uFillTx/>
                <a:latin typeface="Raleway"/>
                <a:ea typeface="Raleway"/>
              </a:rPr>
              <a:t>Для чего?</a:t>
            </a:r>
            <a:br>
              <a:rPr sz="1600"/>
            </a:br>
            <a:r>
              <a:rPr lang="ru" sz="1600" b="0" u="none" strike="noStrik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хранение данных между перезапусками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 defTabSz="914400">
              <a:lnSpc>
                <a:spcPct val="114000"/>
              </a:lnSpc>
              <a:spcBef>
                <a:spcPts val="1417"/>
              </a:spcBef>
              <a:buClr>
                <a:srgbClr val="0070C0"/>
              </a:buClr>
              <a:buSzPct val="45000"/>
              <a:buFont typeface="Raleway"/>
              <a:buChar char="➔"/>
            </a:pPr>
            <a:r>
              <a:rPr lang="ru" sz="1600" b="1" u="none" strike="noStrike">
                <a:solidFill>
                  <a:srgbClr val="0070C0"/>
                </a:solidFill>
                <a:effectLst/>
                <a:uFillTx/>
                <a:latin typeface="Raleway"/>
                <a:ea typeface="Raleway"/>
              </a:rPr>
              <a:t>Маунт директории</a:t>
            </a:r>
            <a:br>
              <a:rPr sz="1600"/>
            </a:br>
            <a:r>
              <a:rPr lang="ru" sz="1600" b="0" u="none" strike="noStrik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-v “source:targer”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 defTabSz="914400">
              <a:lnSpc>
                <a:spcPct val="114000"/>
              </a:lnSpc>
              <a:spcBef>
                <a:spcPts val="1417"/>
              </a:spcBef>
              <a:buClr>
                <a:srgbClr val="0070C0"/>
              </a:buClr>
              <a:buSzPct val="45000"/>
              <a:buFont typeface="Raleway"/>
              <a:buChar char="➔"/>
            </a:pPr>
            <a:r>
              <a:rPr lang="ru" sz="1600" b="1" u="none" strike="noStrike">
                <a:solidFill>
                  <a:srgbClr val="0070C0"/>
                </a:solidFill>
                <a:effectLst/>
                <a:uFillTx/>
                <a:latin typeface="Raleway"/>
                <a:ea typeface="Raleway"/>
              </a:rPr>
              <a:t>Вольюмы vs маунты</a:t>
            </a:r>
            <a:br>
              <a:rPr sz="1600"/>
            </a:br>
            <a:r>
              <a:rPr lang="ru" sz="1600" b="0" u="none" strike="noStrik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Вольюмы управляется Docker’ом </a:t>
            </a:r>
            <a:br>
              <a:rPr sz="1400"/>
            </a:br>
            <a:r>
              <a:rPr lang="ru" sz="1400" b="1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282960" y="712080"/>
            <a:ext cx="8228880" cy="77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</a:pPr>
            <a:r>
              <a:rPr lang="ru" sz="4200" b="1" u="none" strike="noStrike">
                <a:solidFill>
                  <a:schemeClr val="accent5"/>
                </a:solidFill>
                <a:effectLst/>
                <a:uFillTx/>
                <a:latin typeface="Raleway"/>
                <a:ea typeface="Raleway"/>
              </a:rPr>
              <a:t>Цель этапа</a:t>
            </a:r>
            <a:endParaRPr lang="ru-RU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Google Shape;105;p 1"/>
          <p:cNvSpPr/>
          <p:nvPr/>
        </p:nvSpPr>
        <p:spPr>
          <a:xfrm>
            <a:off x="282960" y="2531160"/>
            <a:ext cx="8084880" cy="4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Google Shape;106;p 1"/>
          <p:cNvSpPr/>
          <p:nvPr/>
        </p:nvSpPr>
        <p:spPr>
          <a:xfrm>
            <a:off x="282960" y="1367640"/>
            <a:ext cx="8430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ru" sz="4200" b="1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Сети</a:t>
            </a:r>
            <a:endParaRPr lang="en-U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Google Shape;161;p 8"/>
          <p:cNvSpPr/>
          <p:nvPr/>
        </p:nvSpPr>
        <p:spPr>
          <a:xfrm>
            <a:off x="8161920" y="161640"/>
            <a:ext cx="836640" cy="7034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rgbClr val="00B0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tIns="29160" rIns="29160" bIns="2916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5"/>
          <p:cNvSpPr/>
          <p:nvPr/>
        </p:nvSpPr>
        <p:spPr>
          <a:xfrm>
            <a:off x="8186400" y="189000"/>
            <a:ext cx="789480" cy="6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tIns="29160" rIns="29160" bIns="2916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850" b="0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5</a:t>
            </a:r>
            <a:endParaRPr lang="en-US" sz="1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77"/>
              </a:spcBef>
              <a:spcAft>
                <a:spcPts val="377"/>
              </a:spcAft>
              <a:tabLst>
                <a:tab pos="0" algn="l"/>
              </a:tabLst>
            </a:pPr>
            <a:r>
              <a:rPr lang="ru" sz="800" b="1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Сети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Google Shape;105;p 3"/>
          <p:cNvSpPr/>
          <p:nvPr/>
        </p:nvSpPr>
        <p:spPr>
          <a:xfrm>
            <a:off x="282960" y="2514600"/>
            <a:ext cx="80848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 marL="457200" indent="-349200">
              <a:lnSpc>
                <a:spcPct val="100000"/>
              </a:lnSpc>
              <a:buClr>
                <a:srgbClr val="FFFFFF"/>
              </a:buClr>
              <a:buFont typeface="Raleway"/>
              <a:buChar char="●"/>
            </a:pPr>
            <a:r>
              <a:rPr lang="ru" sz="1800" b="0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Понять, как осуществляется сетевое взаимодействие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60000" lvl="1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" sz="1800" b="0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Между контейнерами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60000" lvl="1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" sz="1800" b="0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Между контейнером и внешней средой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9200">
              <a:lnSpc>
                <a:spcPct val="100000"/>
              </a:lnSpc>
              <a:buClr>
                <a:srgbClr val="FFFFFF"/>
              </a:buClr>
              <a:buFont typeface="Raleway"/>
              <a:buChar char="●"/>
            </a:pPr>
            <a:r>
              <a:rPr lang="ru" sz="1800" b="0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“Как поговорить с контейнером?”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9" dur="indefinite" restart="never" nodeType="tmRoot">
          <p:childTnLst>
            <p:seq>
              <p:cTn id="60" dur="indefinite" nodeType="mainSeq"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"/>
          <p:cNvPicPr/>
          <p:nvPr/>
        </p:nvPicPr>
        <p:blipFill>
          <a:blip r:embed="rId1"/>
          <a:stretch/>
        </p:blipFill>
        <p:spPr>
          <a:xfrm>
            <a:off x="3027960" y="1256400"/>
            <a:ext cx="5551200" cy="3636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6" name=""/>
          <p:cNvSpPr/>
          <p:nvPr/>
        </p:nvSpPr>
        <p:spPr>
          <a:xfrm>
            <a:off x="350280" y="1914120"/>
            <a:ext cx="827460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tIns="45000" rIns="90000" bIns="45000" anchor="t">
            <a:sp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PlaceHolder 1"/>
          <p:cNvSpPr>
            <a:spLocks noGrp="1"/>
          </p:cNvSpPr>
          <p:nvPr>
            <p:ph/>
          </p:nvPr>
        </p:nvSpPr>
        <p:spPr>
          <a:xfrm>
            <a:off x="319680" y="823680"/>
            <a:ext cx="7715880" cy="618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l">
              <a:lnSpc>
                <a:spcPct val="114000"/>
              </a:lnSpc>
              <a:spcBef>
                <a:spcPts val="1417"/>
              </a:spcBef>
              <a:spcAft>
                <a:spcPts val="1596"/>
              </a:spcAft>
              <a:buNone/>
              <a:tabLst>
                <a:tab pos="0" algn="l"/>
              </a:tabLst>
            </a:pPr>
            <a:r>
              <a:rPr lang="ru" sz="3000" b="1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Сети. Как контейнеры могут общаться?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Google Shape;161;p23"/>
          <p:cNvSpPr/>
          <p:nvPr/>
        </p:nvSpPr>
        <p:spPr>
          <a:xfrm>
            <a:off x="8161920" y="161640"/>
            <a:ext cx="836640" cy="70344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rgbClr val="00B0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9160" tIns="29160" rIns="29160" bIns="2916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 type="title"/>
          </p:nvPr>
        </p:nvSpPr>
        <p:spPr>
          <a:xfrm>
            <a:off x="8186400" y="189000"/>
            <a:ext cx="789480" cy="637560"/>
          </a:xfrm>
          <a:prstGeom prst="rect">
            <a:avLst/>
          </a:prstGeom>
          <a:noFill/>
          <a:ln w="0">
            <a:noFill/>
          </a:ln>
        </p:spPr>
        <p:txBody>
          <a:bodyPr lIns="29160" tIns="29160" rIns="29160" bIns="2916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1850" b="0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5</a:t>
            </a:r>
            <a:endParaRPr lang="ru-RU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377"/>
              </a:spcBef>
              <a:spcAft>
                <a:spcPts val="377"/>
              </a:spcAft>
              <a:buNone/>
              <a:tabLst>
                <a:tab pos="0" algn="l"/>
              </a:tabLst>
            </a:pPr>
            <a:r>
              <a:rPr lang="ru" sz="800" b="1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Сети</a:t>
            </a:r>
            <a:endParaRPr lang="ru-RU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Google Shape;89;p15"/>
          <p:cNvSpPr/>
          <p:nvPr/>
        </p:nvSpPr>
        <p:spPr>
          <a:xfrm>
            <a:off x="5020200" y="2228760"/>
            <a:ext cx="1358640" cy="10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endParaRPr lang="ru-RU" sz="4800" b="1" u="none" strike="noStrike">
              <a:solidFill>
                <a:schemeClr val="lt1"/>
              </a:solidFill>
              <a:effectLst/>
              <a:uFillTx/>
              <a:latin typeface="Raleway"/>
            </a:endParaRPr>
          </a:p>
        </p:txBody>
      </p:sp>
      <p:sp>
        <p:nvSpPr>
          <p:cNvPr id="281" name=""/>
          <p:cNvSpPr/>
          <p:nvPr/>
        </p:nvSpPr>
        <p:spPr>
          <a:xfrm>
            <a:off x="319680" y="1502640"/>
            <a:ext cx="8578440" cy="3016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tIns="45000" rIns="90000" bIns="45000" anchor="t">
            <a:sp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"/>
          <p:cNvSpPr/>
          <p:nvPr/>
        </p:nvSpPr>
        <p:spPr>
          <a:xfrm>
            <a:off x="350280" y="1619280"/>
            <a:ext cx="2621520" cy="22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tIns="45000" rIns="90000" bIns="45000" anchor="t">
            <a:spAutoFit/>
          </a:bodyPr>
          <a:p>
            <a:pPr marL="306000" indent="-30600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Через открытые порты (web network)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2. Через внутреннюю сеть (service network)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"/>
          <p:cNvSpPr/>
          <p:nvPr/>
        </p:nvSpPr>
        <p:spPr>
          <a:xfrm>
            <a:off x="3486960" y="4848480"/>
            <a:ext cx="49752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Источник: https://accesto.com/blog/docker-networks-explained-part-2/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151;p 3"/>
          <p:cNvPicPr/>
          <p:nvPr/>
        </p:nvPicPr>
        <p:blipFill>
          <a:blip r:embed="rId1"/>
          <a:stretch/>
        </p:blipFill>
        <p:spPr>
          <a:xfrm>
            <a:off x="2444760" y="162720"/>
            <a:ext cx="4250880" cy="4814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5" name="Google Shape;152;p 3" descr="Кусок клейкой ленты, который удерживает заметку на слайде"/>
          <p:cNvPicPr/>
          <p:nvPr/>
        </p:nvPicPr>
        <p:blipFill>
          <a:blip r:embed="rId2"/>
          <a:srcRect l="9242" t="5927" r="2118" b="10007"/>
          <a:stretch/>
        </p:blipFill>
        <p:spPr>
          <a:xfrm rot="154800">
            <a:off x="3535920" y="147240"/>
            <a:ext cx="2068560" cy="73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6" name="Google Shape;153;p 3"/>
          <p:cNvSpPr/>
          <p:nvPr/>
        </p:nvSpPr>
        <p:spPr>
          <a:xfrm>
            <a:off x="2855520" y="687240"/>
            <a:ext cx="3429360" cy="10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b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2800" b="1" u="none" strike="noStrike">
                <a:solidFill>
                  <a:schemeClr val="lt2"/>
                </a:solidFill>
                <a:effectLst/>
                <a:uFillTx/>
                <a:latin typeface="Raleway"/>
                <a:ea typeface="Raleway"/>
              </a:rPr>
              <a:t>Вопросы к слушателям!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PlaceHolder 9"/>
          <p:cNvSpPr/>
          <p:nvPr/>
        </p:nvSpPr>
        <p:spPr>
          <a:xfrm>
            <a:off x="2855520" y="1702080"/>
            <a:ext cx="3429360" cy="29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pPr marL="457200" indent="-343080" defTabSz="914400">
              <a:lnSpc>
                <a:spcPct val="114000"/>
              </a:lnSpc>
              <a:spcBef>
                <a:spcPts val="1417"/>
              </a:spcBef>
              <a:buClr>
                <a:srgbClr val="0070C0"/>
              </a:buClr>
              <a:buFont typeface="OpenSymbol" charset="2"/>
              <a:buAutoNum type="arabicParenR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Raleway"/>
              </a:rPr>
              <a:t>Контейнер с БД пересоздали — данные исчезли. Что забыли сделать?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defTabSz="914400">
              <a:lnSpc>
                <a:spcPct val="114000"/>
              </a:lnSpc>
              <a:spcBef>
                <a:spcPts val="1417"/>
              </a:spcBef>
              <a:buClr>
                <a:srgbClr val="0070C0"/>
              </a:buClr>
              <a:buFont typeface="OpenSymbol" charset="2"/>
              <a:buAutoNum type="arabicParenR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Raleway"/>
              </a:rPr>
              <a:t>Разработчик говорит: «у меня на ноуте работает по </a:t>
            </a:r>
            <a:r>
              <a:rPr lang="ru-RU" sz="1600" b="0" u="none" strike="noStrike">
                <a:solidFill>
                  <a:srgbClr val="FFFFD7"/>
                </a:solidFill>
                <a:effectLst/>
                <a:highlight>
                  <a:srgbClr val="2A6099"/>
                </a:highlight>
                <a:uFillTx/>
                <a:latin typeface="Arial"/>
                <a:ea typeface="Raleway"/>
              </a:rPr>
              <a:t>localhost:8080</a:t>
            </a: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Raleway"/>
              </a:rPr>
              <a:t>, а в docker-compose — нет». В чём, скорее всего, причина?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70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151;p22"/>
          <p:cNvPicPr/>
          <p:nvPr/>
        </p:nvPicPr>
        <p:blipFill>
          <a:blip r:embed="rId1"/>
          <a:stretch/>
        </p:blipFill>
        <p:spPr>
          <a:xfrm>
            <a:off x="2444760" y="162720"/>
            <a:ext cx="4250880" cy="4814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9" name="Google Shape;152;p22" descr="Кусок клейкой ленты, который удерживает заметку на слайде"/>
          <p:cNvPicPr/>
          <p:nvPr/>
        </p:nvPicPr>
        <p:blipFill>
          <a:blip r:embed="rId2"/>
          <a:srcRect l="9242" t="5927" r="2118" b="10007"/>
          <a:stretch/>
        </p:blipFill>
        <p:spPr>
          <a:xfrm rot="154800">
            <a:off x="3535920" y="147240"/>
            <a:ext cx="2068560" cy="73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0" name="Google Shape;153;p22"/>
          <p:cNvSpPr/>
          <p:nvPr/>
        </p:nvSpPr>
        <p:spPr>
          <a:xfrm>
            <a:off x="2855520" y="598680"/>
            <a:ext cx="3429360" cy="75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b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2800" b="1" u="none" strike="noStrike">
                <a:solidFill>
                  <a:schemeClr val="lt2"/>
                </a:solidFill>
                <a:effectLst/>
                <a:uFillTx/>
                <a:latin typeface="Raleway"/>
                <a:ea typeface="Raleway"/>
              </a:rPr>
              <a:t>Сети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PlaceHolder 1"/>
          <p:cNvSpPr>
            <a:spLocks noGrp="1"/>
          </p:cNvSpPr>
          <p:nvPr>
            <p:ph/>
          </p:nvPr>
        </p:nvSpPr>
        <p:spPr>
          <a:xfrm>
            <a:off x="2855520" y="1353960"/>
            <a:ext cx="3504600" cy="3871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343080" algn="l" defTabSz="914400">
              <a:lnSpc>
                <a:spcPct val="114000"/>
              </a:lnSpc>
              <a:spcBef>
                <a:spcPts val="1417"/>
              </a:spcBef>
              <a:buClr>
                <a:srgbClr val="0070C0"/>
              </a:buClr>
              <a:buSzPct val="45000"/>
              <a:buFont typeface="Raleway"/>
              <a:buChar char="➔"/>
            </a:pPr>
            <a:r>
              <a:rPr lang="ru" sz="1600" b="1" u="none" strike="noStrike">
                <a:solidFill>
                  <a:srgbClr val="0070C0"/>
                </a:solidFill>
                <a:effectLst/>
                <a:uFillTx/>
                <a:latin typeface="Raleway"/>
                <a:ea typeface="Raleway"/>
              </a:rPr>
              <a:t>Мапирование портов</a:t>
            </a:r>
            <a:br>
              <a:rPr sz="1600"/>
            </a:br>
            <a:r>
              <a:rPr lang="ru" sz="1600" b="0" u="none" strike="noStrik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-p 8081:8080 </a:t>
            </a:r>
            <a:br>
              <a:rPr sz="1600"/>
            </a:br>
            <a:r>
              <a:rPr lang="ru" sz="1600" b="0" u="none" strike="noStrik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host:container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 defTabSz="914400">
              <a:lnSpc>
                <a:spcPct val="114000"/>
              </a:lnSpc>
              <a:spcBef>
                <a:spcPts val="1417"/>
              </a:spcBef>
              <a:buClr>
                <a:srgbClr val="0070C0"/>
              </a:buClr>
              <a:buSzPct val="45000"/>
              <a:buFont typeface="Raleway"/>
              <a:buChar char="➔"/>
            </a:pPr>
            <a:r>
              <a:rPr lang="ru" sz="1600" b="1" u="none" strike="noStrike">
                <a:solidFill>
                  <a:srgbClr val="0070C0"/>
                </a:solidFill>
                <a:effectLst/>
                <a:uFillTx/>
                <a:latin typeface="Raleway"/>
                <a:ea typeface="Raleway"/>
              </a:rPr>
              <a:t>Docker-сети</a:t>
            </a:r>
            <a:br>
              <a:rPr sz="1600"/>
            </a:br>
            <a:r>
              <a:rPr lang="ru" sz="1600" b="0" u="none" strike="noStrik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docker network create</a:t>
            </a:r>
            <a:br>
              <a:rPr sz="1600"/>
            </a:br>
            <a:r>
              <a:rPr lang="ru" sz="1600" b="0" u="none" strike="noStrik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позволяют контейнерам общаться напрямую без проброса портов и по имени, без IP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 defTabSz="914400">
              <a:lnSpc>
                <a:spcPct val="114000"/>
              </a:lnSpc>
              <a:spcBef>
                <a:spcPts val="1417"/>
              </a:spcBef>
              <a:buClr>
                <a:srgbClr val="0070C0"/>
              </a:buClr>
              <a:buSzPct val="45000"/>
              <a:buFont typeface="Raleway"/>
              <a:buChar char="➔"/>
            </a:pPr>
            <a:r>
              <a:rPr lang="ru" sz="1600" b="1" u="none" strike="noStrike">
                <a:solidFill>
                  <a:srgbClr val="0070C0"/>
                </a:solidFill>
                <a:effectLst/>
                <a:uFillTx/>
                <a:latin typeface="Raleway"/>
                <a:ea typeface="Raleway"/>
              </a:rPr>
              <a:t>Безопасность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120" indent="0" algn="l" defTabSz="914400">
              <a:lnSpc>
                <a:spcPct val="114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1600" b="0" u="none" strike="noStrik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     Docker-сети позволяют</a:t>
            </a:r>
            <a:br>
              <a:rPr sz="1600"/>
            </a:br>
            <a:r>
              <a:rPr lang="ru" sz="1600" b="0" u="none" strike="noStrik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     скрыть backend, БД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120" indent="0" algn="l" defTabSz="914400">
              <a:lnSpc>
                <a:spcPct val="114000"/>
              </a:lnSpc>
              <a:spcBef>
                <a:spcPts val="1417"/>
              </a:spcBef>
              <a:buNone/>
              <a:tabLst>
                <a:tab pos="0" algn="l"/>
              </a:tabLst>
            </a:pPr>
            <a:br>
              <a:rPr sz="1400"/>
            </a:b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70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151;p 4"/>
          <p:cNvPicPr/>
          <p:nvPr/>
        </p:nvPicPr>
        <p:blipFill>
          <a:blip r:embed="rId1"/>
          <a:stretch/>
        </p:blipFill>
        <p:spPr>
          <a:xfrm>
            <a:off x="1937520" y="162720"/>
            <a:ext cx="5100120" cy="481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3" name="Google Shape;153;p 4"/>
          <p:cNvSpPr/>
          <p:nvPr/>
        </p:nvSpPr>
        <p:spPr>
          <a:xfrm>
            <a:off x="685800" y="2286000"/>
            <a:ext cx="7799040" cy="54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b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ru-RU" sz="2800" b="1" u="none" strike="noStrike">
                <a:solidFill>
                  <a:schemeClr val="lt2"/>
                </a:solidFill>
                <a:effectLst/>
                <a:uFillTx/>
                <a:latin typeface="Raleway"/>
                <a:ea typeface="Raleway"/>
              </a:rPr>
              <a:t>СЕКЦИЯ ТРАБЛШУТИНГА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70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151;p22"/>
          <p:cNvPicPr/>
          <p:nvPr/>
        </p:nvPicPr>
        <p:blipFill>
          <a:blip r:embed="rId1"/>
          <a:stretch/>
        </p:blipFill>
        <p:spPr>
          <a:xfrm>
            <a:off x="1937520" y="162720"/>
            <a:ext cx="5100120" cy="481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5" name="Google Shape;153;p22"/>
          <p:cNvSpPr/>
          <p:nvPr/>
        </p:nvSpPr>
        <p:spPr>
          <a:xfrm>
            <a:off x="635760" y="443520"/>
            <a:ext cx="7799040" cy="54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b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ru-RU" sz="2800" b="1" u="none" strike="noStrike">
                <a:solidFill>
                  <a:schemeClr val="lt2"/>
                </a:solidFill>
                <a:effectLst/>
                <a:uFillTx/>
                <a:latin typeface="Raleway"/>
                <a:ea typeface="Raleway"/>
              </a:rPr>
              <a:t>ИТОГО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PlaceHolder 1"/>
          <p:cNvSpPr>
            <a:spLocks noGrp="1"/>
          </p:cNvSpPr>
          <p:nvPr>
            <p:ph/>
          </p:nvPr>
        </p:nvSpPr>
        <p:spPr>
          <a:xfrm>
            <a:off x="2159640" y="825480"/>
            <a:ext cx="4750920" cy="3876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343080" algn="l" defTabSz="914400">
              <a:lnSpc>
                <a:spcPct val="114000"/>
              </a:lnSpc>
              <a:buClr>
                <a:srgbClr val="0070C0"/>
              </a:buClr>
              <a:buSzPct val="45000"/>
              <a:buFont typeface="Raleway"/>
              <a:buChar char="➔"/>
            </a:pPr>
            <a:r>
              <a:rPr lang="ru" sz="1800" b="1" u="none" strike="noStrike">
                <a:solidFill>
                  <a:srgbClr val="0070C0"/>
                </a:solidFill>
                <a:effectLst/>
                <a:uFillTx/>
                <a:latin typeface="Raleway"/>
                <a:ea typeface="Raleway"/>
              </a:rPr>
              <a:t>Основы и запуск контейнеров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120" indent="0" algn="l" defTabSz="914400">
              <a:lnSpc>
                <a:spcPct val="114000"/>
              </a:lnSpc>
              <a:buNone/>
              <a:tabLst>
                <a:tab pos="0" algn="l"/>
              </a:tabLst>
            </a:pPr>
            <a:r>
              <a:rPr lang="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lang="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Что такое образ и контейнер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120" indent="0" algn="l" defTabSz="914400">
              <a:lnSpc>
                <a:spcPct val="114000"/>
              </a:lnSpc>
              <a:buNone/>
              <a:tabLst>
                <a:tab pos="0" algn="l"/>
              </a:tabLst>
            </a:pPr>
            <a:r>
              <a:rPr lang="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lang="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Структура Dockerfile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120" indent="0" algn="l" defTabSz="914400">
              <a:lnSpc>
                <a:spcPct val="114000"/>
              </a:lnSpc>
              <a:buNone/>
              <a:tabLst>
                <a:tab pos="0" algn="l"/>
              </a:tabLst>
            </a:pPr>
            <a:r>
              <a:rPr lang="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lang="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Первые команды: </a:t>
            </a:r>
            <a:r>
              <a:rPr lang="ru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docker build/run/ps/logs/exec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 defTabSz="914400">
              <a:lnSpc>
                <a:spcPct val="114000"/>
              </a:lnSpc>
              <a:buClr>
                <a:srgbClr val="0070C0"/>
              </a:buClr>
              <a:buSzPct val="45000"/>
              <a:buFont typeface="Raleway"/>
              <a:buChar char="➔"/>
              <a:tabLst>
                <a:tab pos="0" algn="l"/>
              </a:tabLst>
            </a:pPr>
            <a:r>
              <a:rPr lang="ru" sz="1800" b="1" u="none" strike="noStrike">
                <a:solidFill>
                  <a:srgbClr val="0070C0"/>
                </a:solidFill>
                <a:effectLst/>
                <a:uFillTx/>
                <a:latin typeface="Raleway"/>
                <a:ea typeface="Raleway"/>
              </a:rPr>
              <a:t>Конфигурация и управление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120" indent="0" algn="l" defTabSz="914400">
              <a:lnSpc>
                <a:spcPct val="114000"/>
              </a:lnSpc>
              <a:buNone/>
              <a:tabLst>
                <a:tab pos="0" algn="l"/>
              </a:tabLst>
            </a:pPr>
            <a:r>
              <a:rPr lang="ru" sz="2000" b="0" u="none" strike="noStrike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	</a:t>
            </a:r>
            <a:r>
              <a:rPr lang="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Порты, переменные окружения, логи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120" indent="0" algn="l" defTabSz="914400">
              <a:lnSpc>
                <a:spcPct val="114000"/>
              </a:lnSpc>
              <a:buNone/>
              <a:tabLst>
                <a:tab pos="0" algn="l"/>
              </a:tabLst>
            </a:pPr>
            <a:r>
              <a:rPr lang="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lang="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Управление жизненным циклом контейнера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 defTabSz="914400">
              <a:lnSpc>
                <a:spcPct val="114000"/>
              </a:lnSpc>
              <a:buClr>
                <a:srgbClr val="0070C0"/>
              </a:buClr>
              <a:buSzPct val="45000"/>
              <a:buFont typeface="Raleway"/>
              <a:buChar char="➔"/>
              <a:tabLst>
                <a:tab pos="0" algn="l"/>
              </a:tabLst>
            </a:pPr>
            <a:r>
              <a:rPr lang="ru" sz="1800" b="1" u="none" strike="noStrike">
                <a:solidFill>
                  <a:srgbClr val="0070C0"/>
                </a:solidFill>
                <a:effectLst/>
                <a:uFillTx/>
                <a:latin typeface="Raleway"/>
                <a:ea typeface="Raleway"/>
              </a:rPr>
              <a:t>Хранение данных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120" indent="0" algn="l" defTabSz="914400">
              <a:lnSpc>
                <a:spcPct val="114000"/>
              </a:lnSpc>
              <a:buNone/>
              <a:tabLst>
                <a:tab pos="0" algn="l"/>
              </a:tabLst>
            </a:pPr>
            <a:r>
              <a:rPr lang="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lang="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Разница между </a:t>
            </a:r>
            <a:r>
              <a:rPr lang="ru" sz="1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bind mount</a:t>
            </a:r>
            <a:r>
              <a:rPr lang="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и </a:t>
            </a:r>
            <a:r>
              <a:rPr lang="ru" sz="1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volume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120" indent="0" algn="l" defTabSz="914400">
              <a:lnSpc>
                <a:spcPct val="114000"/>
              </a:lnSpc>
              <a:buNone/>
              <a:tabLst>
                <a:tab pos="0" algn="l"/>
              </a:tabLst>
            </a:pPr>
            <a:r>
              <a:rPr lang="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lang="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Практика маунтов и сохранения данных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 defTabSz="914400">
              <a:lnSpc>
                <a:spcPct val="114000"/>
              </a:lnSpc>
              <a:buClr>
                <a:srgbClr val="0070C0"/>
              </a:buClr>
              <a:buSzPct val="45000"/>
              <a:buFont typeface="Raleway"/>
              <a:buChar char="➔"/>
              <a:tabLst>
                <a:tab pos="0" algn="l"/>
              </a:tabLst>
            </a:pPr>
            <a:r>
              <a:rPr lang="ru" sz="1800" b="1" u="none" strike="noStrike">
                <a:solidFill>
                  <a:srgbClr val="0070C0"/>
                </a:solidFill>
                <a:effectLst/>
                <a:uFillTx/>
                <a:latin typeface="Raleway"/>
                <a:ea typeface="Raleway"/>
              </a:rPr>
              <a:t>Сети и несколько контейнеров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120" indent="0" algn="l" defTabSz="914400">
              <a:lnSpc>
                <a:spcPct val="114000"/>
              </a:lnSpc>
              <a:buNone/>
              <a:tabLst>
                <a:tab pos="0" algn="l"/>
              </a:tabLst>
            </a:pPr>
            <a:r>
              <a:rPr lang="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lang="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Типы сетей в Docker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120" indent="0" algn="l" defTabSz="914400">
              <a:lnSpc>
                <a:spcPct val="114000"/>
              </a:lnSpc>
              <a:buNone/>
              <a:tabLst>
                <a:tab pos="0" algn="l"/>
              </a:tabLst>
            </a:pPr>
            <a:r>
              <a:rPr lang="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lang="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Общение сервисов между собой</a:t>
            </a:r>
            <a:br>
              <a:rPr sz="1400"/>
            </a:b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0" t="0" r="0" b="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0" t="0" r="0" b="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624</TotalTime>
  <Application>LibreOffice/26.2.1.2$Linux_X86_64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2026-04-25T14:43:55Z</dcterms:modified>
  <cp:revision>89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22</vt:i4>
  </property>
  <property fmtid="{D5CDD505-2E9C-101B-9397-08002B2CF9AE}" pid="4" name="PresentationFormat">
    <vt:lpwstr>On-screen Show (4:3)</vt:lpwstr>
  </property>
  <property fmtid="{D5CDD505-2E9C-101B-9397-08002B2CF9AE}" pid="5" name="Slides">
    <vt:i4>22</vt:i4>
  </property>
</Properties>
</file>