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2.png" ContentType="image/png"/>
  <Override PartName="/ppt/media/image5.png" ContentType="image/png"/>
  <Override PartName="/ppt/media/image1.png" ContentType="image/png"/>
  <Override PartName="/ppt/media/image6.png" ContentType="image/png"/>
  <Override PartName="/ppt/media/image3.png" ContentType="image/png"/>
  <Override PartName="/ppt/media/image10.png" ContentType="image/png"/>
  <Override PartName="/ppt/media/image4.jpeg" ContentType="image/jpe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media/image13.png" ContentType="image/png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35.xml.rels" ContentType="application/vnd.openxmlformats-package.relationships+xml"/>
  <Override PartName="/ppt/slides/_rels/slide15.xml.rels" ContentType="application/vnd.openxmlformats-package.relationships+xml"/>
  <Override PartName="/ppt/slides/_rels/slide4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29.xml.rels" ContentType="application/vnd.openxmlformats-package.relationships+xml"/>
  <Override PartName="/ppt/slides/_rels/slide31.xml.rels" ContentType="application/vnd.openxmlformats-package.relationships+xml"/>
  <Override PartName="/ppt/slides/_rels/slide7.xml.rels" ContentType="application/vnd.openxmlformats-package.relationships+xml"/>
  <Override PartName="/ppt/slides/_rels/slide36.xml.rels" ContentType="application/vnd.openxmlformats-package.relationships+xml"/>
  <Override PartName="/ppt/slides/_rels/slide10.xml.rels" ContentType="application/vnd.openxmlformats-package.relationships+xml"/>
  <Override PartName="/ppt/slides/_rels/slide37.xml.rels" ContentType="application/vnd.openxmlformats-package.relationships+xml"/>
  <Override PartName="/ppt/slides/_rels/slide1.xml.rels" ContentType="application/vnd.openxmlformats-package.relationships+xml"/>
  <Override PartName="/ppt/slides/_rels/slide18.xml.rels" ContentType="application/vnd.openxmlformats-package.relationships+xml"/>
  <Override PartName="/ppt/slides/_rels/slide25.xml.rels" ContentType="application/vnd.openxmlformats-package.relationships+xml"/>
  <Override PartName="/ppt/slides/_rels/slide13.xml.rels" ContentType="application/vnd.openxmlformats-package.relationships+xml"/>
  <Override PartName="/ppt/slides/_rels/slide28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6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37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notesSlides/notesSlide3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_rels/notesSlide1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notesSlide1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</p:sldIdLst>
  <p:sldSz cx="9144000" cy="5143500"/>
  <p:notesSz cx="9144000" cy="51435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1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1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1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8D10206-34F0-4CDC-924B-AF3AFBBF492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4440" cy="342720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Что такое Docker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Платформа для упаковки и запуска приложений в контейнерах.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Контейнер = приложение + зависимости, изолированные от системы.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Где применяется</a:t>
            </a: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?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Разработка и тестирование (единая среда для команды).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CI/CD и автоматизация доставки.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Микросервисы и масштабирование.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Облачные сервисы и DevOps-процессы.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Преимущества / Недостатки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+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Быстрая развертка и переносимость.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+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Легкость масштабирования.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+Экономия ресурсов по сравнению с виртуалками.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– Более сложное администрирование.</a:t>
            </a:r>
            <a:br>
              <a:rPr sz="1200"/>
            </a:b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– Безопасность зависит от настройки.</a:t>
            </a:r>
            <a:br>
              <a:rPr sz="1200"/>
            </a:b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– Ограничения в работе с графикой/железом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4440" cy="342720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1.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What a layer is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Every instruction in a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Dockerfile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creates a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layer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Layers are essentially snapshots of the filesystem after that instruction runs. Layers are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immutable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which means once a layer is created, it doesn’t change — Docker just adds new layers on top.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2. How caching works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tries to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reuse layers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from previous builds to save time. For each instruction: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checks if it has a cached layer that matches: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command itself (e.g.,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pip install ...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state of the filesystem the command depends on (e.g., files copied in previous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COPY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both match, Docker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skips executing the command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reuses the layer.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anything changes (e.g.,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changes), that layer and all layers after it are rebuilt.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3. Practical consequences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Order matters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: Put layers that change least at the top. For example, copy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install dependencies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copying your app source code, so changes in your app don’t force reinstalling dependencies.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4440" cy="342720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1.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What a layer is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Every instruction in a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Dockerfile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creates a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layer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Layers are essentially snapshots of the filesystem after that instruction runs. Layers are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immutable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which means once a layer is created, it doesn’t change — Docker just adds new layers on top.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2. How caching works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tries to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reuse layers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from previous builds to save time. For each instruction: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checks if it has a cached layer that matches: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command itself (e.g.,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pip install ...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state of the filesystem the command depends on (e.g., files copied in previous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COPY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both match, Docker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skips executing the command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reuses the layer.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anything changes (e.g.,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changes), that layer and all layers after it are rebuilt.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3. Practical consequences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Order matters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: Put layers that change least at the top. For example, copy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install dependencies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copying your app source code, so changes in your app don’t force reinstalling dependencies.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4440" cy="342720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1.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What a layer is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Every instruction in a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Dockerfile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creates a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layer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Layers are essentially snapshots of the filesystem after that instruction runs. Layers are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immutable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which means once a layer is created, it doesn’t change — Docker just adds new layers on top.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2. How caching works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tries to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reuse layers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from previous builds to save time. For each instruction: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checks if it has a cached layer that matches: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command itself (e.g.,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pip install ...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state of the filesystem the command depends on (e.g., files copied in previous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COPY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both match, Docker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skips executing the command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reuses the layer.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anything changes (e.g.,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changes), that layer and all layers after it are rebuilt.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3. Practical consequences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Order matters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: Put layers that change least at the top. For example, copy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install dependencies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copying your app source code, so changes in your app don’t force reinstalling dependencies.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4440" cy="342720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1.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What a layer is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Every instruction in a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Dockerfile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creates a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layer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Layers are essentially snapshots of the filesystem after that instruction runs. Layers are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immutable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which means once a layer is created, it doesn’t change — Docker just adds new layers on top.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2. How caching works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tries to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reuse layers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from previous builds to save time. For each instruction: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checks if it has a cached layer that matches: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command itself (e.g.,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pip install ...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state of the filesystem the command depends on (e.g., files copied in previous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COPY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both match, Docker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skips executing the command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reuses the layer.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anything changes (e.g.,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changes), that layer and all layers after it are rebuilt.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3. Practical consequences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Order matters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: Put layers that change least at the top. For example, copy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install dependencies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copying your app source code, so changes in your app don’t force reinstalling dependencies.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4440" cy="342720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1.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What a layer is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Every instruction in a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Dockerfile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creates a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layer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Layers are essentially snapshots of the filesystem after that instruction runs. Layers are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immutable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which means once a layer is created, it doesn’t change — Docker just adds new layers on top.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2. How caching works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tries to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reuse layers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from previous builds to save time. For each instruction: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checks if it has a cached layer that matches: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command itself (e.g.,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pip install ...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state of the filesystem the command depends on (e.g., files copied in previous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COPY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both match, Docker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skips executing the command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reuses the layer.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anything changes (e.g.,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changes), that layer and all layers after it are rebuilt.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3. Practical consequences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Order matters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: Put layers that change least at the top. For example, copy </a:t>
            </a: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install dependencies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copying your app source code, so changes in your app don’t force reinstalling dependencies.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4440" cy="342720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1. </a:t>
            </a: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What a layer is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Every instruction in a 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Dockerfile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creates a </a:t>
            </a: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layer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Layers are essentially snapshots of the filesystem after that instruction runs. Layers are </a:t>
            </a: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immutable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which means once a layer is created, it doesn’t change — Docker just adds new layers on top.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2. How caching works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tries to </a:t>
            </a: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reuse layers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from previous builds to save time. For each instruction: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checks if it has a cached layer that matches: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command itself (e.g., 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pip install ...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state of the filesystem the command depends on (e.g., files copied in previous 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COPY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both match, Docker </a:t>
            </a: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skips executing the command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reuses the layer.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anything changes (e.g., 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changes), that layer and all layers after it are rebuilt.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3. Practical consequences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Order matters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: Put layers that change least at the top. For example, copy 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install dependencies </a:t>
            </a: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copying your app source code, so changes in your app don’t force reinstalling dependencies.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4. Layer size and efficiency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Each layer adds size to the image.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To reduce image size: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Combine multiple commands in a single 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using 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&amp;&amp;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Remove unnecessary files after installation.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Example: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RUN apt-get update &amp;&amp; \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apt-get install -y build-essential &amp;&amp; \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  rm -rf /var/lib/apt/lists/*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4440" cy="342720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1. </a:t>
            </a: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What a layer is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Every instruction in a 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Dockerfile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creates a </a:t>
            </a: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layer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Layers are essentially snapshots of the filesystem after that instruction runs. Layers are </a:t>
            </a: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immutable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which means once a layer is created, it doesn’t change — Docker just adds new layers on top.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2. How caching works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tries to </a:t>
            </a: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reuse layers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from previous builds to save time. For each instruction: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checks if it has a cached layer that matches: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command itself (e.g., 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pip install ...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state of the filesystem the command depends on (e.g., files copied in previous 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COPY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both match, Docker </a:t>
            </a: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skips executing the command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reuses the layer.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anything changes (e.g., 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changes), that layer and all layers after it are rebuilt.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3. Practical consequences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Order matters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: Put layers that change least at the top. For example, copy 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install dependencies </a:t>
            </a: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copying your app source code, so changes in your app don’t force reinstalling dependencies.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4. Layer size and efficiency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Each layer adds size to the image.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To reduce image size: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Combine multiple commands in a single 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using 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&amp;&amp;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Remove unnecessary files after installation.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Example: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RUN apt-get update &amp;&amp; \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apt-get install -y build-essential &amp;&amp; \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  rm -rf /var/lib/apt/lists/*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4440" cy="342720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7800" indent="-2178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network пригодится в тех случаях, когда хочется, чтобы контейнеры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общались друг с другом не напрямую через IP-адреса, а по "именам" и в изолированной среде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🚢.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By default, a container exposes its port only </a:t>
            </a: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inside the Docker network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The only reason it’s available to your host / internet is because you explicitly mapped it with 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-p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👉 Notice there’s </a:t>
            </a: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no </a:t>
            </a: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-p 8080:8080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br>
              <a:rPr sz="1100"/>
            </a:b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Now: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680" indent="-1846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backend:8080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is reachable </a:t>
            </a: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only from containers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in 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orders-net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It is </a:t>
            </a: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not accessible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from your host (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localhost:8080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won’t work anymore).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frontend is accessible at 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http://localhost:3000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it makes requests to 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http://backend:8080/orders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it works because both containers are in the same 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orders-net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From outside (your host or the internet), the backend is invisible.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✅ This setup makes your backend a </a:t>
            </a: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private service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frontend the </a:t>
            </a: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only public entrypoint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br>
              <a:rPr sz="1100"/>
            </a:b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It’s very similar to how production apps run (frontend or reverse proxy is public, backend is internal-only)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Docker’s embedded DNS lets you use </a:t>
            </a:r>
            <a:r>
              <a:rPr b="1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container names</a:t>
            </a: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instead of IPs.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you want to make a container accessible to other containers, it isn't necessary to publish the container's ports. You can enable inter-container communication by connecting the containers to the same network, usually a 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56;p10"/>
          <p:cNvCxnSpPr/>
          <p:nvPr/>
        </p:nvCxnSpPr>
        <p:spPr>
          <a:xfrm>
            <a:off x="425160" y="4739760"/>
            <a:ext cx="8298360" cy="180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cxnSp>
        <p:nvCxnSpPr>
          <p:cNvPr id="3" name="Google Shape;57;p10"/>
          <p:cNvCxnSpPr/>
          <p:nvPr/>
        </p:nvCxnSpPr>
        <p:spPr>
          <a:xfrm>
            <a:off x="425160" y="415440"/>
            <a:ext cx="185040" cy="180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327960" y="4226040"/>
            <a:ext cx="838692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Outline 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Outlin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nt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 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ut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8498160" y="468864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10;p2"/>
          <p:cNvCxnSpPr/>
          <p:nvPr/>
        </p:nvCxnSpPr>
        <p:spPr>
          <a:xfrm>
            <a:off x="2477520" y="415440"/>
            <a:ext cx="6246000" cy="1800"/>
          </a:xfrm>
          <a:prstGeom prst="straightConnector1">
            <a:avLst/>
          </a:prstGeom>
          <a:ln w="38100">
            <a:solidFill>
              <a:srgbClr val="ffffff"/>
            </a:solidFill>
            <a:round/>
          </a:ln>
        </p:spPr>
      </p:cxnSp>
      <p:cxnSp>
        <p:nvCxnSpPr>
          <p:cNvPr id="7" name="Google Shape;11;p2"/>
          <p:cNvCxnSpPr/>
          <p:nvPr/>
        </p:nvCxnSpPr>
        <p:spPr>
          <a:xfrm>
            <a:off x="2477520" y="4739760"/>
            <a:ext cx="6246000" cy="180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cxnSp>
        <p:nvCxnSpPr>
          <p:cNvPr id="8" name="Google Shape;12;p2"/>
          <p:cNvCxnSpPr/>
          <p:nvPr/>
        </p:nvCxnSpPr>
        <p:spPr>
          <a:xfrm>
            <a:off x="425160" y="415440"/>
            <a:ext cx="185040" cy="180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371680" y="630360"/>
            <a:ext cx="6329880" cy="154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</a:t>
            </a: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ck </a:t>
            </a: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</a:t>
            </a: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it </a:t>
            </a: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</a:t>
            </a: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</a:t>
            </a: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xt </a:t>
            </a: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2"/>
          </p:nvPr>
        </p:nvSpPr>
        <p:spPr>
          <a:xfrm>
            <a:off x="8498160" y="468864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61;p11"/>
          <p:cNvCxnSpPr/>
          <p:nvPr/>
        </p:nvCxnSpPr>
        <p:spPr>
          <a:xfrm>
            <a:off x="425160" y="4739760"/>
            <a:ext cx="8298360" cy="180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cxnSp>
        <p:nvCxnSpPr>
          <p:cNvPr id="13" name="Google Shape;62;p11"/>
          <p:cNvCxnSpPr/>
          <p:nvPr/>
        </p:nvCxnSpPr>
        <p:spPr>
          <a:xfrm>
            <a:off x="425160" y="415440"/>
            <a:ext cx="8298360" cy="1800"/>
          </a:xfrm>
          <a:prstGeom prst="straightConnector1">
            <a:avLst/>
          </a:prstGeom>
          <a:ln w="38100">
            <a:solidFill>
              <a:srgbClr val="000000"/>
            </a:solidFill>
            <a:round/>
          </a:ln>
        </p:spPr>
      </p:cxn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53920" y="1305000"/>
            <a:ext cx="7434360" cy="153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96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x</a:t>
            </a:r>
            <a:r>
              <a:rPr b="1" lang="ru-RU" sz="96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x</a:t>
            </a:r>
            <a:r>
              <a:rPr b="1" lang="ru-RU" sz="96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%</a:t>
            </a:r>
            <a:endParaRPr b="0" lang="en-US" sz="9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53920" y="2919600"/>
            <a:ext cx="7434360" cy="106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3"/>
          </p:nvPr>
        </p:nvSpPr>
        <p:spPr>
          <a:xfrm>
            <a:off x="8498160" y="468864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ldNum" idx="4"/>
          </p:nvPr>
        </p:nvSpPr>
        <p:spPr>
          <a:xfrm>
            <a:off x="8498160" y="468864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17;p3"/>
          <p:cNvCxnSpPr/>
          <p:nvPr/>
        </p:nvCxnSpPr>
        <p:spPr>
          <a:xfrm>
            <a:off x="425160" y="415440"/>
            <a:ext cx="8298360" cy="1800"/>
          </a:xfrm>
          <a:prstGeom prst="straightConnector1">
            <a:avLst/>
          </a:prstGeom>
          <a:ln w="38100">
            <a:solidFill>
              <a:srgbClr val="ffffff"/>
            </a:solidFill>
            <a:round/>
          </a:ln>
        </p:spPr>
      </p:cxnSp>
      <p:cxnSp>
        <p:nvCxnSpPr>
          <p:cNvPr id="21" name="Google Shape;18;p3"/>
          <p:cNvCxnSpPr/>
          <p:nvPr/>
        </p:nvCxnSpPr>
        <p:spPr>
          <a:xfrm>
            <a:off x="425160" y="4739760"/>
            <a:ext cx="8298360" cy="180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06440" y="1806840"/>
            <a:ext cx="8295120" cy="154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5"/>
          </p:nvPr>
        </p:nvSpPr>
        <p:spPr>
          <a:xfrm>
            <a:off x="8498160" y="468864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22;p4"/>
          <p:cNvCxnSpPr/>
          <p:nvPr/>
        </p:nvCxnSpPr>
        <p:spPr>
          <a:xfrm>
            <a:off x="2477520" y="415440"/>
            <a:ext cx="6246000" cy="1800"/>
          </a:xfrm>
          <a:prstGeom prst="straightConnector1">
            <a:avLst/>
          </a:prstGeom>
          <a:ln w="38100">
            <a:solidFill>
              <a:srgbClr val="000000"/>
            </a:solidFill>
            <a:round/>
          </a:ln>
        </p:spPr>
      </p:cxnSp>
      <p:cxnSp>
        <p:nvCxnSpPr>
          <p:cNvPr id="25" name="Google Shape;23;p4"/>
          <p:cNvCxnSpPr/>
          <p:nvPr/>
        </p:nvCxnSpPr>
        <p:spPr>
          <a:xfrm>
            <a:off x="2477520" y="4739760"/>
            <a:ext cx="6246000" cy="180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cxnSp>
        <p:nvCxnSpPr>
          <p:cNvPr id="26" name="Google Shape;24;p4"/>
          <p:cNvCxnSpPr/>
          <p:nvPr/>
        </p:nvCxnSpPr>
        <p:spPr>
          <a:xfrm>
            <a:off x="425160" y="415440"/>
            <a:ext cx="185040" cy="180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19800" cy="63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2410200" y="1595880"/>
            <a:ext cx="6319800" cy="30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6"/>
          </p:nvPr>
        </p:nvSpPr>
        <p:spPr>
          <a:xfrm>
            <a:off x="8498160" y="468864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29;p5"/>
          <p:cNvCxnSpPr/>
          <p:nvPr/>
        </p:nvCxnSpPr>
        <p:spPr>
          <a:xfrm>
            <a:off x="2477520" y="415440"/>
            <a:ext cx="6246000" cy="1800"/>
          </a:xfrm>
          <a:prstGeom prst="straightConnector1">
            <a:avLst/>
          </a:prstGeom>
          <a:ln w="38100">
            <a:solidFill>
              <a:srgbClr val="000000"/>
            </a:solidFill>
            <a:round/>
          </a:ln>
        </p:spPr>
      </p:cxnSp>
      <p:cxnSp>
        <p:nvCxnSpPr>
          <p:cNvPr id="31" name="Google Shape;30;p5"/>
          <p:cNvCxnSpPr/>
          <p:nvPr/>
        </p:nvCxnSpPr>
        <p:spPr>
          <a:xfrm>
            <a:off x="2477520" y="4739760"/>
            <a:ext cx="6246000" cy="180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cxnSp>
        <p:nvCxnSpPr>
          <p:cNvPr id="32" name="Google Shape;31;p5"/>
          <p:cNvCxnSpPr/>
          <p:nvPr/>
        </p:nvCxnSpPr>
        <p:spPr>
          <a:xfrm>
            <a:off x="425160" y="415440"/>
            <a:ext cx="185040" cy="180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19800" cy="63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2400480" y="1602720"/>
            <a:ext cx="3069720" cy="30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5650560" y="1602720"/>
            <a:ext cx="3069720" cy="30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7"/>
          </p:nvPr>
        </p:nvSpPr>
        <p:spPr>
          <a:xfrm>
            <a:off x="8498160" y="468864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03480" y="411480"/>
            <a:ext cx="851868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8"/>
          </p:nvPr>
        </p:nvSpPr>
        <p:spPr>
          <a:xfrm>
            <a:off x="8498160" y="468864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40;p7"/>
          <p:cNvCxnSpPr/>
          <p:nvPr/>
        </p:nvCxnSpPr>
        <p:spPr>
          <a:xfrm>
            <a:off x="425160" y="415440"/>
            <a:ext cx="185040" cy="180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19680" y="936720"/>
            <a:ext cx="2806200" cy="75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319680" y="1846800"/>
            <a:ext cx="2806200" cy="280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9"/>
          </p:nvPr>
        </p:nvSpPr>
        <p:spPr>
          <a:xfrm>
            <a:off x="8498160" y="468864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rgbClr val="353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5;p8"/>
          <p:cNvCxnSpPr/>
          <p:nvPr/>
        </p:nvCxnSpPr>
        <p:spPr>
          <a:xfrm>
            <a:off x="425160" y="415440"/>
            <a:ext cx="185040" cy="180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282960" y="712080"/>
            <a:ext cx="6242400" cy="38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10"/>
          </p:nvPr>
        </p:nvSpPr>
        <p:spPr>
          <a:xfrm>
            <a:off x="8498160" y="468864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9;p9"/>
          <p:cNvSpPr/>
          <p:nvPr/>
        </p:nvSpPr>
        <p:spPr>
          <a:xfrm>
            <a:off x="4572000" y="0"/>
            <a:ext cx="4570200" cy="514188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cxnSp>
        <p:nvCxnSpPr>
          <p:cNvPr id="48" name="Google Shape;50;p9"/>
          <p:cNvCxnSpPr/>
          <p:nvPr/>
        </p:nvCxnSpPr>
        <p:spPr>
          <a:xfrm>
            <a:off x="5029560" y="4495320"/>
            <a:ext cx="470160" cy="180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265680" y="1397520"/>
            <a:ext cx="4043520" cy="131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939560" y="724320"/>
            <a:ext cx="3835080" cy="369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11"/>
          </p:nvPr>
        </p:nvSpPr>
        <p:spPr>
          <a:xfrm>
            <a:off x="8498160" y="468864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hyperlink" Target="https://hub.docker.com/u/library" TargetMode="External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7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371680" y="630360"/>
            <a:ext cx="6329880" cy="154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4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Docker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2390400" y="3238560"/>
            <a:ext cx="6329880" cy="123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0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Контейнеры – наше всё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35680" y="712080"/>
            <a:ext cx="6704280" cy="76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1" lang="ru" sz="36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Цели лабораторной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title"/>
          </p:nvPr>
        </p:nvSpPr>
        <p:spPr>
          <a:xfrm>
            <a:off x="535680" y="1480320"/>
            <a:ext cx="7978680" cy="306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2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1. Изучить основные понятия, набор и предназначение файлов Docker.</a:t>
            </a:r>
            <a:br>
              <a:rPr sz="2200"/>
            </a:b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2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2. Научиться собирать, конфигурировать и управлять docker-образами и docker-контейнерами.</a:t>
            </a:r>
            <a:br>
              <a:rPr sz="2200"/>
            </a:b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b="0" lang="ru" sz="22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3. Научиться настраивать взаимодействие docker-контейнеров между собой и с внешней средой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82960" y="202320"/>
            <a:ext cx="8618760" cy="101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4800" strike="noStrike" u="none">
                <a:solidFill>
                  <a:srgbClr val="37474f"/>
                </a:solidFill>
                <a:effectLst/>
                <a:highlight>
                  <a:srgbClr val="ffffff"/>
                </a:highlight>
                <a:uFillTx/>
                <a:latin typeface="Raleway"/>
                <a:ea typeface="Raleway"/>
              </a:rPr>
              <a:t>План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5;p15"/>
          <p:cNvSpPr/>
          <p:nvPr/>
        </p:nvSpPr>
        <p:spPr>
          <a:xfrm>
            <a:off x="371880" y="1536480"/>
            <a:ext cx="1875240" cy="15620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title"/>
          </p:nvPr>
        </p:nvSpPr>
        <p:spPr>
          <a:xfrm>
            <a:off x="447840" y="1609560"/>
            <a:ext cx="1798920" cy="143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45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1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ru" sz="1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Основные понятия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85;p15"/>
          <p:cNvSpPr/>
          <p:nvPr/>
        </p:nvSpPr>
        <p:spPr>
          <a:xfrm>
            <a:off x="3223440" y="1536480"/>
            <a:ext cx="1875240" cy="15620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6" name="Google Shape;89;p15"/>
          <p:cNvSpPr/>
          <p:nvPr/>
        </p:nvSpPr>
        <p:spPr>
          <a:xfrm>
            <a:off x="3261600" y="1601640"/>
            <a:ext cx="1798920" cy="143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45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3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ru-MO" sz="19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85;p15"/>
          <p:cNvSpPr/>
          <p:nvPr/>
        </p:nvSpPr>
        <p:spPr>
          <a:xfrm>
            <a:off x="4638600" y="3213000"/>
            <a:ext cx="1875240" cy="15620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tx2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8" name="Google Shape;89;p15"/>
          <p:cNvSpPr/>
          <p:nvPr/>
        </p:nvSpPr>
        <p:spPr>
          <a:xfrm>
            <a:off x="4676760" y="3278160"/>
            <a:ext cx="1798920" cy="143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45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4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6"/>
              </a:spcBef>
              <a:tabLst>
                <a:tab algn="l" pos="0"/>
              </a:tabLst>
            </a:pPr>
            <a:r>
              <a:rPr b="1" lang="ru-MO" sz="16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Монтирование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6"/>
              </a:spcBef>
              <a:spcAft>
                <a:spcPts val="1196"/>
              </a:spcAft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85;p15"/>
          <p:cNvSpPr/>
          <p:nvPr/>
        </p:nvSpPr>
        <p:spPr>
          <a:xfrm>
            <a:off x="6515640" y="1536480"/>
            <a:ext cx="1875240" cy="15620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0" name="Google Shape;89;p15"/>
          <p:cNvSpPr/>
          <p:nvPr/>
        </p:nvSpPr>
        <p:spPr>
          <a:xfrm>
            <a:off x="6553800" y="1601640"/>
            <a:ext cx="1798920" cy="143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45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5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6"/>
              </a:spcBef>
              <a:tabLst>
                <a:tab algn="l" pos="0"/>
              </a:tabLst>
            </a:pPr>
            <a:r>
              <a:rPr b="1" lang="ru-MO" sz="19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Сети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6"/>
              </a:spcBef>
              <a:spcAft>
                <a:spcPts val="1196"/>
              </a:spcAft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85;p15"/>
          <p:cNvSpPr/>
          <p:nvPr/>
        </p:nvSpPr>
        <p:spPr>
          <a:xfrm>
            <a:off x="1155960" y="3278160"/>
            <a:ext cx="1875240" cy="15620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2" name="Google Shape;89;p15"/>
          <p:cNvSpPr/>
          <p:nvPr/>
        </p:nvSpPr>
        <p:spPr>
          <a:xfrm>
            <a:off x="1193760" y="3343320"/>
            <a:ext cx="1798920" cy="143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45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2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6"/>
              </a:spcBef>
              <a:spcAft>
                <a:spcPts val="1196"/>
              </a:spcAft>
              <a:tabLst>
                <a:tab algn="l" pos="0"/>
              </a:tabLst>
            </a:pPr>
            <a:r>
              <a:rPr b="1" lang="ru-RU" sz="20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Сборка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282960" y="202320"/>
            <a:ext cx="8618760" cy="101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4800" strike="noStrike" u="none">
                <a:solidFill>
                  <a:srgbClr val="37474f"/>
                </a:solidFill>
                <a:effectLst/>
                <a:uFillTx/>
                <a:latin typeface="Raleway"/>
                <a:ea typeface="Raleway"/>
              </a:rPr>
              <a:t>Как и что будем делать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883080" y="1095480"/>
            <a:ext cx="7593120" cy="397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282960" y="712080"/>
            <a:ext cx="8230680" cy="77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1" lang="ru" sz="4200" strike="noStrike" u="none">
                <a:solidFill>
                  <a:schemeClr val="accent5"/>
                </a:solidFill>
                <a:effectLst/>
                <a:uFillTx/>
                <a:latin typeface="Raleway"/>
                <a:ea typeface="Raleway"/>
              </a:rPr>
              <a:t>Цели лабораторной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05;p 2"/>
          <p:cNvSpPr/>
          <p:nvPr/>
        </p:nvSpPr>
        <p:spPr>
          <a:xfrm>
            <a:off x="282960" y="2941560"/>
            <a:ext cx="8086680" cy="13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Raleway"/>
              <a:buAutoNum type="arabicParenR"/>
            </a:pPr>
            <a:r>
              <a:rPr b="0" lang="ru" sz="19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Говорить на одном языке с DevOps и разработчиками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Raleway"/>
              <a:buAutoNum type="arabicParenR"/>
            </a:pPr>
            <a:r>
              <a:rPr b="0" lang="ru" sz="19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Формировать реалистичные требования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Raleway"/>
              <a:buAutoNum type="arabicParenR"/>
            </a:pPr>
            <a:r>
              <a:rPr b="0" lang="ru" sz="19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Понимать архитектуру и среду приложения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Raleway"/>
              <a:buAutoNum type="arabicParenR"/>
            </a:pPr>
            <a:r>
              <a:rPr b="0" lang="ru" sz="19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Работать с тестовыми и демонстрационными окружениями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06;p 2"/>
          <p:cNvSpPr/>
          <p:nvPr/>
        </p:nvSpPr>
        <p:spPr>
          <a:xfrm>
            <a:off x="282960" y="1367640"/>
            <a:ext cx="84326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ru" sz="42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Зачем docker системному аналитику?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07;p 2"/>
          <p:cNvSpPr/>
          <p:nvPr/>
        </p:nvSpPr>
        <p:spPr>
          <a:xfrm>
            <a:off x="8188200" y="14760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noAutofit/>
          </a:bodyPr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title"/>
          </p:nvPr>
        </p:nvSpPr>
        <p:spPr>
          <a:xfrm>
            <a:off x="8216280" y="174600"/>
            <a:ext cx="771480" cy="6393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7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1</a:t>
            </a:r>
            <a:endParaRPr b="0" lang="en-US" sz="18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48"/>
              </a:spcBef>
              <a:buNone/>
              <a:tabLst>
                <a:tab algn="l" pos="0"/>
              </a:tabLst>
            </a:pPr>
            <a:r>
              <a:rPr b="1" lang="ru" sz="91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Основные понятия</a:t>
            </a:r>
            <a:endParaRPr b="0" lang="en-US" sz="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48"/>
              </a:spcBef>
              <a:spcAft>
                <a:spcPts val="448"/>
              </a:spcAft>
              <a:buNone/>
              <a:tabLst>
                <a:tab algn="l" pos="0"/>
              </a:tabLst>
            </a:pP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167400" y="685800"/>
            <a:ext cx="8917560" cy="540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Google Shape;159;p23"/>
          <p:cNvSpPr/>
          <p:nvPr/>
        </p:nvSpPr>
        <p:spPr>
          <a:xfrm>
            <a:off x="319680" y="823680"/>
            <a:ext cx="594864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4000"/>
              </a:lnSpc>
              <a:spcAft>
                <a:spcPts val="1599"/>
              </a:spcAft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Что такое Docker? Контейнеризация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61;p23"/>
          <p:cNvSpPr/>
          <p:nvPr/>
        </p:nvSpPr>
        <p:spPr>
          <a:xfrm>
            <a:off x="8161920" y="16164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3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91280" cy="639360"/>
          </a:xfrm>
          <a:prstGeom prst="rect">
            <a:avLst/>
          </a:prstGeom>
          <a:noFill/>
          <a:ln w="0">
            <a:noFill/>
          </a:ln>
        </p:spPr>
        <p:txBody>
          <a:bodyPr lIns="29160" rIns="29160" tIns="29160" bIns="291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1</a:t>
            </a:r>
            <a:br>
              <a:rPr sz="1850"/>
            </a:br>
            <a:r>
              <a:rPr b="1" lang="ru" sz="91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Основные понятия</a:t>
            </a:r>
            <a:endParaRPr b="0" lang="en-US" sz="9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319680" y="23400"/>
            <a:ext cx="8022600" cy="48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864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Образ и контейнер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61;p23"/>
          <p:cNvSpPr/>
          <p:nvPr/>
        </p:nvSpPr>
        <p:spPr>
          <a:xfrm>
            <a:off x="8161920" y="16164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3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91280" cy="639360"/>
          </a:xfrm>
          <a:prstGeom prst="rect">
            <a:avLst/>
          </a:prstGeom>
          <a:noFill/>
          <a:ln w="0">
            <a:noFill/>
          </a:ln>
        </p:spPr>
        <p:txBody>
          <a:bodyPr lIns="29160" rIns="29160" tIns="29160" bIns="291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1</a:t>
            </a:r>
            <a:br>
              <a:rPr sz="1850"/>
            </a:br>
            <a:r>
              <a:rPr b="1" lang="ru" sz="91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Основные понятия</a:t>
            </a:r>
            <a:endParaRPr b="0" lang="en-US" sz="9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89;p15"/>
          <p:cNvSpPr/>
          <p:nvPr/>
        </p:nvSpPr>
        <p:spPr>
          <a:xfrm>
            <a:off x="5020200" y="2228760"/>
            <a:ext cx="136044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1" lang="ru-RU" sz="4800" strike="noStrike" u="none">
              <a:solidFill>
                <a:schemeClr val="lt1"/>
              </a:solidFill>
              <a:effectLst/>
              <a:uFillTx/>
              <a:latin typeface="Raleway"/>
              <a:ea typeface="Raleway"/>
            </a:endParaRPr>
          </a:p>
        </p:txBody>
      </p:sp>
      <p:sp>
        <p:nvSpPr>
          <p:cNvPr id="89" name=""/>
          <p:cNvSpPr/>
          <p:nvPr/>
        </p:nvSpPr>
        <p:spPr>
          <a:xfrm flipH="1">
            <a:off x="2743200" y="457200"/>
            <a:ext cx="2514600" cy="2743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864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Image name. Название образа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61;p23"/>
          <p:cNvSpPr/>
          <p:nvPr/>
        </p:nvSpPr>
        <p:spPr>
          <a:xfrm>
            <a:off x="8161920" y="16164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3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91280" cy="639360"/>
          </a:xfrm>
          <a:prstGeom prst="rect">
            <a:avLst/>
          </a:prstGeom>
          <a:noFill/>
          <a:ln w="0">
            <a:noFill/>
          </a:ln>
        </p:spPr>
        <p:txBody>
          <a:bodyPr lIns="29160" rIns="29160" tIns="29160" bIns="291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1</a:t>
            </a:r>
            <a:br>
              <a:rPr sz="1850"/>
            </a:br>
            <a:r>
              <a:rPr b="1" lang="ru" sz="91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Основные понятия</a:t>
            </a:r>
            <a:endParaRPr b="0" lang="en-US" sz="9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89;p15"/>
          <p:cNvSpPr/>
          <p:nvPr/>
        </p:nvSpPr>
        <p:spPr>
          <a:xfrm>
            <a:off x="5020200" y="2228760"/>
            <a:ext cx="136044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1" lang="ru-RU" sz="4800" strike="noStrike" u="none">
              <a:solidFill>
                <a:schemeClr val="lt1"/>
              </a:solidFill>
              <a:effectLst/>
              <a:uFillTx/>
              <a:latin typeface="Raleway"/>
              <a:ea typeface="Raleway"/>
            </a:endParaRPr>
          </a:p>
        </p:txBody>
      </p:sp>
      <p:sp>
        <p:nvSpPr>
          <p:cNvPr id="94" name=""/>
          <p:cNvSpPr/>
          <p:nvPr/>
        </p:nvSpPr>
        <p:spPr>
          <a:xfrm>
            <a:off x="871560" y="1952280"/>
            <a:ext cx="7399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HOST</a:t>
            </a: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</a:t>
            </a:r>
            <a:r>
              <a:rPr b="1" lang="ru-RU" sz="2400" strike="noStrike" u="non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PATH</a:t>
            </a: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b="1" lang="ru-RU" sz="2400" strike="noStrike" u="none"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Arial"/>
                <a:ea typeface="Arial"/>
              </a:rPr>
              <a:t>TAG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871560" y="2895840"/>
            <a:ext cx="7404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docker-lab</a:t>
            </a: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</a:t>
            </a:r>
            <a:r>
              <a:rPr b="1" lang="ru-RU" sz="2400" strike="noStrike" u="non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orders-api</a:t>
            </a: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b="1" lang="ru-RU" sz="2400" strike="noStrike" u="none"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Arial"/>
                <a:ea typeface="Arial"/>
              </a:rPr>
              <a:t>lates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6" name=""/>
          <p:cNvCxnSpPr>
            <a:stCxn id="94" idx="2"/>
            <a:endCxn id="95" idx="0"/>
          </p:cNvCxnSpPr>
          <p:nvPr/>
        </p:nvCxnSpPr>
        <p:spPr>
          <a:xfrm>
            <a:off x="4571280" y="2407680"/>
            <a:ext cx="3240" cy="488520"/>
          </a:xfrm>
          <a:prstGeom prst="straightConnector1">
            <a:avLst/>
          </a:prstGeom>
          <a:ln w="38099"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97" name=""/>
          <p:cNvSpPr/>
          <p:nvPr/>
        </p:nvSpPr>
        <p:spPr>
          <a:xfrm>
            <a:off x="868320" y="3324600"/>
            <a:ext cx="7408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docker-lab</a:t>
            </a: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</a:t>
            </a:r>
            <a:r>
              <a:rPr b="1" lang="ru-RU" sz="2400" strike="noStrike" u="non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orders-api</a:t>
            </a: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b="1" lang="ru-RU" sz="2400" strike="noStrike" u="none"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Arial"/>
                <a:ea typeface="Arial"/>
              </a:rPr>
              <a:t>stage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859320" y="3715200"/>
            <a:ext cx="7407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docker-lab</a:t>
            </a: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</a:t>
            </a:r>
            <a:r>
              <a:rPr b="1" lang="ru-RU" sz="2400" strike="noStrike" u="non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orders-api</a:t>
            </a: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b="1" lang="ru-RU" sz="2400" strike="noStrike" u="none"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Arial"/>
                <a:ea typeface="Arial"/>
              </a:rPr>
              <a:t>2.0.1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282960" y="712080"/>
            <a:ext cx="8230680" cy="77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1" lang="ru" sz="4200" strike="noStrike" u="none">
                <a:solidFill>
                  <a:schemeClr val="accent5"/>
                </a:solidFill>
                <a:effectLst/>
                <a:uFillTx/>
                <a:latin typeface="Raleway"/>
                <a:ea typeface="Raleway"/>
              </a:rPr>
              <a:t>Цель этапа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05;p 1"/>
          <p:cNvSpPr/>
          <p:nvPr/>
        </p:nvSpPr>
        <p:spPr>
          <a:xfrm>
            <a:off x="282960" y="2941560"/>
            <a:ext cx="8086680" cy="13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Raleway"/>
              <a:buChar char="●"/>
            </a:pPr>
            <a:r>
              <a:rPr b="0" lang="ru" sz="19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Понять как выглядит подготовка контейнера с точки зрения разработчика. (Найти общий язык с разработчиком) 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Raleway"/>
              <a:buChar char="●"/>
            </a:pPr>
            <a:r>
              <a:rPr b="0" lang="ru" sz="19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Дать представление о том, как можно поменять docker-образ, при необходимости.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06;p 1"/>
          <p:cNvSpPr/>
          <p:nvPr/>
        </p:nvSpPr>
        <p:spPr>
          <a:xfrm>
            <a:off x="282960" y="1367640"/>
            <a:ext cx="8432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ru" sz="42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Сборка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61;p 1"/>
          <p:cNvSpPr/>
          <p:nvPr/>
        </p:nvSpPr>
        <p:spPr>
          <a:xfrm>
            <a:off x="8162280" y="16200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3" name="Google Shape;162;p 1"/>
          <p:cNvSpPr/>
          <p:nvPr/>
        </p:nvSpPr>
        <p:spPr>
          <a:xfrm>
            <a:off x="8186760" y="189360"/>
            <a:ext cx="791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2</a:t>
            </a:r>
            <a:endParaRPr b="0" lang="en-US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Dockerfile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" dur="indefinite" restart="never" nodeType="tmRoot">
          <p:childTnLst>
            <p:seq>
              <p:cTn id="38" dur="indefinite" nodeType="mainSeq"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864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Базовый образ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61;p 2"/>
          <p:cNvSpPr/>
          <p:nvPr/>
        </p:nvSpPr>
        <p:spPr>
          <a:xfrm>
            <a:off x="8161920" y="16164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4">
              <a:lumMod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91280" cy="639360"/>
          </a:xfrm>
          <a:prstGeom prst="rect">
            <a:avLst/>
          </a:prstGeom>
          <a:noFill/>
          <a:ln w="0">
            <a:noFill/>
          </a:ln>
        </p:spPr>
        <p:txBody>
          <a:bodyPr lIns="29160" rIns="29160" tIns="29160" bIns="291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5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83"/>
              </a:spcBef>
              <a:spcAft>
                <a:spcPts val="383"/>
              </a:spcAft>
              <a:buNone/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Оптимизация контейнера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89;p 1"/>
          <p:cNvSpPr/>
          <p:nvPr/>
        </p:nvSpPr>
        <p:spPr>
          <a:xfrm>
            <a:off x="5020200" y="2228760"/>
            <a:ext cx="136044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1" lang="ru-RU" sz="4800" strike="noStrike" u="none">
              <a:solidFill>
                <a:schemeClr val="lt1"/>
              </a:solidFill>
              <a:effectLst/>
              <a:uFillTx/>
              <a:latin typeface="Raleway"/>
              <a:ea typeface="Raleway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3986640" y="0"/>
            <a:ext cx="5141880" cy="51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572000" y="644760"/>
            <a:ext cx="1727280" cy="621000"/>
          </a:xfrm>
          <a:prstGeom prst="rect">
            <a:avLst/>
          </a:prstGeom>
          <a:solidFill>
            <a:srgbClr val="eae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21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python-slim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6614640" y="557640"/>
            <a:ext cx="1727280" cy="621000"/>
          </a:xfrm>
          <a:prstGeom prst="rect">
            <a:avLst/>
          </a:prstGeom>
          <a:solidFill>
            <a:srgbClr val="eae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2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python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457200" y="1828800"/>
            <a:ext cx="319896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FROM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debian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FROM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noble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FROM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python:3.11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ff4000"/>
                </a:solidFill>
                <a:effectLst/>
                <a:uFillTx/>
                <a:latin typeface="Arial"/>
                <a:ea typeface="Noto Sans CJK SC"/>
              </a:rPr>
              <a:t>FROM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python:3.11-slim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ff4000"/>
                </a:solidFill>
                <a:effectLst/>
                <a:uFillTx/>
                <a:latin typeface="Arial"/>
                <a:ea typeface="Noto Sans CJK SC"/>
              </a:rPr>
              <a:t>FROM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node:18-slim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ff4000"/>
                </a:solidFill>
                <a:effectLst/>
                <a:uFillTx/>
                <a:latin typeface="Arial"/>
                <a:ea typeface="Noto Sans CJK SC"/>
              </a:rPr>
              <a:t>FROM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scratch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228600" y="4572000"/>
            <a:ext cx="33559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277bd"/>
                </a:solidFill>
                <a:effectLst/>
                <a:uFillTx/>
                <a:latin typeface="Arial"/>
                <a:ea typeface="Arial"/>
                <a:hlinkClick r:id="rId2"/>
              </a:rPr>
              <a:t>https://hub.docker.com/u/library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864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Рабочая директория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89;p 1"/>
          <p:cNvSpPr/>
          <p:nvPr/>
        </p:nvSpPr>
        <p:spPr>
          <a:xfrm>
            <a:off x="5020200" y="2228760"/>
            <a:ext cx="136044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1" lang="ru-RU" sz="4800" strike="noStrike" u="none">
              <a:solidFill>
                <a:schemeClr val="lt1"/>
              </a:solidFill>
              <a:effectLst/>
              <a:uFillTx/>
              <a:latin typeface="Raleway"/>
              <a:ea typeface="Raleway"/>
            </a:endParaRPr>
          </a:p>
        </p:txBody>
      </p:sp>
      <p:sp>
        <p:nvSpPr>
          <p:cNvPr id="115" name=""/>
          <p:cNvSpPr/>
          <p:nvPr/>
        </p:nvSpPr>
        <p:spPr>
          <a:xfrm>
            <a:off x="457200" y="1828800"/>
            <a:ext cx="1827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WORKDIR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/app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61;p 4"/>
          <p:cNvSpPr/>
          <p:nvPr/>
        </p:nvSpPr>
        <p:spPr>
          <a:xfrm>
            <a:off x="8162640" y="16236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7" name="Google Shape;162;p 4"/>
          <p:cNvSpPr/>
          <p:nvPr/>
        </p:nvSpPr>
        <p:spPr>
          <a:xfrm>
            <a:off x="8187120" y="189720"/>
            <a:ext cx="791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2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Dockerfile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4572000" y="0"/>
            <a:ext cx="3884760" cy="50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├── bin/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├── bash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├── python3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└── pip3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├── lib/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└── python3.11/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    └── site-packages/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        ├── fastapi/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        ├── pydantic/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        ├── ...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├── usr/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├── bin/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├── lib/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└── share/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├── etc/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├── hosts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├── passwd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└── ...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trike="noStrike" u="none">
                <a:solidFill>
                  <a:srgbClr val="ff8000"/>
                </a:solidFill>
                <a:effectLst/>
                <a:uFillTx/>
                <a:latin typeface="Adwaita Mono"/>
                <a:ea typeface="Arial"/>
              </a:rPr>
              <a:t>└── src/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├── main.py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├── requirements.txt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└── app/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    ├── __init__.py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    ├── routes.py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    └── utils.py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9" name=""/>
          <p:cNvCxnSpPr>
            <a:stCxn id="115" idx="3"/>
          </p:cNvCxnSpPr>
          <p:nvPr/>
        </p:nvCxnSpPr>
        <p:spPr>
          <a:xfrm>
            <a:off x="2284560" y="2010960"/>
            <a:ext cx="2126160" cy="1705680"/>
          </a:xfrm>
          <a:prstGeom prst="curvedConnector3">
            <a:avLst>
              <a:gd name="adj1" fmla="val 31397"/>
            </a:avLst>
          </a:prstGeom>
          <a:ln w="25560">
            <a:solidFill>
              <a:srgbClr val="ff8000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864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Копировать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89;p 1"/>
          <p:cNvSpPr/>
          <p:nvPr/>
        </p:nvSpPr>
        <p:spPr>
          <a:xfrm>
            <a:off x="5020200" y="2228760"/>
            <a:ext cx="136044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1" lang="ru-RU" sz="4800" strike="noStrike" u="none">
              <a:solidFill>
                <a:schemeClr val="lt1"/>
              </a:solidFill>
              <a:effectLst/>
              <a:uFillTx/>
              <a:latin typeface="Raleway"/>
              <a:ea typeface="Raleway"/>
            </a:endParaRPr>
          </a:p>
        </p:txBody>
      </p:sp>
      <p:sp>
        <p:nvSpPr>
          <p:cNvPr id="122" name=""/>
          <p:cNvSpPr/>
          <p:nvPr/>
        </p:nvSpPr>
        <p:spPr>
          <a:xfrm>
            <a:off x="457200" y="1828800"/>
            <a:ext cx="434196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COPY 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&lt;откуда&gt; &lt;куда&gt;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COPY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app/requirements.txt 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COPY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app /app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COPY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 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61;p 4"/>
          <p:cNvSpPr/>
          <p:nvPr/>
        </p:nvSpPr>
        <p:spPr>
          <a:xfrm>
            <a:off x="8162640" y="16236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4" name="Google Shape;162;p 4"/>
          <p:cNvSpPr/>
          <p:nvPr/>
        </p:nvSpPr>
        <p:spPr>
          <a:xfrm>
            <a:off x="8187120" y="189720"/>
            <a:ext cx="791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2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Dockerfile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6462720" y="1564560"/>
            <a:ext cx="3884760" cy="24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├── bin/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├── lib/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├── usr/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├── etc/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└── src/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├── main.py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├── requirements.txt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└── app/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    ├── __init__.py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    ├── routes.py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    └── utils.py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rcRect l="0" t="0" r="0" b="29751"/>
          <a:stretch/>
        </p:blipFill>
        <p:spPr>
          <a:xfrm>
            <a:off x="3657600" y="1564560"/>
            <a:ext cx="2839680" cy="369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"/>
          <p:cNvSpPr/>
          <p:nvPr/>
        </p:nvSpPr>
        <p:spPr>
          <a:xfrm>
            <a:off x="4114800" y="2563560"/>
            <a:ext cx="2320560" cy="227160"/>
          </a:xfrm>
          <a:prstGeom prst="rect">
            <a:avLst/>
          </a:prstGeom>
          <a:noFill/>
          <a:ln w="29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760" rIns="104760" tIns="59760" bIns="5976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6823440" y="2743200"/>
            <a:ext cx="2320560" cy="612360"/>
          </a:xfrm>
          <a:prstGeom prst="rect">
            <a:avLst/>
          </a:prstGeom>
          <a:noFill/>
          <a:ln w="29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760" rIns="104760" tIns="59760" bIns="5976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cxnSp>
        <p:nvCxnSpPr>
          <p:cNvPr id="129" name=""/>
          <p:cNvCxnSpPr>
            <a:stCxn id="127" idx="2"/>
            <a:endCxn id="128" idx="1"/>
          </p:cNvCxnSpPr>
          <p:nvPr/>
        </p:nvCxnSpPr>
        <p:spPr>
          <a:xfrm flipH="1" rot="16200000">
            <a:off x="5919840" y="2145600"/>
            <a:ext cx="259200" cy="1548720"/>
          </a:xfrm>
          <a:prstGeom prst="curvedConnector2">
            <a:avLst/>
          </a:prstGeom>
          <a:ln w="38160">
            <a:solidFill>
              <a:srgbClr val="ff8000"/>
            </a:solidFill>
            <a:round/>
            <a:tailEnd len="med" type="triangle" w="med"/>
          </a:ln>
        </p:spPr>
      </p:cxnSp>
      <p:sp>
        <p:nvSpPr>
          <p:cNvPr id="130" name=""/>
          <p:cNvSpPr/>
          <p:nvPr/>
        </p:nvSpPr>
        <p:spPr>
          <a:xfrm>
            <a:off x="6498720" y="1281600"/>
            <a:ext cx="182520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trike="noStrike" u="none">
                <a:solidFill>
                  <a:srgbClr val="ff4000"/>
                </a:solidFill>
                <a:effectLst/>
                <a:uFillTx/>
                <a:latin typeface="Adwaita Mono"/>
                <a:ea typeface="Arial"/>
              </a:rPr>
              <a:t>Внутри контейнера: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3657600" y="1281600"/>
            <a:ext cx="182520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trike="noStrike" u="none">
                <a:solidFill>
                  <a:srgbClr val="ff4000"/>
                </a:solidFill>
                <a:effectLst/>
                <a:uFillTx/>
                <a:latin typeface="Adwaita Mono"/>
                <a:ea typeface="Arial"/>
              </a:rPr>
              <a:t>На хостовой машине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864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Выполнить при сборке образа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89;p 3"/>
          <p:cNvSpPr/>
          <p:nvPr/>
        </p:nvSpPr>
        <p:spPr>
          <a:xfrm>
            <a:off x="5020200" y="2228760"/>
            <a:ext cx="136044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1" lang="ru-RU" sz="4800" strike="noStrike" u="none">
              <a:solidFill>
                <a:schemeClr val="lt1"/>
              </a:solidFill>
              <a:effectLst/>
              <a:uFillTx/>
              <a:latin typeface="Raleway"/>
              <a:ea typeface="Raleway"/>
            </a:endParaRPr>
          </a:p>
        </p:txBody>
      </p:sp>
      <p:sp>
        <p:nvSpPr>
          <p:cNvPr id="134" name=""/>
          <p:cNvSpPr/>
          <p:nvPr/>
        </p:nvSpPr>
        <p:spPr>
          <a:xfrm>
            <a:off x="457200" y="1828800"/>
            <a:ext cx="731376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RUN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echo "Hello, world!"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RUN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apt-get update &amp;&amp; apt-get install -y curl git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RUN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pip install --no-cache-dir flask requests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RUN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chmod +x /tmp/setup.sh &amp;&amp; /tmp/setup.sh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RUN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mkdir -p $APP_HOME/src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61;p 5"/>
          <p:cNvSpPr/>
          <p:nvPr/>
        </p:nvSpPr>
        <p:spPr>
          <a:xfrm>
            <a:off x="8162640" y="16236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6" name="Google Shape;162;p 5"/>
          <p:cNvSpPr/>
          <p:nvPr/>
        </p:nvSpPr>
        <p:spPr>
          <a:xfrm>
            <a:off x="8187120" y="189720"/>
            <a:ext cx="791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2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Dockerfile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745128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Выполнить при старте контейнра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89;p 2"/>
          <p:cNvSpPr/>
          <p:nvPr/>
        </p:nvSpPr>
        <p:spPr>
          <a:xfrm>
            <a:off x="5020200" y="2228760"/>
            <a:ext cx="136044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1" lang="ru-RU" sz="4800" strike="noStrike" u="none">
              <a:solidFill>
                <a:schemeClr val="lt1"/>
              </a:solidFill>
              <a:effectLst/>
              <a:uFillTx/>
              <a:latin typeface="Raleway"/>
              <a:ea typeface="Raleway"/>
            </a:endParaRPr>
          </a:p>
        </p:txBody>
      </p:sp>
      <p:sp>
        <p:nvSpPr>
          <p:cNvPr id="139" name=""/>
          <p:cNvSpPr/>
          <p:nvPr/>
        </p:nvSpPr>
        <p:spPr>
          <a:xfrm>
            <a:off x="457200" y="1828800"/>
            <a:ext cx="7313760" cy="39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CMD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["python", "app.py"]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CMD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["gunicorn", "app:app", "--bind", "0.0.0.0:8000"]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CMD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["node", "server.js"]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CMD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["nginx", "-g", "daemon off;"]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CMD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["bash"]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CMD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["postgres"]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61;p 3"/>
          <p:cNvSpPr/>
          <p:nvPr/>
        </p:nvSpPr>
        <p:spPr>
          <a:xfrm>
            <a:off x="8162640" y="16236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1" name="Google Shape;162;p 3"/>
          <p:cNvSpPr/>
          <p:nvPr/>
        </p:nvSpPr>
        <p:spPr>
          <a:xfrm>
            <a:off x="8187120" y="189720"/>
            <a:ext cx="791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2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Dockerfile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864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Cлои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89;p15"/>
          <p:cNvSpPr/>
          <p:nvPr/>
        </p:nvSpPr>
        <p:spPr>
          <a:xfrm>
            <a:off x="5020200" y="2228760"/>
            <a:ext cx="136044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1" lang="ru-RU" sz="4800" strike="noStrike" u="none">
              <a:solidFill>
                <a:schemeClr val="lt1"/>
              </a:solidFill>
              <a:effectLst/>
              <a:uFillTx/>
              <a:latin typeface="Raleway"/>
              <a:ea typeface="Raleway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1"/>
          <a:stretch/>
        </p:blipFill>
        <p:spPr>
          <a:xfrm>
            <a:off x="108720" y="-996480"/>
            <a:ext cx="11183400" cy="74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"/>
          <p:cNvSpPr/>
          <p:nvPr/>
        </p:nvSpPr>
        <p:spPr>
          <a:xfrm>
            <a:off x="2619720" y="2104920"/>
            <a:ext cx="6161400" cy="2100600"/>
          </a:xfrm>
          <a:prstGeom prst="rect">
            <a:avLst/>
          </a:prstGeom>
          <a:solidFill>
            <a:schemeClr val="dk2">
              <a:lumMod val="75000"/>
              <a:lumOff val="25000"/>
              <a:alpha val="3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2200" strike="noStrike" u="non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FROM python:3.11-slim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2200" strike="noStrike" u="non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WORKDIR /app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2200" strike="noStrike" u="non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COPY requirements.txt 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2200" strike="noStrike" u="non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RUN pip install -r requirements.txt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2200" strike="noStrike" u="non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COPY . 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2200" strike="noStrike" u="non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CMD ["python", "main.py"]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161;p23"/>
          <p:cNvSpPr/>
          <p:nvPr/>
        </p:nvSpPr>
        <p:spPr>
          <a:xfrm>
            <a:off x="8161920" y="16164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91280" cy="639360"/>
          </a:xfrm>
          <a:prstGeom prst="rect">
            <a:avLst/>
          </a:prstGeom>
          <a:noFill/>
          <a:ln w="0">
            <a:noFill/>
          </a:ln>
        </p:spPr>
        <p:txBody>
          <a:bodyPr lIns="29160" rIns="29160" tIns="29160" bIns="291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2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Dockerfile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864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4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Cлои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89;p15"/>
          <p:cNvSpPr/>
          <p:nvPr/>
        </p:nvSpPr>
        <p:spPr>
          <a:xfrm>
            <a:off x="5020200" y="2228760"/>
            <a:ext cx="136044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1" lang="ru-RU" sz="4800" strike="noStrike" u="none">
              <a:solidFill>
                <a:schemeClr val="lt1"/>
              </a:solidFill>
              <a:effectLst/>
              <a:uFillTx/>
              <a:latin typeface="Raleway"/>
              <a:ea typeface="Raleway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1"/>
          <a:srcRect l="0" t="0" r="0" b="17707"/>
          <a:stretch/>
        </p:blipFill>
        <p:spPr>
          <a:xfrm rot="10800000">
            <a:off x="110520" y="1206720"/>
            <a:ext cx="11183400" cy="61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"/>
          <p:cNvSpPr/>
          <p:nvPr/>
        </p:nvSpPr>
        <p:spPr>
          <a:xfrm>
            <a:off x="2619720" y="1422360"/>
            <a:ext cx="6166080" cy="2100600"/>
          </a:xfrm>
          <a:prstGeom prst="rect">
            <a:avLst/>
          </a:prstGeom>
          <a:solidFill>
            <a:schemeClr val="dk2">
              <a:lumMod val="75000"/>
              <a:lumOff val="25000"/>
              <a:alpha val="3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2200" strike="noStrike" u="non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FROM python:3.11-slim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2200" strike="noStrike" u="non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WORKDIR /app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2200" strike="noStrike" u="non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COPY requirements.txt .</a:t>
            </a:r>
            <a:br>
              <a:rPr sz="2200"/>
            </a:br>
            <a:r>
              <a:rPr b="1" lang="ru-RU" sz="2200" strike="noStrike" u="non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RUN pip install -r requirements.txt</a:t>
            </a:r>
            <a:br>
              <a:rPr sz="2200"/>
            </a:br>
            <a:r>
              <a:rPr b="1" lang="ru-RU" sz="2200" strike="noStrike" u="non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COPY /app 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2200" strike="noStrike" u="non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CMD ["python", "main.py"]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350280" y="1914120"/>
            <a:ext cx="21366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3" name="Google Shape;161;p23"/>
          <p:cNvSpPr/>
          <p:nvPr/>
        </p:nvSpPr>
        <p:spPr>
          <a:xfrm>
            <a:off x="8161920" y="16164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91280" cy="639360"/>
          </a:xfrm>
          <a:prstGeom prst="rect">
            <a:avLst/>
          </a:prstGeom>
          <a:noFill/>
          <a:ln w="0">
            <a:noFill/>
          </a:ln>
        </p:spPr>
        <p:txBody>
          <a:bodyPr lIns="29160" rIns="29160" tIns="29160" bIns="291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2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Dockerfile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7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1;p22" descr=""/>
          <p:cNvPicPr/>
          <p:nvPr/>
        </p:nvPicPr>
        <p:blipFill>
          <a:blip r:embed="rId1"/>
          <a:stretch/>
        </p:blipFill>
        <p:spPr>
          <a:xfrm>
            <a:off x="2444760" y="162720"/>
            <a:ext cx="4252680" cy="481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Google Shape;152;p22" descr="Кусок клейкой ленты, который удерживает заметку на слайде"/>
          <p:cNvPicPr/>
          <p:nvPr/>
        </p:nvPicPr>
        <p:blipFill>
          <a:blip r:embed="rId2"/>
          <a:srcRect l="9242" t="5927" r="2118" b="10007"/>
          <a:stretch/>
        </p:blipFill>
        <p:spPr>
          <a:xfrm rot="154800">
            <a:off x="3535920" y="147240"/>
            <a:ext cx="2070360" cy="73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Google Shape;153;p22"/>
          <p:cNvSpPr/>
          <p:nvPr/>
        </p:nvSpPr>
        <p:spPr>
          <a:xfrm>
            <a:off x="2855520" y="687240"/>
            <a:ext cx="343116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2800" strike="noStrike" u="none">
                <a:solidFill>
                  <a:schemeClr val="lt2"/>
                </a:solidFill>
                <a:effectLst/>
                <a:uFillTx/>
                <a:latin typeface="Raleway"/>
                <a:ea typeface="Raleway"/>
              </a:rPr>
              <a:t>Образы и контейнеры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/>
          </p:nvPr>
        </p:nvSpPr>
        <p:spPr>
          <a:xfrm>
            <a:off x="2855520" y="1504800"/>
            <a:ext cx="3431160" cy="319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43080" defTabSz="914400">
              <a:lnSpc>
                <a:spcPct val="114000"/>
              </a:lnSpc>
              <a:buClr>
                <a:srgbClr val="0070c0"/>
              </a:buClr>
              <a:buFont typeface="Raleway"/>
              <a:buChar char="➔"/>
            </a:pPr>
            <a:r>
              <a:rPr b="1" lang="ru" sz="1600" strike="noStrike" u="non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Dockerfile</a:t>
            </a:r>
            <a:br>
              <a:rPr sz="1600"/>
            </a:br>
            <a:r>
              <a:rPr b="0" lang="ru" sz="1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Инструкция по сборке образа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 defTabSz="914400">
              <a:lnSpc>
                <a:spcPct val="114000"/>
              </a:lnSpc>
              <a:buClr>
                <a:srgbClr val="0070c0"/>
              </a:buClr>
              <a:buFont typeface="Raleway"/>
              <a:buChar char="➔"/>
            </a:pPr>
            <a:r>
              <a:rPr b="1" lang="ru" sz="1600" strike="noStrike" u="non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Образ (image)</a:t>
            </a:r>
            <a:br>
              <a:rPr sz="1600"/>
            </a:br>
            <a:r>
              <a:rPr b="0" lang="ru" sz="1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docker images</a:t>
            </a:r>
            <a:br>
              <a:rPr sz="1600"/>
            </a:br>
            <a:r>
              <a:rPr b="0" lang="ru" sz="1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Синтаксис именования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 defTabSz="914400">
              <a:lnSpc>
                <a:spcPct val="114000"/>
              </a:lnSpc>
              <a:buClr>
                <a:srgbClr val="0070c0"/>
              </a:buClr>
              <a:buFont typeface="Raleway"/>
              <a:buChar char="➔"/>
            </a:pPr>
            <a:r>
              <a:rPr b="1" lang="ru" sz="1600" strike="noStrike" u="non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Сборка</a:t>
            </a:r>
            <a:br>
              <a:rPr sz="1600"/>
            </a:br>
            <a:r>
              <a:rPr b="0" lang="ru" sz="1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docker build –f –t . 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 defTabSz="914400">
              <a:lnSpc>
                <a:spcPct val="114000"/>
              </a:lnSpc>
              <a:spcBef>
                <a:spcPts val="1001"/>
              </a:spcBef>
              <a:spcAft>
                <a:spcPts val="1001"/>
              </a:spcAft>
              <a:buClr>
                <a:srgbClr val="0070c0"/>
              </a:buClr>
              <a:buFont typeface="Raleway"/>
              <a:buChar char="➔"/>
            </a:pPr>
            <a:r>
              <a:rPr b="1" lang="ru" sz="1600" strike="noStrike" u="non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Запуск контейнера</a:t>
            </a:r>
            <a:br>
              <a:rPr sz="1600"/>
            </a:br>
            <a:r>
              <a:rPr b="0" lang="ru" sz="1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docker run</a:t>
            </a:r>
            <a:br>
              <a:rPr sz="1600"/>
            </a:br>
            <a:r>
              <a:rPr b="0" lang="ru" sz="1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docker</a:t>
            </a:r>
            <a:r>
              <a:rPr b="1" lang="ru" sz="16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b="0" lang="ru" sz="1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ps</a:t>
            </a:r>
            <a:br>
              <a:rPr sz="1600"/>
            </a:br>
            <a:r>
              <a:rPr b="1" lang="ru" sz="16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 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282960" y="712080"/>
            <a:ext cx="8230680" cy="77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1" lang="ru" sz="4200" strike="noStrike" u="none">
                <a:solidFill>
                  <a:schemeClr val="accent5"/>
                </a:solidFill>
                <a:effectLst/>
                <a:uFillTx/>
                <a:latin typeface="Raleway"/>
                <a:ea typeface="Raleway"/>
              </a:rPr>
              <a:t>Цель этапа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105;p 1"/>
          <p:cNvSpPr/>
          <p:nvPr/>
        </p:nvSpPr>
        <p:spPr>
          <a:xfrm>
            <a:off x="282960" y="2531160"/>
            <a:ext cx="8086680" cy="24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Raleway"/>
              <a:buChar char="●"/>
            </a:pPr>
            <a:r>
              <a:rPr b="0" lang="ru" sz="19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Разобраться с инструментами и командами для управления жизненным циклом docker-контейнера: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360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" sz="19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Конфигурирование, запуск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360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" sz="19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Мониторинг, изучение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360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" sz="19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Остановка, удаление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Raleway"/>
              <a:buChar char="●"/>
            </a:pPr>
            <a:r>
              <a:rPr b="0" lang="ru" sz="19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Понять, как выглядит развертывание и управление контейнеризированным приложением с точки зрения DevOps-специалиста (Найти общий язык с DevOps'ом)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106;p 1"/>
          <p:cNvSpPr/>
          <p:nvPr/>
        </p:nvSpPr>
        <p:spPr>
          <a:xfrm>
            <a:off x="282960" y="1367640"/>
            <a:ext cx="8432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ru" sz="42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161;p 6"/>
          <p:cNvSpPr/>
          <p:nvPr/>
        </p:nvSpPr>
        <p:spPr>
          <a:xfrm>
            <a:off x="8162280" y="16200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3" name="Google Shape;162;p 6"/>
          <p:cNvSpPr/>
          <p:nvPr/>
        </p:nvSpPr>
        <p:spPr>
          <a:xfrm>
            <a:off x="8186760" y="189360"/>
            <a:ext cx="791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3</a:t>
            </a:r>
            <a:endParaRPr b="0" lang="en-US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" dur="indefinite" restart="never" nodeType="tmRoot">
          <p:childTnLst>
            <p:seq>
              <p:cTn id="48" dur="indefinite" nodeType="mainSeq"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864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4000"/>
              </a:lnSpc>
              <a:spcAft>
                <a:spcPts val="1596"/>
              </a:spcAft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docker compose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161;p23"/>
          <p:cNvSpPr/>
          <p:nvPr/>
        </p:nvSpPr>
        <p:spPr>
          <a:xfrm>
            <a:off x="8161920" y="16164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91280" cy="639360"/>
          </a:xfrm>
          <a:prstGeom prst="rect">
            <a:avLst/>
          </a:prstGeom>
          <a:noFill/>
          <a:ln w="0">
            <a:noFill/>
          </a:ln>
        </p:spPr>
        <p:txBody>
          <a:bodyPr lIns="29160" rIns="29160" tIns="29160" bIns="291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3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89;p15"/>
          <p:cNvSpPr/>
          <p:nvPr/>
        </p:nvSpPr>
        <p:spPr>
          <a:xfrm>
            <a:off x="5020200" y="2228760"/>
            <a:ext cx="136044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1" lang="ru-RU" sz="4800" strike="noStrike" u="none">
              <a:solidFill>
                <a:schemeClr val="lt1"/>
              </a:solidFill>
              <a:effectLst/>
              <a:uFillTx/>
              <a:latin typeface="Raleway"/>
              <a:ea typeface="Raleway"/>
            </a:endParaRPr>
          </a:p>
        </p:txBody>
      </p:sp>
      <p:sp>
        <p:nvSpPr>
          <p:cNvPr id="168" name=""/>
          <p:cNvSpPr/>
          <p:nvPr/>
        </p:nvSpPr>
        <p:spPr>
          <a:xfrm>
            <a:off x="0" y="0"/>
            <a:ext cx="4571280" cy="5142960"/>
          </a:xfrm>
          <a:prstGeom prst="rect">
            <a:avLst/>
          </a:prstGeom>
          <a:solidFill>
            <a:srgbClr val="35353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PT Mono"/>
                <a:ea typeface="Calibri"/>
              </a:rPr>
              <a:t>PROBLEMS  OUTPUT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</a:t>
            </a:r>
            <a:r>
              <a:rPr b="0" lang="en-US" sz="1600" strike="noStrike" u="sng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TERMINAL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</a:t>
            </a: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PT Mono"/>
                <a:ea typeface="Calibri"/>
              </a:rPr>
              <a:t>PORTS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$ docker run --rm -p 8081:8080  docker-lab/orders-api:latest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864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4000"/>
              </a:lnSpc>
              <a:spcAft>
                <a:spcPts val="1596"/>
              </a:spcAft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docker compose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161;p 13"/>
          <p:cNvSpPr/>
          <p:nvPr/>
        </p:nvSpPr>
        <p:spPr>
          <a:xfrm>
            <a:off x="8161920" y="16164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91280" cy="639360"/>
          </a:xfrm>
          <a:prstGeom prst="rect">
            <a:avLst/>
          </a:prstGeom>
          <a:noFill/>
          <a:ln w="0">
            <a:noFill/>
          </a:ln>
        </p:spPr>
        <p:txBody>
          <a:bodyPr lIns="29160" rIns="29160" tIns="29160" bIns="291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3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89;p 8"/>
          <p:cNvSpPr/>
          <p:nvPr/>
        </p:nvSpPr>
        <p:spPr>
          <a:xfrm>
            <a:off x="5020200" y="2228760"/>
            <a:ext cx="136044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1" lang="ru-RU" sz="4800" strike="noStrike" u="none">
              <a:solidFill>
                <a:schemeClr val="lt1"/>
              </a:solidFill>
              <a:effectLst/>
              <a:uFillTx/>
              <a:latin typeface="Raleway"/>
              <a:ea typeface="Raleway"/>
            </a:endParaRPr>
          </a:p>
        </p:txBody>
      </p:sp>
      <p:sp>
        <p:nvSpPr>
          <p:cNvPr id="173" name=""/>
          <p:cNvSpPr/>
          <p:nvPr/>
        </p:nvSpPr>
        <p:spPr>
          <a:xfrm>
            <a:off x="0" y="0"/>
            <a:ext cx="4571280" cy="5142960"/>
          </a:xfrm>
          <a:prstGeom prst="rect">
            <a:avLst/>
          </a:prstGeom>
          <a:solidFill>
            <a:srgbClr val="35353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PT Mono"/>
                <a:ea typeface="Calibri"/>
              </a:rPr>
              <a:t>PROBLEMS  OUTPUT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</a:t>
            </a:r>
            <a:r>
              <a:rPr b="0" lang="en-US" sz="1600" strike="noStrike" u="sng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TERMINAL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</a:t>
            </a: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PT Mono"/>
                <a:ea typeface="Calibri"/>
              </a:rPr>
              <a:t>PORTS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$ docker run -d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--name mydb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-e POSTGRES_USER=admin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-e POSTGRES_PASSWORD=secret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-e POSTGRES_DB=myapp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-v pg_data:/var/lib/postgresql/data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postgres:15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864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4000"/>
              </a:lnSpc>
              <a:spcAft>
                <a:spcPts val="1596"/>
              </a:spcAft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docker compose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161;p 10"/>
          <p:cNvSpPr/>
          <p:nvPr/>
        </p:nvSpPr>
        <p:spPr>
          <a:xfrm>
            <a:off x="8161920" y="16164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91280" cy="639360"/>
          </a:xfrm>
          <a:prstGeom prst="rect">
            <a:avLst/>
          </a:prstGeom>
          <a:noFill/>
          <a:ln w="0">
            <a:noFill/>
          </a:ln>
        </p:spPr>
        <p:txBody>
          <a:bodyPr lIns="29160" rIns="29160" tIns="29160" bIns="291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3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89;p 5"/>
          <p:cNvSpPr/>
          <p:nvPr/>
        </p:nvSpPr>
        <p:spPr>
          <a:xfrm>
            <a:off x="5020200" y="2228760"/>
            <a:ext cx="136044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1" lang="ru-RU" sz="4800" strike="noStrike" u="none">
              <a:solidFill>
                <a:schemeClr val="lt1"/>
              </a:solidFill>
              <a:effectLst/>
              <a:uFillTx/>
              <a:latin typeface="Raleway"/>
              <a:ea typeface="Raleway"/>
            </a:endParaRPr>
          </a:p>
        </p:txBody>
      </p:sp>
      <p:sp>
        <p:nvSpPr>
          <p:cNvPr id="178" name=""/>
          <p:cNvSpPr/>
          <p:nvPr/>
        </p:nvSpPr>
        <p:spPr>
          <a:xfrm>
            <a:off x="0" y="0"/>
            <a:ext cx="4571280" cy="5142960"/>
          </a:xfrm>
          <a:prstGeom prst="rect">
            <a:avLst/>
          </a:prstGeom>
          <a:solidFill>
            <a:srgbClr val="35353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PT Mono"/>
                <a:ea typeface="Calibri"/>
              </a:rPr>
              <a:t>PROBLEMS  OUTPUT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</a:t>
            </a:r>
            <a:r>
              <a:rPr b="0" lang="en-US" sz="1600" strike="noStrike" u="sng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TERMINAL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</a:t>
            </a: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PT Mono"/>
                <a:ea typeface="Calibri"/>
              </a:rPr>
              <a:t>PORTS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$ docker run -d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--name mydb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-e POSTGRES_USER=admin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-e POSTGRES_PASSWORD=secret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-e POSTGRES_DB=myapp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-v pg_data:/var/lib/postgresql/data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postgres:15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$ docker run -d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--name web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-p 8080:80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-v $(pwd)/nginx.conf:/etc/nginx/nginx.conf:ro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--link mydb:db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nginx:alpine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864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4000"/>
              </a:lnSpc>
              <a:spcAft>
                <a:spcPts val="1596"/>
              </a:spcAft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docker compose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161;p 12"/>
          <p:cNvSpPr/>
          <p:nvPr/>
        </p:nvSpPr>
        <p:spPr>
          <a:xfrm>
            <a:off x="8161920" y="16164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91280" cy="639360"/>
          </a:xfrm>
          <a:prstGeom prst="rect">
            <a:avLst/>
          </a:prstGeom>
          <a:noFill/>
          <a:ln w="0">
            <a:noFill/>
          </a:ln>
        </p:spPr>
        <p:txBody>
          <a:bodyPr lIns="29160" rIns="29160" tIns="29160" bIns="291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3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89;p 7"/>
          <p:cNvSpPr/>
          <p:nvPr/>
        </p:nvSpPr>
        <p:spPr>
          <a:xfrm>
            <a:off x="5020200" y="2228760"/>
            <a:ext cx="136044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1" lang="ru-RU" sz="4800" strike="noStrike" u="none">
              <a:solidFill>
                <a:schemeClr val="lt1"/>
              </a:solidFill>
              <a:effectLst/>
              <a:uFillTx/>
              <a:latin typeface="Raleway"/>
              <a:ea typeface="Raleway"/>
            </a:endParaRPr>
          </a:p>
        </p:txBody>
      </p:sp>
      <p:sp>
        <p:nvSpPr>
          <p:cNvPr id="183" name=""/>
          <p:cNvSpPr/>
          <p:nvPr/>
        </p:nvSpPr>
        <p:spPr>
          <a:xfrm>
            <a:off x="0" y="0"/>
            <a:ext cx="4571280" cy="5142960"/>
          </a:xfrm>
          <a:prstGeom prst="rect">
            <a:avLst/>
          </a:prstGeom>
          <a:solidFill>
            <a:srgbClr val="35353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PT Mono"/>
                <a:ea typeface="Calibri"/>
              </a:rPr>
              <a:t>PROBLEMS  OUTPUT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</a:t>
            </a:r>
            <a:r>
              <a:rPr b="0" lang="en-US" sz="1600" strike="noStrike" u="sng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TERMINAL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</a:t>
            </a: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PT Mono"/>
                <a:ea typeface="Calibri"/>
              </a:rPr>
              <a:t>PORTS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$ docker run -d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--name mydb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-e POSTGRES_USER=admin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-e POSTGRES_PASSWORD=secret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-e POSTGRES_DB=myapp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-v pg_data:/var/lib/postgresql/data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postgres:15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$ docker run -d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--name web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-p 8080:80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-v $(pwd)/nginx.conf:/etc/nginx/nginx.conf:ro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--link mydb:db \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nginx:alpine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4800600" y="1444320"/>
            <a:ext cx="4114080" cy="31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Запустить контейнер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2400"/>
            </a:b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Остановить контейнер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2400"/>
            </a:b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Поменять конфигурацию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2400"/>
            </a:b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Запустить контейнер(ы) снова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864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4000"/>
              </a:lnSpc>
              <a:spcAft>
                <a:spcPts val="1596"/>
              </a:spcAft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docker-compose.yml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161;p 11"/>
          <p:cNvSpPr/>
          <p:nvPr/>
        </p:nvSpPr>
        <p:spPr>
          <a:xfrm>
            <a:off x="8161920" y="16164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91280" cy="639360"/>
          </a:xfrm>
          <a:prstGeom prst="rect">
            <a:avLst/>
          </a:prstGeom>
          <a:noFill/>
          <a:ln w="0">
            <a:noFill/>
          </a:ln>
        </p:spPr>
        <p:txBody>
          <a:bodyPr lIns="29160" rIns="29160" tIns="29160" bIns="291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3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89;p 6"/>
          <p:cNvSpPr/>
          <p:nvPr/>
        </p:nvSpPr>
        <p:spPr>
          <a:xfrm>
            <a:off x="5020200" y="2228760"/>
            <a:ext cx="136044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1" lang="ru-RU" sz="4800" strike="noStrike" u="none">
              <a:solidFill>
                <a:schemeClr val="lt1"/>
              </a:solidFill>
              <a:effectLst/>
              <a:uFillTx/>
              <a:latin typeface="Raleway"/>
              <a:ea typeface="Raleway"/>
            </a:endParaRPr>
          </a:p>
        </p:txBody>
      </p:sp>
      <p:sp>
        <p:nvSpPr>
          <p:cNvPr id="189" name=""/>
          <p:cNvSpPr/>
          <p:nvPr/>
        </p:nvSpPr>
        <p:spPr>
          <a:xfrm>
            <a:off x="0" y="0"/>
            <a:ext cx="4342680" cy="5142960"/>
          </a:xfrm>
          <a:prstGeom prst="rect">
            <a:avLst/>
          </a:prstGeom>
          <a:solidFill>
            <a:srgbClr val="35353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PT Mono"/>
                <a:ea typeface="Calibri"/>
              </a:rPr>
              <a:t>PROBLEMS  OUTPUT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</a:t>
            </a:r>
            <a:r>
              <a:rPr b="0" lang="en-US" sz="1600" strike="noStrike" u="sng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TERMINAL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</a:t>
            </a: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PT Mono"/>
                <a:ea typeface="Calibri"/>
              </a:rPr>
              <a:t>PORTS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$ docker compose up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$ docker compose down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4572000" y="0"/>
            <a:ext cx="4571280" cy="5142960"/>
          </a:xfrm>
          <a:prstGeom prst="rect">
            <a:avLst/>
          </a:prstGeom>
          <a:solidFill>
            <a:srgbClr val="353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sng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docker-compose.yml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services: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db: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image: postgres:15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container_name: mydb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environment: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POSTGRES_USER: admin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POSTGRES_PASSWORD: secret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POSTGRES_DB: myapp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volumes: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- pg_data:/var/lib/postgresql/data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web: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image: nginx:alpine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container_name: web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ports: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- "8080:80"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volumes: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- ./nginx.conf:/etc/nginx/nginx.conf:ro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depends_on: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- db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volumes: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pg_data: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4572000" y="360"/>
            <a:ext cx="4571280" cy="227880"/>
          </a:xfrm>
          <a:prstGeom prst="rect">
            <a:avLst/>
          </a:prstGeom>
          <a:solidFill>
            <a:srgbClr val="535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PT Mono"/>
              <a:ea typeface="Calibri"/>
            </a:endParaRPr>
          </a:p>
        </p:txBody>
      </p:sp>
      <p:sp>
        <p:nvSpPr>
          <p:cNvPr id="192" name=""/>
          <p:cNvSpPr/>
          <p:nvPr/>
        </p:nvSpPr>
        <p:spPr>
          <a:xfrm>
            <a:off x="4572000" y="0"/>
            <a:ext cx="1828080" cy="227880"/>
          </a:xfrm>
          <a:prstGeom prst="rect">
            <a:avLst/>
          </a:prstGeom>
          <a:solidFill>
            <a:srgbClr val="353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sng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docker-compose.yml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864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4000"/>
              </a:lnSpc>
              <a:spcAft>
                <a:spcPts val="1596"/>
              </a:spcAft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Что можно конфигурировать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161;p 9"/>
          <p:cNvSpPr/>
          <p:nvPr/>
        </p:nvSpPr>
        <p:spPr>
          <a:xfrm>
            <a:off x="8161920" y="16164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91280" cy="639360"/>
          </a:xfrm>
          <a:prstGeom prst="rect">
            <a:avLst/>
          </a:prstGeom>
          <a:noFill/>
          <a:ln w="0">
            <a:noFill/>
          </a:ln>
        </p:spPr>
        <p:txBody>
          <a:bodyPr lIns="29160" rIns="29160" tIns="29160" bIns="291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3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89;p 4"/>
          <p:cNvSpPr/>
          <p:nvPr/>
        </p:nvSpPr>
        <p:spPr>
          <a:xfrm>
            <a:off x="5020200" y="2228760"/>
            <a:ext cx="136044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1" lang="ru-RU" sz="4800" strike="noStrike" u="none">
              <a:solidFill>
                <a:schemeClr val="lt1"/>
              </a:solidFill>
              <a:effectLst/>
              <a:uFillTx/>
              <a:latin typeface="Raleway"/>
              <a:ea typeface="Raleway"/>
            </a:endParaRPr>
          </a:p>
        </p:txBody>
      </p:sp>
      <p:sp>
        <p:nvSpPr>
          <p:cNvPr id="197" name=""/>
          <p:cNvSpPr/>
          <p:nvPr/>
        </p:nvSpPr>
        <p:spPr>
          <a:xfrm>
            <a:off x="350280" y="1914120"/>
            <a:ext cx="8247240" cy="17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marL="239760" indent="-239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Без пересборки образа, для каждого инстанса контейнера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9760" indent="-239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Основное: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9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Порты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9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Переменные среды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9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Вольюмы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864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4000"/>
              </a:lnSpc>
              <a:spcAft>
                <a:spcPts val="1596"/>
              </a:spcAft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Публикация портов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161;p 15"/>
          <p:cNvSpPr/>
          <p:nvPr/>
        </p:nvSpPr>
        <p:spPr>
          <a:xfrm>
            <a:off x="8161920" y="16164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91280" cy="639360"/>
          </a:xfrm>
          <a:prstGeom prst="rect">
            <a:avLst/>
          </a:prstGeom>
          <a:noFill/>
          <a:ln w="0">
            <a:noFill/>
          </a:ln>
        </p:spPr>
        <p:txBody>
          <a:bodyPr lIns="29160" rIns="29160" tIns="29160" bIns="291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3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89;p 10"/>
          <p:cNvSpPr/>
          <p:nvPr/>
        </p:nvSpPr>
        <p:spPr>
          <a:xfrm>
            <a:off x="5020200" y="2228760"/>
            <a:ext cx="136044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1" lang="ru-RU" sz="4800" strike="noStrike" u="none">
              <a:solidFill>
                <a:schemeClr val="lt1"/>
              </a:solidFill>
              <a:effectLst/>
              <a:uFillTx/>
              <a:latin typeface="Raleway"/>
              <a:ea typeface="Raleway"/>
            </a:endParaRPr>
          </a:p>
        </p:txBody>
      </p:sp>
      <p:sp>
        <p:nvSpPr>
          <p:cNvPr id="202" name=""/>
          <p:cNvSpPr/>
          <p:nvPr/>
        </p:nvSpPr>
        <p:spPr>
          <a:xfrm>
            <a:off x="4572000" y="0"/>
            <a:ext cx="4571280" cy="5142960"/>
          </a:xfrm>
          <a:prstGeom prst="rect">
            <a:avLst/>
          </a:prstGeom>
          <a:solidFill>
            <a:srgbClr val="353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services: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orders-api: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</a:t>
            </a: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image: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docker-lab/orders-api:latest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</a:t>
            </a: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container_name: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backend-orders-api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</a:t>
            </a: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build: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    </a:t>
            </a: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context: 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    </a:t>
            </a: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dockerfile: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Dockerfile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</a:t>
            </a: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ports: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    - "8081:8080"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4572000" y="360"/>
            <a:ext cx="4571280" cy="227880"/>
          </a:xfrm>
          <a:prstGeom prst="rect">
            <a:avLst/>
          </a:prstGeom>
          <a:solidFill>
            <a:srgbClr val="535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PT Mono"/>
              <a:ea typeface="Calibri"/>
            </a:endParaRPr>
          </a:p>
        </p:txBody>
      </p:sp>
      <p:sp>
        <p:nvSpPr>
          <p:cNvPr id="204" name=""/>
          <p:cNvSpPr/>
          <p:nvPr/>
        </p:nvSpPr>
        <p:spPr>
          <a:xfrm>
            <a:off x="4572000" y="0"/>
            <a:ext cx="1828080" cy="456480"/>
          </a:xfrm>
          <a:prstGeom prst="rect">
            <a:avLst/>
          </a:prstGeom>
          <a:solidFill>
            <a:srgbClr val="353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sng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docker-compose.yml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457200" y="2057400"/>
            <a:ext cx="3885480" cy="17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ports: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- “</a:t>
            </a:r>
            <a:r>
              <a:rPr b="1" lang="ru-RU" sz="2400" strike="noStrike" u="non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source</a:t>
            </a: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b="1" lang="ru-RU" sz="2400" strike="noStrike" u="non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target</a:t>
            </a: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”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- “</a:t>
            </a:r>
            <a:r>
              <a:rPr b="1" lang="ru-RU" sz="2400" strike="noStrike" u="non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хост</a:t>
            </a: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b="1" lang="ru-RU" sz="2400" strike="noStrike" u="non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контейнер</a:t>
            </a: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”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- “</a:t>
            </a:r>
            <a:r>
              <a:rPr b="1" lang="ru-RU" sz="2400" strike="noStrike" u="non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8081</a:t>
            </a: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b="1" lang="ru-RU" sz="2400" strike="noStrike" u="non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8080</a:t>
            </a: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”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425160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4000"/>
              </a:lnSpc>
              <a:spcAft>
                <a:spcPts val="1596"/>
              </a:spcAft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Переменные окружения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161;p 16"/>
          <p:cNvSpPr/>
          <p:nvPr/>
        </p:nvSpPr>
        <p:spPr>
          <a:xfrm>
            <a:off x="8161920" y="16164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91280" cy="639360"/>
          </a:xfrm>
          <a:prstGeom prst="rect">
            <a:avLst/>
          </a:prstGeom>
          <a:noFill/>
          <a:ln w="0">
            <a:noFill/>
          </a:ln>
        </p:spPr>
        <p:txBody>
          <a:bodyPr lIns="29160" rIns="29160" tIns="29160" bIns="291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3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Google Shape;89;p 11"/>
          <p:cNvSpPr/>
          <p:nvPr/>
        </p:nvSpPr>
        <p:spPr>
          <a:xfrm>
            <a:off x="5020200" y="2228760"/>
            <a:ext cx="136044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1" lang="ru-RU" sz="4800" strike="noStrike" u="none">
              <a:solidFill>
                <a:schemeClr val="lt1"/>
              </a:solidFill>
              <a:effectLst/>
              <a:uFillTx/>
              <a:latin typeface="Raleway"/>
              <a:ea typeface="Raleway"/>
            </a:endParaRPr>
          </a:p>
        </p:txBody>
      </p:sp>
      <p:sp>
        <p:nvSpPr>
          <p:cNvPr id="210" name=""/>
          <p:cNvSpPr/>
          <p:nvPr/>
        </p:nvSpPr>
        <p:spPr>
          <a:xfrm>
            <a:off x="4572000" y="0"/>
            <a:ext cx="4571280" cy="5142960"/>
          </a:xfrm>
          <a:prstGeom prst="rect">
            <a:avLst/>
          </a:prstGeom>
          <a:solidFill>
            <a:srgbClr val="353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services: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orders-api: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</a:t>
            </a: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image: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docker-lab/orders-api:latest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</a:t>
            </a: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container_name: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backend-orders-api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</a:t>
            </a: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build: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    </a:t>
            </a: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context: 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    </a:t>
            </a: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dockerfile: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Dockerfile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</a:t>
            </a: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ports: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    - "8081:8080"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</a:t>
            </a: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environment: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    DB_PATH: /data/orders.db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    DEBUG: ${DEBUG}   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</a:t>
            </a: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env_file: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".env"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4572000" y="360"/>
            <a:ext cx="4571280" cy="227880"/>
          </a:xfrm>
          <a:prstGeom prst="rect">
            <a:avLst/>
          </a:prstGeom>
          <a:solidFill>
            <a:srgbClr val="535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PT Mono"/>
              <a:ea typeface="Calibri"/>
            </a:endParaRPr>
          </a:p>
        </p:txBody>
      </p:sp>
      <p:sp>
        <p:nvSpPr>
          <p:cNvPr id="212" name=""/>
          <p:cNvSpPr/>
          <p:nvPr/>
        </p:nvSpPr>
        <p:spPr>
          <a:xfrm>
            <a:off x="4572000" y="0"/>
            <a:ext cx="1828080" cy="456480"/>
          </a:xfrm>
          <a:prstGeom prst="rect">
            <a:avLst/>
          </a:prstGeom>
          <a:solidFill>
            <a:srgbClr val="353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sng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docker-compose.yml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457200" y="1828800"/>
            <a:ext cx="3885480" cy="37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environment: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</a:t>
            </a:r>
            <a:r>
              <a:rPr b="1" lang="ru-RU" sz="2400" strike="noStrike" u="non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ИМЯ</a:t>
            </a: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b="1" lang="ru-RU" sz="2400" strike="noStrike" u="non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значение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</a:t>
            </a:r>
            <a:r>
              <a:rPr b="1" lang="ru-RU" sz="2400" strike="noStrike" u="non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DEBUG</a:t>
            </a: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b="1" lang="ru-RU" sz="2400" strike="noStrike" u="non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true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env_file:</a:t>
            </a:r>
            <a:r>
              <a:rPr b="1" lang="ru-RU" sz="2400" strike="noStrike" u="non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1" lang="ru-RU" sz="2400" strike="noStrike" u="non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&lt;путь к файлу&gt;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7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151;p22" descr=""/>
          <p:cNvPicPr/>
          <p:nvPr/>
        </p:nvPicPr>
        <p:blipFill>
          <a:blip r:embed="rId1"/>
          <a:stretch/>
        </p:blipFill>
        <p:spPr>
          <a:xfrm>
            <a:off x="2444760" y="162720"/>
            <a:ext cx="4252680" cy="481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5" name="Google Shape;152;p22" descr="Кусок клейкой ленты, который удерживает заметку на слайде"/>
          <p:cNvPicPr/>
          <p:nvPr/>
        </p:nvPicPr>
        <p:blipFill>
          <a:blip r:embed="rId2"/>
          <a:srcRect l="9242" t="5927" r="2118" b="10007"/>
          <a:stretch/>
        </p:blipFill>
        <p:spPr>
          <a:xfrm rot="154800">
            <a:off x="3535920" y="147240"/>
            <a:ext cx="2070360" cy="73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Google Shape;153;p22"/>
          <p:cNvSpPr/>
          <p:nvPr/>
        </p:nvSpPr>
        <p:spPr>
          <a:xfrm>
            <a:off x="2855520" y="687240"/>
            <a:ext cx="343116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2800" strike="noStrike" u="none">
                <a:solidFill>
                  <a:schemeClr val="lt2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1"/>
          <p:cNvSpPr>
            <a:spLocks noGrp="1"/>
          </p:cNvSpPr>
          <p:nvPr>
            <p:ph/>
          </p:nvPr>
        </p:nvSpPr>
        <p:spPr>
          <a:xfrm>
            <a:off x="2855520" y="1647720"/>
            <a:ext cx="3431160" cy="30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43080" defTabSz="914400">
              <a:lnSpc>
                <a:spcPct val="114000"/>
              </a:lnSpc>
              <a:buClr>
                <a:srgbClr val="0070c0"/>
              </a:buClr>
              <a:buFont typeface="Raleway"/>
              <a:buChar char="➔"/>
            </a:pPr>
            <a:r>
              <a:rPr b="1" lang="ru" sz="1600" strike="noStrike" u="non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Порты</a:t>
            </a:r>
            <a:br>
              <a:rPr sz="1600"/>
            </a:br>
            <a:r>
              <a:rPr b="0" lang="ru" sz="1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-p 8081:8080 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 defTabSz="914400">
              <a:lnSpc>
                <a:spcPct val="114000"/>
              </a:lnSpc>
              <a:buClr>
                <a:srgbClr val="0070c0"/>
              </a:buClr>
              <a:buFont typeface="Raleway"/>
              <a:buChar char="➔"/>
            </a:pPr>
            <a:r>
              <a:rPr b="1" lang="ru" sz="1600" strike="noStrike" u="non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Переменные окружения</a:t>
            </a:r>
            <a:br>
              <a:rPr sz="1600"/>
            </a:br>
            <a:r>
              <a:rPr b="0" lang="ru" sz="1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environment, env_file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 defTabSz="914400">
              <a:lnSpc>
                <a:spcPct val="114000"/>
              </a:lnSpc>
              <a:buClr>
                <a:srgbClr val="0070c0"/>
              </a:buClr>
              <a:buFont typeface="Raleway"/>
              <a:buChar char="➔"/>
            </a:pPr>
            <a:r>
              <a:rPr b="1" lang="ru" sz="1600" strike="noStrike" u="non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Информация о контейнере</a:t>
            </a:r>
            <a:br>
              <a:rPr sz="1600"/>
            </a:br>
            <a:r>
              <a:rPr b="0" lang="ru" sz="1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docker inspect  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 defTabSz="914400">
              <a:lnSpc>
                <a:spcPct val="114000"/>
              </a:lnSpc>
              <a:spcBef>
                <a:spcPts val="998"/>
              </a:spcBef>
              <a:spcAft>
                <a:spcPts val="998"/>
              </a:spcAft>
              <a:buClr>
                <a:srgbClr val="0070c0"/>
              </a:buClr>
              <a:buFont typeface="Raleway"/>
              <a:buChar char="➔"/>
            </a:pPr>
            <a:r>
              <a:rPr b="1" lang="ru" sz="1600" strike="noStrike" u="non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Управление контейнером</a:t>
            </a:r>
            <a:br>
              <a:rPr sz="1600"/>
            </a:br>
            <a:r>
              <a:rPr b="0" lang="ru" sz="1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docker logs, exec it, stats, top, restart, stop</a:t>
            </a:r>
            <a:br>
              <a:rPr sz="1600"/>
            </a:br>
            <a:r>
              <a:rPr b="1" lang="ru" sz="16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 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282960" y="712080"/>
            <a:ext cx="8230680" cy="77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1" lang="ru" sz="4200" strike="noStrike" u="none">
                <a:solidFill>
                  <a:schemeClr val="accent5"/>
                </a:solidFill>
                <a:effectLst/>
                <a:uFillTx/>
                <a:latin typeface="Raleway"/>
                <a:ea typeface="Raleway"/>
              </a:rPr>
              <a:t>Цель этапа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105;p 1"/>
          <p:cNvSpPr/>
          <p:nvPr/>
        </p:nvSpPr>
        <p:spPr>
          <a:xfrm>
            <a:off x="282960" y="2531160"/>
            <a:ext cx="8086680" cy="16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Raleway"/>
              <a:buChar char="●"/>
            </a:pPr>
            <a:r>
              <a:rPr b="0" lang="ru" sz="1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Понять, как в Docker </a:t>
            </a:r>
            <a:r>
              <a:rPr b="0" lang="ru" sz="19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осуществляется работа с постоянными данными: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360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" sz="19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Базы данных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360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" sz="19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Файлы конфигураций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360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" sz="19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Файлы на файловом сервере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Google Shape;106;p 1"/>
          <p:cNvSpPr/>
          <p:nvPr/>
        </p:nvSpPr>
        <p:spPr>
          <a:xfrm>
            <a:off x="282960" y="1367640"/>
            <a:ext cx="8432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ru" sz="42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Монтирование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161;p 7"/>
          <p:cNvSpPr/>
          <p:nvPr/>
        </p:nvSpPr>
        <p:spPr>
          <a:xfrm>
            <a:off x="8161920" y="16164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tx2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2" name="PlaceHolder 4"/>
          <p:cNvSpPr/>
          <p:nvPr/>
        </p:nvSpPr>
        <p:spPr>
          <a:xfrm>
            <a:off x="8186400" y="189000"/>
            <a:ext cx="791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4</a:t>
            </a:r>
            <a:endParaRPr b="0" lang="en-US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77"/>
              </a:spcBef>
              <a:spcAft>
                <a:spcPts val="377"/>
              </a:spcAft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Монтирование томов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7" dur="indefinite" restart="never" nodeType="tmRoot">
          <p:childTnLst>
            <p:seq>
              <p:cTn id="58" dur="indefinite" nodeType="mainSeq"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" descr=""/>
          <p:cNvPicPr/>
          <p:nvPr/>
        </p:nvPicPr>
        <p:blipFill>
          <a:blip r:embed="rId1"/>
          <a:stretch/>
        </p:blipFill>
        <p:spPr>
          <a:xfrm>
            <a:off x="2068920" y="161640"/>
            <a:ext cx="7036200" cy="494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"/>
          <p:cNvSpPr/>
          <p:nvPr/>
        </p:nvSpPr>
        <p:spPr>
          <a:xfrm>
            <a:off x="350280" y="1914120"/>
            <a:ext cx="82764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321336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4000"/>
              </a:lnSpc>
              <a:spcAft>
                <a:spcPts val="1593"/>
              </a:spcAft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Монтирование томов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161;p23"/>
          <p:cNvSpPr/>
          <p:nvPr/>
        </p:nvSpPr>
        <p:spPr>
          <a:xfrm>
            <a:off x="8161920" y="16164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tx2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91280" cy="639360"/>
          </a:xfrm>
          <a:prstGeom prst="rect">
            <a:avLst/>
          </a:prstGeom>
          <a:noFill/>
          <a:ln w="0">
            <a:noFill/>
          </a:ln>
        </p:spPr>
        <p:txBody>
          <a:bodyPr lIns="29160" rIns="29160" tIns="29160" bIns="291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4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77"/>
              </a:spcBef>
              <a:spcAft>
                <a:spcPts val="377"/>
              </a:spcAft>
              <a:buNone/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Монтирование томов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89;p15"/>
          <p:cNvSpPr/>
          <p:nvPr/>
        </p:nvSpPr>
        <p:spPr>
          <a:xfrm>
            <a:off x="5020200" y="2228760"/>
            <a:ext cx="136044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1" lang="ru-RU" sz="4800" strike="noStrike" u="none">
              <a:solidFill>
                <a:schemeClr val="lt1"/>
              </a:solidFill>
              <a:effectLst/>
              <a:uFillTx/>
              <a:latin typeface="Raleway"/>
              <a:ea typeface="Raleway"/>
            </a:endParaRPr>
          </a:p>
        </p:txBody>
      </p:sp>
      <p:sp>
        <p:nvSpPr>
          <p:cNvPr id="229" name=""/>
          <p:cNvSpPr/>
          <p:nvPr/>
        </p:nvSpPr>
        <p:spPr>
          <a:xfrm>
            <a:off x="319320" y="1990800"/>
            <a:ext cx="190044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marL="217800" indent="-2178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Сохранять данные при пересоздании контейнеров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Делиться файлами между контейнером и хостом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Организовывать общий доступ для нескольких контейнеров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Удобно хранить конфиги и логи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" descr=""/>
          <p:cNvPicPr/>
          <p:nvPr/>
        </p:nvPicPr>
        <p:blipFill>
          <a:blip r:embed="rId1"/>
          <a:stretch/>
        </p:blipFill>
        <p:spPr>
          <a:xfrm>
            <a:off x="1143000" y="3600"/>
            <a:ext cx="8217360" cy="513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"/>
          <p:cNvSpPr/>
          <p:nvPr/>
        </p:nvSpPr>
        <p:spPr>
          <a:xfrm>
            <a:off x="350280" y="1914120"/>
            <a:ext cx="82764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2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321336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4000"/>
              </a:lnSpc>
              <a:spcAft>
                <a:spcPts val="1596"/>
              </a:spcAft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Монтирование томов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Google Shape;161;p23"/>
          <p:cNvSpPr/>
          <p:nvPr/>
        </p:nvSpPr>
        <p:spPr>
          <a:xfrm>
            <a:off x="8161920" y="16164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tx2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91280" cy="639360"/>
          </a:xfrm>
          <a:prstGeom prst="rect">
            <a:avLst/>
          </a:prstGeom>
          <a:noFill/>
          <a:ln w="0">
            <a:noFill/>
          </a:ln>
        </p:spPr>
        <p:txBody>
          <a:bodyPr lIns="29160" rIns="29160" tIns="29160" bIns="291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4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Монтирование томов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89;p15"/>
          <p:cNvSpPr/>
          <p:nvPr/>
        </p:nvSpPr>
        <p:spPr>
          <a:xfrm>
            <a:off x="5020200" y="2228760"/>
            <a:ext cx="136044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1" lang="ru-RU" sz="4800" strike="noStrike" u="none">
              <a:solidFill>
                <a:schemeClr val="lt1"/>
              </a:solidFill>
              <a:effectLst/>
              <a:uFillTx/>
              <a:latin typeface="Raleway"/>
              <a:ea typeface="Raleway"/>
            </a:endParaRPr>
          </a:p>
        </p:txBody>
      </p:sp>
      <p:sp>
        <p:nvSpPr>
          <p:cNvPr id="236" name=""/>
          <p:cNvSpPr/>
          <p:nvPr/>
        </p:nvSpPr>
        <p:spPr>
          <a:xfrm>
            <a:off x="155520" y="1670400"/>
            <a:ext cx="4761000" cy="24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600" strike="noStrike" u="non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хост</a:t>
            </a: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b="0" lang="ru-RU" sz="2600" strike="noStrike" u="non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контейнер</a:t>
            </a:r>
            <a:br>
              <a:rPr sz="2600"/>
            </a:br>
            <a:br>
              <a:rPr sz="2600"/>
            </a:b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600" strike="noStrike" u="non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/var/tmp</a:t>
            </a: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b="0" lang="ru-RU" sz="2600" strike="noStrike" u="non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/app/temp-files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" descr=""/>
          <p:cNvPicPr/>
          <p:nvPr/>
        </p:nvPicPr>
        <p:blipFill>
          <a:blip r:embed="rId1"/>
          <a:stretch/>
        </p:blipFill>
        <p:spPr>
          <a:xfrm>
            <a:off x="2596680" y="823680"/>
            <a:ext cx="6555240" cy="421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"/>
          <p:cNvSpPr/>
          <p:nvPr/>
        </p:nvSpPr>
        <p:spPr>
          <a:xfrm>
            <a:off x="350280" y="1914120"/>
            <a:ext cx="82764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321336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4000"/>
              </a:lnSpc>
              <a:spcAft>
                <a:spcPts val="1596"/>
              </a:spcAft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Вольюмы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161;p23"/>
          <p:cNvSpPr/>
          <p:nvPr/>
        </p:nvSpPr>
        <p:spPr>
          <a:xfrm>
            <a:off x="8161920" y="16164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tx2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91280" cy="639360"/>
          </a:xfrm>
          <a:prstGeom prst="rect">
            <a:avLst/>
          </a:prstGeom>
          <a:noFill/>
          <a:ln w="0">
            <a:noFill/>
          </a:ln>
        </p:spPr>
        <p:txBody>
          <a:bodyPr lIns="29160" rIns="29160" tIns="29160" bIns="291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4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Монтирование томов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89;p15"/>
          <p:cNvSpPr/>
          <p:nvPr/>
        </p:nvSpPr>
        <p:spPr>
          <a:xfrm>
            <a:off x="5020200" y="2228760"/>
            <a:ext cx="136044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1" lang="ru-RU" sz="4800" strike="noStrike" u="none">
              <a:solidFill>
                <a:schemeClr val="lt1"/>
              </a:solidFill>
              <a:effectLst/>
              <a:uFillTx/>
              <a:latin typeface="Raleway"/>
              <a:ea typeface="Ralewa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" descr=""/>
          <p:cNvPicPr/>
          <p:nvPr/>
        </p:nvPicPr>
        <p:blipFill>
          <a:blip r:embed="rId1"/>
          <a:stretch/>
        </p:blipFill>
        <p:spPr>
          <a:xfrm>
            <a:off x="2353680" y="1193040"/>
            <a:ext cx="6807600" cy="389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"/>
          <p:cNvSpPr/>
          <p:nvPr/>
        </p:nvSpPr>
        <p:spPr>
          <a:xfrm>
            <a:off x="350280" y="1914120"/>
            <a:ext cx="82764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5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321336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4000"/>
              </a:lnSpc>
              <a:spcAft>
                <a:spcPts val="1596"/>
              </a:spcAft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Вольюмы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161;p23"/>
          <p:cNvSpPr/>
          <p:nvPr/>
        </p:nvSpPr>
        <p:spPr>
          <a:xfrm>
            <a:off x="8161920" y="16164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tx2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91280" cy="639360"/>
          </a:xfrm>
          <a:prstGeom prst="rect">
            <a:avLst/>
          </a:prstGeom>
          <a:noFill/>
          <a:ln w="0">
            <a:noFill/>
          </a:ln>
        </p:spPr>
        <p:txBody>
          <a:bodyPr lIns="29160" rIns="29160" tIns="29160" bIns="291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4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Монтирование томов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89;p15"/>
          <p:cNvSpPr/>
          <p:nvPr/>
        </p:nvSpPr>
        <p:spPr>
          <a:xfrm>
            <a:off x="5020200" y="2228760"/>
            <a:ext cx="136044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1" lang="ru-RU" sz="4800" strike="noStrike" u="none">
              <a:solidFill>
                <a:schemeClr val="lt1"/>
              </a:solidFill>
              <a:effectLst/>
              <a:uFillTx/>
              <a:latin typeface="Raleway"/>
              <a:ea typeface="Raleway"/>
            </a:endParaRPr>
          </a:p>
        </p:txBody>
      </p:sp>
      <p:sp>
        <p:nvSpPr>
          <p:cNvPr id="249" name=""/>
          <p:cNvSpPr/>
          <p:nvPr/>
        </p:nvSpPr>
        <p:spPr>
          <a:xfrm>
            <a:off x="2727000" y="82800"/>
            <a:ext cx="47613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-v </a:t>
            </a:r>
            <a:r>
              <a:rPr b="0" lang="ru-RU" sz="2600" strike="noStrike" u="non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/var/tmp</a:t>
            </a: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b="0" lang="ru-RU" sz="2600" strike="noStrike" u="non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/app/temp-files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2727000" y="570600"/>
            <a:ext cx="47646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-v </a:t>
            </a:r>
            <a:r>
              <a:rPr b="0" lang="ru-RU" sz="2600" strike="noStrike" u="non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my-volume</a:t>
            </a: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b="0" lang="ru-RU" sz="2600" strike="noStrike" u="non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/app/temp-files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7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151;p22" descr=""/>
          <p:cNvPicPr/>
          <p:nvPr/>
        </p:nvPicPr>
        <p:blipFill>
          <a:blip r:embed="rId1"/>
          <a:stretch/>
        </p:blipFill>
        <p:spPr>
          <a:xfrm>
            <a:off x="2444760" y="162720"/>
            <a:ext cx="4252680" cy="481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2" name="Google Shape;152;p22" descr="Кусок клейкой ленты, который удерживает заметку на слайде"/>
          <p:cNvPicPr/>
          <p:nvPr/>
        </p:nvPicPr>
        <p:blipFill>
          <a:blip r:embed="rId2"/>
          <a:srcRect l="9242" t="5927" r="2118" b="10007"/>
          <a:stretch/>
        </p:blipFill>
        <p:spPr>
          <a:xfrm rot="154800">
            <a:off x="3535920" y="147240"/>
            <a:ext cx="2070360" cy="73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Google Shape;153;p22"/>
          <p:cNvSpPr/>
          <p:nvPr/>
        </p:nvSpPr>
        <p:spPr>
          <a:xfrm>
            <a:off x="2855520" y="687240"/>
            <a:ext cx="3431160" cy="87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trike="noStrike" u="none">
                <a:solidFill>
                  <a:schemeClr val="lt2"/>
                </a:solidFill>
                <a:effectLst/>
                <a:uFillTx/>
                <a:latin typeface="Raleway"/>
                <a:ea typeface="Raleway"/>
              </a:rPr>
              <a:t>Монтирование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1"/>
          <p:cNvSpPr>
            <a:spLocks noGrp="1"/>
          </p:cNvSpPr>
          <p:nvPr>
            <p:ph/>
          </p:nvPr>
        </p:nvSpPr>
        <p:spPr>
          <a:xfrm>
            <a:off x="2855520" y="1647720"/>
            <a:ext cx="3431160" cy="30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43080" defTabSz="914400">
              <a:lnSpc>
                <a:spcPct val="114000"/>
              </a:lnSpc>
              <a:buClr>
                <a:srgbClr val="0070c0"/>
              </a:buClr>
              <a:buFont typeface="Raleway"/>
              <a:buChar char="➔"/>
            </a:pPr>
            <a:r>
              <a:rPr b="1" lang="ru" sz="1600" strike="noStrike" u="non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Для чего?</a:t>
            </a:r>
            <a:br>
              <a:rPr sz="1600"/>
            </a:br>
            <a:r>
              <a:rPr b="0" lang="ru" sz="1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хранение данных между перезапусками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 defTabSz="914400">
              <a:lnSpc>
                <a:spcPct val="114000"/>
              </a:lnSpc>
              <a:buClr>
                <a:srgbClr val="0070c0"/>
              </a:buClr>
              <a:buFont typeface="Raleway"/>
              <a:buChar char="➔"/>
            </a:pPr>
            <a:r>
              <a:rPr b="1" lang="ru" sz="1600" strike="noStrike" u="non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Маунт директории</a:t>
            </a:r>
            <a:br>
              <a:rPr sz="1600"/>
            </a:br>
            <a:r>
              <a:rPr b="0" lang="ru" sz="1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-v “source:targer”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 defTabSz="914400">
              <a:lnSpc>
                <a:spcPct val="114000"/>
              </a:lnSpc>
              <a:buClr>
                <a:srgbClr val="0070c0"/>
              </a:buClr>
              <a:buFont typeface="Raleway"/>
              <a:buChar char="➔"/>
            </a:pPr>
            <a:r>
              <a:rPr b="1" lang="ru" sz="1600" strike="noStrike" u="non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Вольюмы vs маунты</a:t>
            </a:r>
            <a:br>
              <a:rPr sz="1600"/>
            </a:br>
            <a:r>
              <a:rPr b="0" lang="ru" sz="1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Вольюмы управляется Docker’ом </a:t>
            </a:r>
            <a:br>
              <a:rPr sz="1400"/>
            </a:br>
            <a:r>
              <a:rPr b="1" lang="ru" sz="14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282960" y="712080"/>
            <a:ext cx="8230680" cy="77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1" lang="ru" sz="4200" strike="noStrike" u="none">
                <a:solidFill>
                  <a:schemeClr val="accent5"/>
                </a:solidFill>
                <a:effectLst/>
                <a:uFillTx/>
                <a:latin typeface="Raleway"/>
                <a:ea typeface="Raleway"/>
              </a:rPr>
              <a:t>Цель этапа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105;p 1"/>
          <p:cNvSpPr/>
          <p:nvPr/>
        </p:nvSpPr>
        <p:spPr>
          <a:xfrm>
            <a:off x="282960" y="2531160"/>
            <a:ext cx="808668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7" name="Google Shape;106;p 1"/>
          <p:cNvSpPr/>
          <p:nvPr/>
        </p:nvSpPr>
        <p:spPr>
          <a:xfrm>
            <a:off x="282960" y="1367640"/>
            <a:ext cx="8432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ru" sz="42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Сети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161;p 8"/>
          <p:cNvSpPr/>
          <p:nvPr/>
        </p:nvSpPr>
        <p:spPr>
          <a:xfrm>
            <a:off x="8161920" y="16164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00b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9" name="PlaceHolder 5"/>
          <p:cNvSpPr/>
          <p:nvPr/>
        </p:nvSpPr>
        <p:spPr>
          <a:xfrm>
            <a:off x="8186400" y="189000"/>
            <a:ext cx="791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5</a:t>
            </a:r>
            <a:endParaRPr b="0" lang="en-US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77"/>
              </a:spcBef>
              <a:spcAft>
                <a:spcPts val="377"/>
              </a:spcAft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Сети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105;p 3"/>
          <p:cNvSpPr/>
          <p:nvPr/>
        </p:nvSpPr>
        <p:spPr>
          <a:xfrm>
            <a:off x="282960" y="2514600"/>
            <a:ext cx="80866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Raleway"/>
              <a:buChar char="●"/>
            </a:pPr>
            <a:r>
              <a:rPr b="0" lang="ru" sz="1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Понять, как осуществляется сетевое взаимодействие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360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" sz="1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Между контейнерами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360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" sz="1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Между контейнером и внешней средой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Raleway"/>
              <a:buChar char="●"/>
            </a:pPr>
            <a:r>
              <a:rPr b="0" lang="ru" sz="1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“Как поговорить с контейнером?”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7" dur="indefinite" restart="never" nodeType="tmRoot">
          <p:childTnLst>
            <p:seq>
              <p:cTn id="68" dur="indefinite" nodeType="mainSeq"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" descr=""/>
          <p:cNvPicPr/>
          <p:nvPr/>
        </p:nvPicPr>
        <p:blipFill>
          <a:blip r:embed="rId1"/>
          <a:stretch/>
        </p:blipFill>
        <p:spPr>
          <a:xfrm>
            <a:off x="3027960" y="1256400"/>
            <a:ext cx="5553000" cy="363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"/>
          <p:cNvSpPr/>
          <p:nvPr/>
        </p:nvSpPr>
        <p:spPr>
          <a:xfrm>
            <a:off x="350280" y="1914120"/>
            <a:ext cx="82764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3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771768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4000"/>
              </a:lnSpc>
              <a:spcAft>
                <a:spcPts val="1596"/>
              </a:spcAft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Сети. Как контейнеры могут общаться?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161;p23"/>
          <p:cNvSpPr/>
          <p:nvPr/>
        </p:nvSpPr>
        <p:spPr>
          <a:xfrm>
            <a:off x="8161920" y="161640"/>
            <a:ext cx="838440" cy="705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00b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rIns="29160" tIns="29160" bIns="29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91280" cy="639360"/>
          </a:xfrm>
          <a:prstGeom prst="rect">
            <a:avLst/>
          </a:prstGeom>
          <a:noFill/>
          <a:ln w="0">
            <a:noFill/>
          </a:ln>
        </p:spPr>
        <p:txBody>
          <a:bodyPr lIns="29160" rIns="29160" tIns="29160" bIns="291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5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5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77"/>
              </a:spcBef>
              <a:spcAft>
                <a:spcPts val="377"/>
              </a:spcAft>
              <a:buNone/>
              <a:tabLst>
                <a:tab algn="l" pos="0"/>
              </a:tabLst>
            </a:pPr>
            <a:r>
              <a:rPr b="1" lang="ru" sz="8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Сети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89;p15"/>
          <p:cNvSpPr/>
          <p:nvPr/>
        </p:nvSpPr>
        <p:spPr>
          <a:xfrm>
            <a:off x="5020200" y="2228760"/>
            <a:ext cx="136044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1" lang="ru-RU" sz="4800" strike="noStrike" u="none">
              <a:solidFill>
                <a:schemeClr val="lt1"/>
              </a:solidFill>
              <a:effectLst/>
              <a:uFillTx/>
              <a:latin typeface="Raleway"/>
              <a:ea typeface="Raleway"/>
            </a:endParaRPr>
          </a:p>
        </p:txBody>
      </p:sp>
      <p:sp>
        <p:nvSpPr>
          <p:cNvPr id="267" name=""/>
          <p:cNvSpPr/>
          <p:nvPr/>
        </p:nvSpPr>
        <p:spPr>
          <a:xfrm>
            <a:off x="319680" y="1502640"/>
            <a:ext cx="8580240" cy="3034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350280" y="1619280"/>
            <a:ext cx="2623320" cy="22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marL="306000" indent="-306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Через открытые порты (web network)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Через внутреннюю сеть (service network)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3486960" y="4848480"/>
            <a:ext cx="49770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Источник: https://accesto.com/blog/docker-networks-explained-part-2/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7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151;p22" descr=""/>
          <p:cNvPicPr/>
          <p:nvPr/>
        </p:nvPicPr>
        <p:blipFill>
          <a:blip r:embed="rId1"/>
          <a:stretch/>
        </p:blipFill>
        <p:spPr>
          <a:xfrm>
            <a:off x="2444760" y="162720"/>
            <a:ext cx="4252680" cy="481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1" name="Google Shape;152;p22" descr="Кусок клейкой ленты, который удерживает заметку на слайде"/>
          <p:cNvPicPr/>
          <p:nvPr/>
        </p:nvPicPr>
        <p:blipFill>
          <a:blip r:embed="rId2"/>
          <a:srcRect l="9242" t="5927" r="2118" b="10007"/>
          <a:stretch/>
        </p:blipFill>
        <p:spPr>
          <a:xfrm rot="154800">
            <a:off x="3535920" y="147240"/>
            <a:ext cx="2070360" cy="73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Google Shape;153;p22"/>
          <p:cNvSpPr/>
          <p:nvPr/>
        </p:nvSpPr>
        <p:spPr>
          <a:xfrm>
            <a:off x="2855520" y="598680"/>
            <a:ext cx="3431160" cy="7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trike="noStrike" u="none">
                <a:solidFill>
                  <a:schemeClr val="lt2"/>
                </a:solidFill>
                <a:effectLst/>
                <a:uFillTx/>
                <a:latin typeface="Raleway"/>
                <a:ea typeface="Raleway"/>
              </a:rPr>
              <a:t>Сети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/>
          </p:nvPr>
        </p:nvSpPr>
        <p:spPr>
          <a:xfrm>
            <a:off x="2855520" y="1353960"/>
            <a:ext cx="3506400" cy="38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43080" defTabSz="914400">
              <a:lnSpc>
                <a:spcPct val="114000"/>
              </a:lnSpc>
              <a:buClr>
                <a:srgbClr val="0070c0"/>
              </a:buClr>
              <a:buFont typeface="Raleway"/>
              <a:buChar char="➔"/>
            </a:pPr>
            <a:r>
              <a:rPr b="1" lang="ru" sz="1600" strike="noStrike" u="non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Мапирование портов</a:t>
            </a:r>
            <a:br>
              <a:rPr sz="1600"/>
            </a:br>
            <a:r>
              <a:rPr b="0" lang="ru" sz="1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-p 8081:8080 </a:t>
            </a:r>
            <a:br>
              <a:rPr sz="1600"/>
            </a:br>
            <a:r>
              <a:rPr b="0" lang="ru" sz="1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host:container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 defTabSz="914400">
              <a:lnSpc>
                <a:spcPct val="114000"/>
              </a:lnSpc>
              <a:buClr>
                <a:srgbClr val="0070c0"/>
              </a:buClr>
              <a:buFont typeface="Raleway"/>
              <a:buChar char="➔"/>
            </a:pPr>
            <a:r>
              <a:rPr b="1" lang="ru" sz="1600" strike="noStrike" u="non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Docker-сети</a:t>
            </a:r>
            <a:br>
              <a:rPr sz="1600"/>
            </a:br>
            <a:r>
              <a:rPr b="0" lang="ru" sz="1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docker network create</a:t>
            </a:r>
            <a:br>
              <a:rPr sz="1600"/>
            </a:br>
            <a:r>
              <a:rPr b="0" lang="ru" sz="1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позволяют контейнерам общаться напрямую без проброса портов и по имени, без IP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 defTabSz="914400">
              <a:lnSpc>
                <a:spcPct val="114000"/>
              </a:lnSpc>
              <a:buClr>
                <a:srgbClr val="0070c0"/>
              </a:buClr>
              <a:buFont typeface="Raleway"/>
              <a:buChar char="➔"/>
            </a:pPr>
            <a:r>
              <a:rPr b="1" lang="ru" sz="1600" strike="noStrike" u="non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Безопасность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120"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b="0" lang="ru" sz="1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     Docker-сети позволяют</a:t>
            </a:r>
            <a:br>
              <a:rPr sz="1600"/>
            </a:br>
            <a:r>
              <a:rPr b="0" lang="ru" sz="1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     скрыть backend, БД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120" indent="0" defTabSz="914400">
              <a:lnSpc>
                <a:spcPct val="114000"/>
              </a:lnSpc>
              <a:buNone/>
              <a:tabLst>
                <a:tab algn="l" pos="0"/>
              </a:tabLst>
            </a:pPr>
            <a:br>
              <a:rPr sz="1400"/>
            </a:b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7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151;p22" descr=""/>
          <p:cNvPicPr/>
          <p:nvPr/>
        </p:nvPicPr>
        <p:blipFill>
          <a:blip r:embed="rId1"/>
          <a:stretch/>
        </p:blipFill>
        <p:spPr>
          <a:xfrm>
            <a:off x="1937520" y="162720"/>
            <a:ext cx="5101920" cy="481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Google Shape;153;p22"/>
          <p:cNvSpPr/>
          <p:nvPr/>
        </p:nvSpPr>
        <p:spPr>
          <a:xfrm>
            <a:off x="635760" y="443520"/>
            <a:ext cx="780084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ru-RU" sz="2800" strike="noStrike" u="none">
                <a:solidFill>
                  <a:schemeClr val="lt2"/>
                </a:solidFill>
                <a:effectLst/>
                <a:uFillTx/>
                <a:latin typeface="Raleway"/>
                <a:ea typeface="Raleway"/>
              </a:rPr>
              <a:t>ИТОГО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1"/>
          <p:cNvSpPr>
            <a:spLocks noGrp="1"/>
          </p:cNvSpPr>
          <p:nvPr>
            <p:ph/>
          </p:nvPr>
        </p:nvSpPr>
        <p:spPr>
          <a:xfrm>
            <a:off x="2159640" y="825480"/>
            <a:ext cx="4752720" cy="387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43080" defTabSz="914400">
              <a:lnSpc>
                <a:spcPct val="114000"/>
              </a:lnSpc>
              <a:buClr>
                <a:srgbClr val="0070c0"/>
              </a:buClr>
              <a:buFont typeface="Raleway"/>
              <a:buChar char="➔"/>
            </a:pPr>
            <a:r>
              <a:rPr b="1" lang="ru" sz="1800" strike="noStrike" u="non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Основы и запуск контейнеров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120"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Что такое образ и контейнер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120"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Структура Dockerfile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120"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Первые команды: </a:t>
            </a:r>
            <a:r>
              <a:rPr b="0" lang="ru" sz="10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docker build/run/ps/logs/exec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 defTabSz="914400">
              <a:lnSpc>
                <a:spcPct val="114000"/>
              </a:lnSpc>
              <a:buClr>
                <a:srgbClr val="0070c0"/>
              </a:buClr>
              <a:buFont typeface="Raleway"/>
              <a:buChar char="➔"/>
              <a:tabLst>
                <a:tab algn="l" pos="0"/>
              </a:tabLst>
            </a:pPr>
            <a:r>
              <a:rPr b="1" lang="ru" sz="1800" strike="noStrike" u="non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Конфигурация и управление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120"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b="0" lang="ru" sz="2000" strike="noStrike" u="none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	</a:t>
            </a: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Порты, переменные окружения, логи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120"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Управление жизненным циклом контейнера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 defTabSz="914400">
              <a:lnSpc>
                <a:spcPct val="114000"/>
              </a:lnSpc>
              <a:buClr>
                <a:srgbClr val="0070c0"/>
              </a:buClr>
              <a:buFont typeface="Raleway"/>
              <a:buChar char="➔"/>
              <a:tabLst>
                <a:tab algn="l" pos="0"/>
              </a:tabLst>
            </a:pPr>
            <a:r>
              <a:rPr b="1" lang="ru" sz="1800" strike="noStrike" u="non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Хранение данных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120"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Разница между </a:t>
            </a:r>
            <a:r>
              <a:rPr b="1" lang="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bind mount</a:t>
            </a: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и </a:t>
            </a:r>
            <a:r>
              <a:rPr b="1" lang="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volume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120"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Практика маунтов и сохранения данных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 defTabSz="914400">
              <a:lnSpc>
                <a:spcPct val="114000"/>
              </a:lnSpc>
              <a:buClr>
                <a:srgbClr val="0070c0"/>
              </a:buClr>
              <a:buFont typeface="Raleway"/>
              <a:buChar char="➔"/>
              <a:tabLst>
                <a:tab algn="l" pos="0"/>
              </a:tabLst>
            </a:pPr>
            <a:r>
              <a:rPr b="1" lang="ru" sz="1800" strike="noStrike" u="non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Сети и несколько контейнеров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120"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Типы сетей в Docker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120" indent="0" defTabSz="914400">
              <a:lnSpc>
                <a:spcPct val="114000"/>
              </a:lnSpc>
              <a:buNone/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Общение сервисов между собой</a:t>
            </a:r>
            <a:br>
              <a:rPr sz="1400"/>
            </a:b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</TotalTime>
  <Application>LibreOffice/25.8.1.1$Linux_X86_64 LibreOffice_project/580$Build-1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2025-10-25T14:56:29Z</dcterms:modified>
  <cp:revision>78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22</vt:i4>
  </property>
  <property fmtid="{D5CDD505-2E9C-101B-9397-08002B2CF9AE}" pid="4" name="PresentationFormat">
    <vt:lpwstr>On-screen Show (4:3)</vt:lpwstr>
  </property>
  <property fmtid="{D5CDD505-2E9C-101B-9397-08002B2CF9AE}" pid="5" name="Slides">
    <vt:i4>22</vt:i4>
  </property>
</Properties>
</file>